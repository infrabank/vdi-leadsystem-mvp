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8" r:id="rId2"/>
    <p:sldId id="259" r:id="rId3"/>
    <p:sldId id="257" r:id="rId4"/>
    <p:sldId id="294" r:id="rId5"/>
    <p:sldId id="274" r:id="rId6"/>
    <p:sldId id="268" r:id="rId7"/>
    <p:sldId id="281" r:id="rId8"/>
    <p:sldId id="293" r:id="rId9"/>
    <p:sldId id="277" r:id="rId10"/>
    <p:sldId id="272" r:id="rId11"/>
    <p:sldId id="278" r:id="rId12"/>
    <p:sldId id="295" r:id="rId13"/>
    <p:sldId id="297" r:id="rId14"/>
    <p:sldId id="300" r:id="rId15"/>
    <p:sldId id="299" r:id="rId16"/>
    <p:sldId id="304" r:id="rId17"/>
    <p:sldId id="275" r:id="rId18"/>
    <p:sldId id="302" r:id="rId19"/>
    <p:sldId id="303" r:id="rId20"/>
    <p:sldId id="305" r:id="rId21"/>
    <p:sldId id="306"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9295"/>
    <a:srgbClr val="1F6F79"/>
    <a:srgbClr val="4AD1CD"/>
    <a:srgbClr val="11515A"/>
    <a:srgbClr val="4D4D4D"/>
    <a:srgbClr val="666666"/>
    <a:srgbClr val="202831"/>
    <a:srgbClr val="16A0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4660"/>
  </p:normalViewPr>
  <p:slideViewPr>
    <p:cSldViewPr snapToGrid="0">
      <p:cViewPr varScale="1">
        <p:scale>
          <a:sx n="93" d="100"/>
          <a:sy n="93" d="100"/>
        </p:scale>
        <p:origin x="96" y="144"/>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441B3B-384C-4065-9F13-398FD29342D2}" type="datetimeFigureOut">
              <a:rPr lang="zh-CN" altLang="en-US" smtClean="0"/>
              <a:t>2022/6/20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5D65D-9C02-4EE1-B031-3CCDB4FC7314}" type="slidenum">
              <a:rPr lang="zh-CN" altLang="en-US" smtClean="0"/>
              <a:t>‹#›</a:t>
            </a:fld>
            <a:endParaRPr lang="zh-CN" altLang="en-US"/>
          </a:p>
        </p:txBody>
      </p:sp>
    </p:spTree>
    <p:extLst>
      <p:ext uri="{BB962C8B-B14F-4D97-AF65-F5344CB8AC3E}">
        <p14:creationId xmlns:p14="http://schemas.microsoft.com/office/powerpoint/2010/main" val="4138496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a:t>
            </a:fld>
            <a:endParaRPr lang="zh-CN" altLang="en-US"/>
          </a:p>
        </p:txBody>
      </p:sp>
    </p:spTree>
    <p:extLst>
      <p:ext uri="{BB962C8B-B14F-4D97-AF65-F5344CB8AC3E}">
        <p14:creationId xmlns:p14="http://schemas.microsoft.com/office/powerpoint/2010/main" val="1690353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2</a:t>
            </a:fld>
            <a:endParaRPr lang="zh-CN" altLang="en-US"/>
          </a:p>
        </p:txBody>
      </p:sp>
    </p:spTree>
    <p:extLst>
      <p:ext uri="{BB962C8B-B14F-4D97-AF65-F5344CB8AC3E}">
        <p14:creationId xmlns:p14="http://schemas.microsoft.com/office/powerpoint/2010/main" val="1092287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3</a:t>
            </a:fld>
            <a:endParaRPr lang="zh-CN" altLang="en-US"/>
          </a:p>
        </p:txBody>
      </p:sp>
    </p:spTree>
    <p:extLst>
      <p:ext uri="{BB962C8B-B14F-4D97-AF65-F5344CB8AC3E}">
        <p14:creationId xmlns:p14="http://schemas.microsoft.com/office/powerpoint/2010/main" val="3102562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4</a:t>
            </a:fld>
            <a:endParaRPr lang="zh-CN" altLang="en-US"/>
          </a:p>
        </p:txBody>
      </p:sp>
    </p:spTree>
    <p:extLst>
      <p:ext uri="{BB962C8B-B14F-4D97-AF65-F5344CB8AC3E}">
        <p14:creationId xmlns:p14="http://schemas.microsoft.com/office/powerpoint/2010/main" val="381763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5</a:t>
            </a:fld>
            <a:endParaRPr lang="zh-CN" altLang="en-US"/>
          </a:p>
        </p:txBody>
      </p:sp>
    </p:spTree>
    <p:extLst>
      <p:ext uri="{BB962C8B-B14F-4D97-AF65-F5344CB8AC3E}">
        <p14:creationId xmlns:p14="http://schemas.microsoft.com/office/powerpoint/2010/main" val="1429848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6</a:t>
            </a:fld>
            <a:endParaRPr lang="zh-CN" altLang="en-US"/>
          </a:p>
        </p:txBody>
      </p:sp>
    </p:spTree>
    <p:extLst>
      <p:ext uri="{BB962C8B-B14F-4D97-AF65-F5344CB8AC3E}">
        <p14:creationId xmlns:p14="http://schemas.microsoft.com/office/powerpoint/2010/main" val="2411716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7</a:t>
            </a:fld>
            <a:endParaRPr lang="zh-CN" altLang="en-US"/>
          </a:p>
        </p:txBody>
      </p:sp>
    </p:spTree>
    <p:extLst>
      <p:ext uri="{BB962C8B-B14F-4D97-AF65-F5344CB8AC3E}">
        <p14:creationId xmlns:p14="http://schemas.microsoft.com/office/powerpoint/2010/main" val="3867727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8</a:t>
            </a:fld>
            <a:endParaRPr lang="zh-CN" altLang="en-US"/>
          </a:p>
        </p:txBody>
      </p:sp>
    </p:spTree>
    <p:extLst>
      <p:ext uri="{BB962C8B-B14F-4D97-AF65-F5344CB8AC3E}">
        <p14:creationId xmlns:p14="http://schemas.microsoft.com/office/powerpoint/2010/main" val="3939590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9</a:t>
            </a:fld>
            <a:endParaRPr lang="zh-CN" altLang="en-US"/>
          </a:p>
        </p:txBody>
      </p:sp>
    </p:spTree>
    <p:extLst>
      <p:ext uri="{BB962C8B-B14F-4D97-AF65-F5344CB8AC3E}">
        <p14:creationId xmlns:p14="http://schemas.microsoft.com/office/powerpoint/2010/main" val="415000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10</a:t>
            </a:fld>
            <a:endParaRPr lang="zh-CN" altLang="en-US"/>
          </a:p>
        </p:txBody>
      </p:sp>
    </p:spTree>
    <p:extLst>
      <p:ext uri="{BB962C8B-B14F-4D97-AF65-F5344CB8AC3E}">
        <p14:creationId xmlns:p14="http://schemas.microsoft.com/office/powerpoint/2010/main" val="2377158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11</a:t>
            </a:fld>
            <a:endParaRPr lang="zh-CN" altLang="en-US"/>
          </a:p>
        </p:txBody>
      </p:sp>
    </p:spTree>
    <p:extLst>
      <p:ext uri="{BB962C8B-B14F-4D97-AF65-F5344CB8AC3E}">
        <p14:creationId xmlns:p14="http://schemas.microsoft.com/office/powerpoint/2010/main" val="23402041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12</a:t>
            </a:fld>
            <a:endParaRPr lang="zh-CN" altLang="en-US"/>
          </a:p>
        </p:txBody>
      </p:sp>
    </p:spTree>
    <p:extLst>
      <p:ext uri="{BB962C8B-B14F-4D97-AF65-F5344CB8AC3E}">
        <p14:creationId xmlns:p14="http://schemas.microsoft.com/office/powerpoint/2010/main" val="3656109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E5D65D-9C02-4EE1-B031-3CCDB4FC7314}" type="slidenum">
              <a:rPr lang="zh-CN" altLang="en-US" smtClean="0"/>
              <a:t>13</a:t>
            </a:fld>
            <a:endParaRPr lang="zh-CN" altLang="en-US"/>
          </a:p>
        </p:txBody>
      </p:sp>
    </p:spTree>
    <p:extLst>
      <p:ext uri="{BB962C8B-B14F-4D97-AF65-F5344CB8AC3E}">
        <p14:creationId xmlns:p14="http://schemas.microsoft.com/office/powerpoint/2010/main" val="433100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14</a:t>
            </a:fld>
            <a:endParaRPr lang="zh-CN" altLang="en-US"/>
          </a:p>
        </p:txBody>
      </p:sp>
    </p:spTree>
    <p:extLst>
      <p:ext uri="{BB962C8B-B14F-4D97-AF65-F5344CB8AC3E}">
        <p14:creationId xmlns:p14="http://schemas.microsoft.com/office/powerpoint/2010/main" val="3687218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15</a:t>
            </a:fld>
            <a:endParaRPr lang="zh-CN" altLang="en-US"/>
          </a:p>
        </p:txBody>
      </p:sp>
    </p:spTree>
    <p:extLst>
      <p:ext uri="{BB962C8B-B14F-4D97-AF65-F5344CB8AC3E}">
        <p14:creationId xmlns:p14="http://schemas.microsoft.com/office/powerpoint/2010/main" val="14155706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16</a:t>
            </a:fld>
            <a:endParaRPr lang="zh-CN" altLang="en-US"/>
          </a:p>
        </p:txBody>
      </p:sp>
    </p:spTree>
    <p:extLst>
      <p:ext uri="{BB962C8B-B14F-4D97-AF65-F5344CB8AC3E}">
        <p14:creationId xmlns:p14="http://schemas.microsoft.com/office/powerpoint/2010/main" val="276975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17</a:t>
            </a:fld>
            <a:endParaRPr lang="zh-CN" altLang="en-US"/>
          </a:p>
        </p:txBody>
      </p:sp>
    </p:spTree>
    <p:extLst>
      <p:ext uri="{BB962C8B-B14F-4D97-AF65-F5344CB8AC3E}">
        <p14:creationId xmlns:p14="http://schemas.microsoft.com/office/powerpoint/2010/main" val="2249241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E5D65D-9C02-4EE1-B031-3CCDB4FC7314}" type="slidenum">
              <a:rPr lang="zh-CN" altLang="en-US" smtClean="0"/>
              <a:t>18</a:t>
            </a:fld>
            <a:endParaRPr lang="zh-CN" altLang="en-US"/>
          </a:p>
        </p:txBody>
      </p:sp>
    </p:spTree>
    <p:extLst>
      <p:ext uri="{BB962C8B-B14F-4D97-AF65-F5344CB8AC3E}">
        <p14:creationId xmlns:p14="http://schemas.microsoft.com/office/powerpoint/2010/main" val="1126268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E5D65D-9C02-4EE1-B031-3CCDB4FC7314}" type="slidenum">
              <a:rPr lang="zh-CN" altLang="en-US" smtClean="0"/>
              <a:t>19</a:t>
            </a:fld>
            <a:endParaRPr lang="zh-CN" altLang="en-US"/>
          </a:p>
        </p:txBody>
      </p:sp>
    </p:spTree>
    <p:extLst>
      <p:ext uri="{BB962C8B-B14F-4D97-AF65-F5344CB8AC3E}">
        <p14:creationId xmlns:p14="http://schemas.microsoft.com/office/powerpoint/2010/main" val="20248460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CE5D65D-9C02-4EE1-B031-3CCDB4FC7314}" type="slidenum">
              <a:rPr lang="zh-CN" altLang="en-US" smtClean="0"/>
              <a:t>20</a:t>
            </a:fld>
            <a:endParaRPr lang="zh-CN" altLang="en-US"/>
          </a:p>
        </p:txBody>
      </p:sp>
    </p:spTree>
    <p:extLst>
      <p:ext uri="{BB962C8B-B14F-4D97-AF65-F5344CB8AC3E}">
        <p14:creationId xmlns:p14="http://schemas.microsoft.com/office/powerpoint/2010/main" val="1000850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E5D65D-9C02-4EE1-B031-3CCDB4FC7314}" type="slidenum">
              <a:rPr lang="zh-CN" altLang="en-US" smtClean="0"/>
              <a:t>21</a:t>
            </a:fld>
            <a:endParaRPr lang="zh-CN" altLang="en-US"/>
          </a:p>
        </p:txBody>
      </p:sp>
    </p:spTree>
    <p:extLst>
      <p:ext uri="{BB962C8B-B14F-4D97-AF65-F5344CB8AC3E}">
        <p14:creationId xmlns:p14="http://schemas.microsoft.com/office/powerpoint/2010/main" val="1463254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0" y="0"/>
            <a:ext cx="12192000" cy="6858000"/>
          </a:xfrm>
          <a:prstGeom prst="rect">
            <a:avLst/>
          </a:prstGeom>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5" name="图片占位符 14"/>
          <p:cNvSpPr>
            <a:spLocks noGrp="1"/>
          </p:cNvSpPr>
          <p:nvPr>
            <p:ph type="pic" sz="quarter" idx="11"/>
          </p:nvPr>
        </p:nvSpPr>
        <p:spPr>
          <a:xfrm>
            <a:off x="2216016" y="2762250"/>
            <a:ext cx="2497409" cy="1638300"/>
          </a:xfrm>
          <a:custGeom>
            <a:avLst/>
            <a:gdLst>
              <a:gd name="connsiteX0" fmla="*/ 0 w 2497409"/>
              <a:gd name="connsiteY0" fmla="*/ 0 h 1638300"/>
              <a:gd name="connsiteX1" fmla="*/ 2497409 w 2497409"/>
              <a:gd name="connsiteY1" fmla="*/ 0 h 1638300"/>
              <a:gd name="connsiteX2" fmla="*/ 2497409 w 2497409"/>
              <a:gd name="connsiteY2" fmla="*/ 1638300 h 1638300"/>
              <a:gd name="connsiteX3" fmla="*/ 0 w 2497409"/>
              <a:gd name="connsiteY3" fmla="*/ 1638300 h 1638300"/>
            </a:gdLst>
            <a:ahLst/>
            <a:cxnLst>
              <a:cxn ang="0">
                <a:pos x="connsiteX0" y="connsiteY0"/>
              </a:cxn>
              <a:cxn ang="0">
                <a:pos x="connsiteX1" y="connsiteY1"/>
              </a:cxn>
              <a:cxn ang="0">
                <a:pos x="connsiteX2" y="connsiteY2"/>
              </a:cxn>
              <a:cxn ang="0">
                <a:pos x="connsiteX3" y="connsiteY3"/>
              </a:cxn>
            </a:cxnLst>
            <a:rect l="l" t="t" r="r" b="b"/>
            <a:pathLst>
              <a:path w="2497409" h="1638300">
                <a:moveTo>
                  <a:pt x="0" y="0"/>
                </a:moveTo>
                <a:lnTo>
                  <a:pt x="2497409" y="0"/>
                </a:lnTo>
                <a:lnTo>
                  <a:pt x="2497409" y="1638300"/>
                </a:lnTo>
                <a:lnTo>
                  <a:pt x="0" y="1638300"/>
                </a:lnTo>
                <a:close/>
              </a:path>
            </a:pathLst>
          </a:custGeom>
        </p:spPr>
        <p:txBody>
          <a:bodyPr wrap="square">
            <a:noAutofit/>
          </a:bodyPr>
          <a:lstStyle/>
          <a:p>
            <a:endParaRPr lang="zh-CN" altLang="en-US"/>
          </a:p>
        </p:txBody>
      </p:sp>
      <p:sp>
        <p:nvSpPr>
          <p:cNvPr id="16" name="图片占位符 15"/>
          <p:cNvSpPr>
            <a:spLocks noGrp="1"/>
          </p:cNvSpPr>
          <p:nvPr>
            <p:ph type="pic" sz="quarter" idx="12"/>
          </p:nvPr>
        </p:nvSpPr>
        <p:spPr>
          <a:xfrm>
            <a:off x="4847297" y="2762250"/>
            <a:ext cx="2497409" cy="1638300"/>
          </a:xfrm>
          <a:custGeom>
            <a:avLst/>
            <a:gdLst>
              <a:gd name="connsiteX0" fmla="*/ 0 w 2497409"/>
              <a:gd name="connsiteY0" fmla="*/ 0 h 1638300"/>
              <a:gd name="connsiteX1" fmla="*/ 2497409 w 2497409"/>
              <a:gd name="connsiteY1" fmla="*/ 0 h 1638300"/>
              <a:gd name="connsiteX2" fmla="*/ 2497409 w 2497409"/>
              <a:gd name="connsiteY2" fmla="*/ 1638300 h 1638300"/>
              <a:gd name="connsiteX3" fmla="*/ 0 w 2497409"/>
              <a:gd name="connsiteY3" fmla="*/ 1638300 h 1638300"/>
            </a:gdLst>
            <a:ahLst/>
            <a:cxnLst>
              <a:cxn ang="0">
                <a:pos x="connsiteX0" y="connsiteY0"/>
              </a:cxn>
              <a:cxn ang="0">
                <a:pos x="connsiteX1" y="connsiteY1"/>
              </a:cxn>
              <a:cxn ang="0">
                <a:pos x="connsiteX2" y="connsiteY2"/>
              </a:cxn>
              <a:cxn ang="0">
                <a:pos x="connsiteX3" y="connsiteY3"/>
              </a:cxn>
            </a:cxnLst>
            <a:rect l="l" t="t" r="r" b="b"/>
            <a:pathLst>
              <a:path w="2497409" h="1638300">
                <a:moveTo>
                  <a:pt x="0" y="0"/>
                </a:moveTo>
                <a:lnTo>
                  <a:pt x="2497409" y="0"/>
                </a:lnTo>
                <a:lnTo>
                  <a:pt x="2497409" y="1638300"/>
                </a:lnTo>
                <a:lnTo>
                  <a:pt x="0" y="1638300"/>
                </a:lnTo>
                <a:close/>
              </a:path>
            </a:pathLst>
          </a:custGeom>
        </p:spPr>
        <p:txBody>
          <a:bodyPr wrap="square">
            <a:noAutofit/>
          </a:bodyPr>
          <a:lstStyle/>
          <a:p>
            <a:endParaRPr lang="zh-CN" altLang="en-US"/>
          </a:p>
        </p:txBody>
      </p:sp>
      <p:sp>
        <p:nvSpPr>
          <p:cNvPr id="17" name="图片占位符 16"/>
          <p:cNvSpPr>
            <a:spLocks noGrp="1"/>
          </p:cNvSpPr>
          <p:nvPr>
            <p:ph type="pic" sz="quarter" idx="13"/>
          </p:nvPr>
        </p:nvSpPr>
        <p:spPr>
          <a:xfrm>
            <a:off x="7478577" y="2762250"/>
            <a:ext cx="2497409" cy="1638300"/>
          </a:xfrm>
          <a:custGeom>
            <a:avLst/>
            <a:gdLst>
              <a:gd name="connsiteX0" fmla="*/ 0 w 2497409"/>
              <a:gd name="connsiteY0" fmla="*/ 0 h 1638300"/>
              <a:gd name="connsiteX1" fmla="*/ 2497409 w 2497409"/>
              <a:gd name="connsiteY1" fmla="*/ 0 h 1638300"/>
              <a:gd name="connsiteX2" fmla="*/ 2497409 w 2497409"/>
              <a:gd name="connsiteY2" fmla="*/ 1638300 h 1638300"/>
              <a:gd name="connsiteX3" fmla="*/ 0 w 2497409"/>
              <a:gd name="connsiteY3" fmla="*/ 1638300 h 1638300"/>
            </a:gdLst>
            <a:ahLst/>
            <a:cxnLst>
              <a:cxn ang="0">
                <a:pos x="connsiteX0" y="connsiteY0"/>
              </a:cxn>
              <a:cxn ang="0">
                <a:pos x="connsiteX1" y="connsiteY1"/>
              </a:cxn>
              <a:cxn ang="0">
                <a:pos x="connsiteX2" y="connsiteY2"/>
              </a:cxn>
              <a:cxn ang="0">
                <a:pos x="connsiteX3" y="connsiteY3"/>
              </a:cxn>
            </a:cxnLst>
            <a:rect l="l" t="t" r="r" b="b"/>
            <a:pathLst>
              <a:path w="2497409" h="1638300">
                <a:moveTo>
                  <a:pt x="0" y="0"/>
                </a:moveTo>
                <a:lnTo>
                  <a:pt x="2497409" y="0"/>
                </a:lnTo>
                <a:lnTo>
                  <a:pt x="2497409" y="1638300"/>
                </a:lnTo>
                <a:lnTo>
                  <a:pt x="0" y="1638300"/>
                </a:lnTo>
                <a:close/>
              </a:path>
            </a:pathLst>
          </a:custGeom>
        </p:spPr>
        <p:txBody>
          <a:bodyPr wrap="square">
            <a:noAutofit/>
          </a:bodyPr>
          <a:lstStyle/>
          <a:p>
            <a:endParaRPr lang="zh-CN" altLang="en-US"/>
          </a:p>
        </p:txBody>
      </p:sp>
      <p:sp>
        <p:nvSpPr>
          <p:cNvPr id="9" name="图片占位符 8"/>
          <p:cNvSpPr>
            <a:spLocks noGrp="1"/>
          </p:cNvSpPr>
          <p:nvPr>
            <p:ph type="pic" sz="quarter" idx="10"/>
          </p:nvPr>
        </p:nvSpPr>
        <p:spPr>
          <a:xfrm>
            <a:off x="1" y="0"/>
            <a:ext cx="12191999" cy="3562350"/>
          </a:xfrm>
          <a:custGeom>
            <a:avLst/>
            <a:gdLst>
              <a:gd name="connsiteX0" fmla="*/ 0 w 12191999"/>
              <a:gd name="connsiteY0" fmla="*/ 0 h 3562350"/>
              <a:gd name="connsiteX1" fmla="*/ 12191999 w 12191999"/>
              <a:gd name="connsiteY1" fmla="*/ 0 h 3562350"/>
              <a:gd name="connsiteX2" fmla="*/ 12191999 w 12191999"/>
              <a:gd name="connsiteY2" fmla="*/ 3562350 h 3562350"/>
              <a:gd name="connsiteX3" fmla="*/ 0 w 12191999"/>
              <a:gd name="connsiteY3" fmla="*/ 3562350 h 3562350"/>
            </a:gdLst>
            <a:ahLst/>
            <a:cxnLst>
              <a:cxn ang="0">
                <a:pos x="connsiteX0" y="connsiteY0"/>
              </a:cxn>
              <a:cxn ang="0">
                <a:pos x="connsiteX1" y="connsiteY1"/>
              </a:cxn>
              <a:cxn ang="0">
                <a:pos x="connsiteX2" y="connsiteY2"/>
              </a:cxn>
              <a:cxn ang="0">
                <a:pos x="connsiteX3" y="connsiteY3"/>
              </a:cxn>
            </a:cxnLst>
            <a:rect l="l" t="t" r="r" b="b"/>
            <a:pathLst>
              <a:path w="12191999" h="3562350">
                <a:moveTo>
                  <a:pt x="0" y="0"/>
                </a:moveTo>
                <a:lnTo>
                  <a:pt x="12191999" y="0"/>
                </a:lnTo>
                <a:lnTo>
                  <a:pt x="12191999" y="3562350"/>
                </a:lnTo>
                <a:lnTo>
                  <a:pt x="0" y="3562350"/>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1809751" y="2213986"/>
            <a:ext cx="2514685" cy="3150754"/>
          </a:xfrm>
          <a:custGeom>
            <a:avLst/>
            <a:gdLst>
              <a:gd name="connsiteX0" fmla="*/ 628671 w 2514685"/>
              <a:gd name="connsiteY0" fmla="*/ 0 h 3150754"/>
              <a:gd name="connsiteX1" fmla="*/ 1886014 w 2514685"/>
              <a:gd name="connsiteY1" fmla="*/ 0 h 3150754"/>
              <a:gd name="connsiteX2" fmla="*/ 2514685 w 2514685"/>
              <a:gd name="connsiteY2" fmla="*/ 3150754 h 3150754"/>
              <a:gd name="connsiteX3" fmla="*/ 0 w 2514685"/>
              <a:gd name="connsiteY3" fmla="*/ 3150754 h 3150754"/>
            </a:gdLst>
            <a:ahLst/>
            <a:cxnLst>
              <a:cxn ang="0">
                <a:pos x="connsiteX0" y="connsiteY0"/>
              </a:cxn>
              <a:cxn ang="0">
                <a:pos x="connsiteX1" y="connsiteY1"/>
              </a:cxn>
              <a:cxn ang="0">
                <a:pos x="connsiteX2" y="connsiteY2"/>
              </a:cxn>
              <a:cxn ang="0">
                <a:pos x="connsiteX3" y="connsiteY3"/>
              </a:cxn>
            </a:cxnLst>
            <a:rect l="l" t="t" r="r" b="b"/>
            <a:pathLst>
              <a:path w="2514685" h="3150754">
                <a:moveTo>
                  <a:pt x="628671" y="0"/>
                </a:moveTo>
                <a:lnTo>
                  <a:pt x="1886014" y="0"/>
                </a:lnTo>
                <a:lnTo>
                  <a:pt x="2514685" y="3150754"/>
                </a:lnTo>
                <a:lnTo>
                  <a:pt x="0" y="3150754"/>
                </a:lnTo>
                <a:close/>
              </a:path>
            </a:pathLst>
          </a:custGeom>
        </p:spPr>
        <p:txBody>
          <a:bodyPr wrap="square">
            <a:noAutofit/>
          </a:bodyPr>
          <a:lstStyle/>
          <a:p>
            <a:endParaRPr lang="zh-CN" altLang="en-US"/>
          </a:p>
        </p:txBody>
      </p:sp>
      <p:sp>
        <p:nvSpPr>
          <p:cNvPr id="14" name="图片占位符 13"/>
          <p:cNvSpPr>
            <a:spLocks noGrp="1"/>
          </p:cNvSpPr>
          <p:nvPr>
            <p:ph type="pic" sz="quarter" idx="11"/>
          </p:nvPr>
        </p:nvSpPr>
        <p:spPr>
          <a:xfrm>
            <a:off x="3829023" y="2213986"/>
            <a:ext cx="2514685" cy="3150754"/>
          </a:xfrm>
          <a:custGeom>
            <a:avLst/>
            <a:gdLst>
              <a:gd name="connsiteX0" fmla="*/ 0 w 2514685"/>
              <a:gd name="connsiteY0" fmla="*/ 0 h 3150754"/>
              <a:gd name="connsiteX1" fmla="*/ 2514685 w 2514685"/>
              <a:gd name="connsiteY1" fmla="*/ 0 h 3150754"/>
              <a:gd name="connsiteX2" fmla="*/ 1886014 w 2514685"/>
              <a:gd name="connsiteY2" fmla="*/ 3150754 h 3150754"/>
              <a:gd name="connsiteX3" fmla="*/ 628671 w 2514685"/>
              <a:gd name="connsiteY3" fmla="*/ 3150754 h 3150754"/>
            </a:gdLst>
            <a:ahLst/>
            <a:cxnLst>
              <a:cxn ang="0">
                <a:pos x="connsiteX0" y="connsiteY0"/>
              </a:cxn>
              <a:cxn ang="0">
                <a:pos x="connsiteX1" y="connsiteY1"/>
              </a:cxn>
              <a:cxn ang="0">
                <a:pos x="connsiteX2" y="connsiteY2"/>
              </a:cxn>
              <a:cxn ang="0">
                <a:pos x="connsiteX3" y="connsiteY3"/>
              </a:cxn>
            </a:cxnLst>
            <a:rect l="l" t="t" r="r" b="b"/>
            <a:pathLst>
              <a:path w="2514685" h="3150754">
                <a:moveTo>
                  <a:pt x="0" y="0"/>
                </a:moveTo>
                <a:lnTo>
                  <a:pt x="2514685" y="0"/>
                </a:lnTo>
                <a:lnTo>
                  <a:pt x="1886014" y="3150754"/>
                </a:lnTo>
                <a:lnTo>
                  <a:pt x="628671" y="3150754"/>
                </a:lnTo>
                <a:close/>
              </a:path>
            </a:pathLst>
          </a:custGeom>
        </p:spPr>
        <p:txBody>
          <a:bodyPr wrap="square">
            <a:noAutofit/>
          </a:bodyPr>
          <a:lstStyle/>
          <a:p>
            <a:endParaRPr lang="zh-CN" altLang="en-US"/>
          </a:p>
        </p:txBody>
      </p:sp>
      <p:sp>
        <p:nvSpPr>
          <p:cNvPr id="15" name="图片占位符 14"/>
          <p:cNvSpPr>
            <a:spLocks noGrp="1"/>
          </p:cNvSpPr>
          <p:nvPr>
            <p:ph type="pic" sz="quarter" idx="12"/>
          </p:nvPr>
        </p:nvSpPr>
        <p:spPr>
          <a:xfrm>
            <a:off x="5848294" y="2213986"/>
            <a:ext cx="2514685" cy="3150754"/>
          </a:xfrm>
          <a:custGeom>
            <a:avLst/>
            <a:gdLst>
              <a:gd name="connsiteX0" fmla="*/ 628671 w 2514685"/>
              <a:gd name="connsiteY0" fmla="*/ 0 h 3150754"/>
              <a:gd name="connsiteX1" fmla="*/ 1886014 w 2514685"/>
              <a:gd name="connsiteY1" fmla="*/ 0 h 3150754"/>
              <a:gd name="connsiteX2" fmla="*/ 2514685 w 2514685"/>
              <a:gd name="connsiteY2" fmla="*/ 3150754 h 3150754"/>
              <a:gd name="connsiteX3" fmla="*/ 0 w 2514685"/>
              <a:gd name="connsiteY3" fmla="*/ 3150754 h 3150754"/>
            </a:gdLst>
            <a:ahLst/>
            <a:cxnLst>
              <a:cxn ang="0">
                <a:pos x="connsiteX0" y="connsiteY0"/>
              </a:cxn>
              <a:cxn ang="0">
                <a:pos x="connsiteX1" y="connsiteY1"/>
              </a:cxn>
              <a:cxn ang="0">
                <a:pos x="connsiteX2" y="connsiteY2"/>
              </a:cxn>
              <a:cxn ang="0">
                <a:pos x="connsiteX3" y="connsiteY3"/>
              </a:cxn>
            </a:cxnLst>
            <a:rect l="l" t="t" r="r" b="b"/>
            <a:pathLst>
              <a:path w="2514685" h="3150754">
                <a:moveTo>
                  <a:pt x="628671" y="0"/>
                </a:moveTo>
                <a:lnTo>
                  <a:pt x="1886014" y="0"/>
                </a:lnTo>
                <a:lnTo>
                  <a:pt x="2514685" y="3150754"/>
                </a:lnTo>
                <a:lnTo>
                  <a:pt x="0" y="3150754"/>
                </a:lnTo>
                <a:close/>
              </a:path>
            </a:pathLst>
          </a:custGeom>
        </p:spPr>
        <p:txBody>
          <a:bodyPr wrap="square">
            <a:noAutofit/>
          </a:bodyPr>
          <a:lstStyle/>
          <a:p>
            <a:endParaRPr lang="zh-CN" altLang="en-US"/>
          </a:p>
        </p:txBody>
      </p:sp>
      <p:sp>
        <p:nvSpPr>
          <p:cNvPr id="16" name="图片占位符 15"/>
          <p:cNvSpPr>
            <a:spLocks noGrp="1"/>
          </p:cNvSpPr>
          <p:nvPr>
            <p:ph type="pic" sz="quarter" idx="13"/>
          </p:nvPr>
        </p:nvSpPr>
        <p:spPr>
          <a:xfrm>
            <a:off x="7867566" y="2213986"/>
            <a:ext cx="2514685" cy="3150754"/>
          </a:xfrm>
          <a:custGeom>
            <a:avLst/>
            <a:gdLst>
              <a:gd name="connsiteX0" fmla="*/ 0 w 2514685"/>
              <a:gd name="connsiteY0" fmla="*/ 0 h 3150754"/>
              <a:gd name="connsiteX1" fmla="*/ 2514685 w 2514685"/>
              <a:gd name="connsiteY1" fmla="*/ 0 h 3150754"/>
              <a:gd name="connsiteX2" fmla="*/ 1886014 w 2514685"/>
              <a:gd name="connsiteY2" fmla="*/ 3150754 h 3150754"/>
              <a:gd name="connsiteX3" fmla="*/ 628671 w 2514685"/>
              <a:gd name="connsiteY3" fmla="*/ 3150754 h 3150754"/>
            </a:gdLst>
            <a:ahLst/>
            <a:cxnLst>
              <a:cxn ang="0">
                <a:pos x="connsiteX0" y="connsiteY0"/>
              </a:cxn>
              <a:cxn ang="0">
                <a:pos x="connsiteX1" y="connsiteY1"/>
              </a:cxn>
              <a:cxn ang="0">
                <a:pos x="connsiteX2" y="connsiteY2"/>
              </a:cxn>
              <a:cxn ang="0">
                <a:pos x="connsiteX3" y="connsiteY3"/>
              </a:cxn>
            </a:cxnLst>
            <a:rect l="l" t="t" r="r" b="b"/>
            <a:pathLst>
              <a:path w="2514685" h="3150754">
                <a:moveTo>
                  <a:pt x="0" y="0"/>
                </a:moveTo>
                <a:lnTo>
                  <a:pt x="2514685" y="0"/>
                </a:lnTo>
                <a:lnTo>
                  <a:pt x="1886014" y="3150754"/>
                </a:lnTo>
                <a:lnTo>
                  <a:pt x="628671" y="3150754"/>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4743450" y="1751012"/>
            <a:ext cx="6400800" cy="4114800"/>
          </a:xfrm>
          <a:custGeom>
            <a:avLst/>
            <a:gdLst>
              <a:gd name="connsiteX0" fmla="*/ 4648200 w 6400800"/>
              <a:gd name="connsiteY0" fmla="*/ 2131255 h 4114800"/>
              <a:gd name="connsiteX1" fmla="*/ 6400800 w 6400800"/>
              <a:gd name="connsiteY1" fmla="*/ 2131255 h 4114800"/>
              <a:gd name="connsiteX2" fmla="*/ 6400800 w 6400800"/>
              <a:gd name="connsiteY2" fmla="*/ 4114800 h 4114800"/>
              <a:gd name="connsiteX3" fmla="*/ 4648200 w 6400800"/>
              <a:gd name="connsiteY3" fmla="*/ 4114800 h 4114800"/>
              <a:gd name="connsiteX4" fmla="*/ 0 w 6400800"/>
              <a:gd name="connsiteY4" fmla="*/ 2131255 h 4114800"/>
              <a:gd name="connsiteX5" fmla="*/ 4514850 w 6400800"/>
              <a:gd name="connsiteY5" fmla="*/ 2131255 h 4114800"/>
              <a:gd name="connsiteX6" fmla="*/ 4514850 w 6400800"/>
              <a:gd name="connsiteY6" fmla="*/ 4114800 h 4114800"/>
              <a:gd name="connsiteX7" fmla="*/ 0 w 6400800"/>
              <a:gd name="connsiteY7" fmla="*/ 4114800 h 4114800"/>
              <a:gd name="connsiteX8" fmla="*/ 1885950 w 6400800"/>
              <a:gd name="connsiteY8" fmla="*/ 0 h 4114800"/>
              <a:gd name="connsiteX9" fmla="*/ 6400800 w 6400800"/>
              <a:gd name="connsiteY9" fmla="*/ 0 h 4114800"/>
              <a:gd name="connsiteX10" fmla="*/ 6400800 w 6400800"/>
              <a:gd name="connsiteY10" fmla="*/ 1983545 h 4114800"/>
              <a:gd name="connsiteX11" fmla="*/ 1885950 w 6400800"/>
              <a:gd name="connsiteY11" fmla="*/ 1983545 h 4114800"/>
              <a:gd name="connsiteX12" fmla="*/ 0 w 6400800"/>
              <a:gd name="connsiteY12" fmla="*/ 0 h 4114800"/>
              <a:gd name="connsiteX13" fmla="*/ 1752600 w 6400800"/>
              <a:gd name="connsiteY13" fmla="*/ 0 h 4114800"/>
              <a:gd name="connsiteX14" fmla="*/ 1752600 w 6400800"/>
              <a:gd name="connsiteY14" fmla="*/ 1983545 h 4114800"/>
              <a:gd name="connsiteX15" fmla="*/ 0 w 6400800"/>
              <a:gd name="connsiteY15" fmla="*/ 1983545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00800" h="4114800">
                <a:moveTo>
                  <a:pt x="4648200" y="2131255"/>
                </a:moveTo>
                <a:lnTo>
                  <a:pt x="6400800" y="2131255"/>
                </a:lnTo>
                <a:lnTo>
                  <a:pt x="6400800" y="4114800"/>
                </a:lnTo>
                <a:lnTo>
                  <a:pt x="4648200" y="4114800"/>
                </a:lnTo>
                <a:close/>
                <a:moveTo>
                  <a:pt x="0" y="2131255"/>
                </a:moveTo>
                <a:lnTo>
                  <a:pt x="4514850" y="2131255"/>
                </a:lnTo>
                <a:lnTo>
                  <a:pt x="4514850" y="4114800"/>
                </a:lnTo>
                <a:lnTo>
                  <a:pt x="0" y="4114800"/>
                </a:lnTo>
                <a:close/>
                <a:moveTo>
                  <a:pt x="1885950" y="0"/>
                </a:moveTo>
                <a:lnTo>
                  <a:pt x="6400800" y="0"/>
                </a:lnTo>
                <a:lnTo>
                  <a:pt x="6400800" y="1983545"/>
                </a:lnTo>
                <a:lnTo>
                  <a:pt x="1885950" y="1983545"/>
                </a:lnTo>
                <a:close/>
                <a:moveTo>
                  <a:pt x="0" y="0"/>
                </a:moveTo>
                <a:lnTo>
                  <a:pt x="1752600" y="0"/>
                </a:lnTo>
                <a:lnTo>
                  <a:pt x="1752600" y="1983545"/>
                </a:lnTo>
                <a:lnTo>
                  <a:pt x="0" y="1983545"/>
                </a:lnTo>
                <a:close/>
              </a:path>
            </a:pathLst>
          </a:custGeom>
        </p:spPr>
        <p:txBody>
          <a:bodyPr wrap="square">
            <a:noAutofit/>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1110973" y="1849256"/>
            <a:ext cx="6054998" cy="3880214"/>
          </a:xfrm>
          <a:custGeom>
            <a:avLst/>
            <a:gdLst>
              <a:gd name="connsiteX0" fmla="*/ 176821 w 6054998"/>
              <a:gd name="connsiteY0" fmla="*/ 0 h 3880214"/>
              <a:gd name="connsiteX1" fmla="*/ 5878177 w 6054998"/>
              <a:gd name="connsiteY1" fmla="*/ 0 h 3880214"/>
              <a:gd name="connsiteX2" fmla="*/ 6054998 w 6054998"/>
              <a:gd name="connsiteY2" fmla="*/ 176821 h 3880214"/>
              <a:gd name="connsiteX3" fmla="*/ 6054998 w 6054998"/>
              <a:gd name="connsiteY3" fmla="*/ 3703393 h 3880214"/>
              <a:gd name="connsiteX4" fmla="*/ 5878177 w 6054998"/>
              <a:gd name="connsiteY4" fmla="*/ 3880214 h 3880214"/>
              <a:gd name="connsiteX5" fmla="*/ 176821 w 6054998"/>
              <a:gd name="connsiteY5" fmla="*/ 3880214 h 3880214"/>
              <a:gd name="connsiteX6" fmla="*/ 0 w 6054998"/>
              <a:gd name="connsiteY6" fmla="*/ 3703393 h 3880214"/>
              <a:gd name="connsiteX7" fmla="*/ 0 w 6054998"/>
              <a:gd name="connsiteY7" fmla="*/ 176821 h 3880214"/>
              <a:gd name="connsiteX8" fmla="*/ 176821 w 6054998"/>
              <a:gd name="connsiteY8" fmla="*/ 0 h 388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4998" h="3880214">
                <a:moveTo>
                  <a:pt x="176821" y="0"/>
                </a:moveTo>
                <a:lnTo>
                  <a:pt x="5878177" y="0"/>
                </a:lnTo>
                <a:cubicBezTo>
                  <a:pt x="5975833" y="0"/>
                  <a:pt x="6054998" y="79165"/>
                  <a:pt x="6054998" y="176821"/>
                </a:cubicBezTo>
                <a:lnTo>
                  <a:pt x="6054998" y="3703393"/>
                </a:lnTo>
                <a:cubicBezTo>
                  <a:pt x="6054998" y="3801049"/>
                  <a:pt x="5975833" y="3880214"/>
                  <a:pt x="5878177" y="3880214"/>
                </a:cubicBezTo>
                <a:lnTo>
                  <a:pt x="176821" y="3880214"/>
                </a:lnTo>
                <a:cubicBezTo>
                  <a:pt x="79165" y="3880214"/>
                  <a:pt x="0" y="3801049"/>
                  <a:pt x="0" y="3703393"/>
                </a:cubicBezTo>
                <a:lnTo>
                  <a:pt x="0" y="176821"/>
                </a:lnTo>
                <a:cubicBezTo>
                  <a:pt x="0" y="79165"/>
                  <a:pt x="79165" y="0"/>
                  <a:pt x="176821"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324818" y="6"/>
            <a:ext cx="5867183" cy="6857994"/>
          </a:xfrm>
          <a:custGeom>
            <a:avLst/>
            <a:gdLst>
              <a:gd name="connsiteX0" fmla="*/ 1633625 w 5867183"/>
              <a:gd name="connsiteY0" fmla="*/ 2305029 h 6857994"/>
              <a:gd name="connsiteX1" fmla="*/ 1704595 w 5867183"/>
              <a:gd name="connsiteY1" fmla="*/ 2320414 h 6857994"/>
              <a:gd name="connsiteX2" fmla="*/ 1798767 w 5867183"/>
              <a:gd name="connsiteY2" fmla="*/ 2561278 h 6857994"/>
              <a:gd name="connsiteX3" fmla="*/ 350435 w 5867183"/>
              <a:gd name="connsiteY3" fmla="*/ 5869185 h 6857994"/>
              <a:gd name="connsiteX4" fmla="*/ 109572 w 5867183"/>
              <a:gd name="connsiteY4" fmla="*/ 5963357 h 6857994"/>
              <a:gd name="connsiteX5" fmla="*/ 15400 w 5867183"/>
              <a:gd name="connsiteY5" fmla="*/ 5722494 h 6857994"/>
              <a:gd name="connsiteX6" fmla="*/ 1463732 w 5867183"/>
              <a:gd name="connsiteY6" fmla="*/ 2414587 h 6857994"/>
              <a:gd name="connsiteX7" fmla="*/ 1633625 w 5867183"/>
              <a:gd name="connsiteY7" fmla="*/ 2305029 h 6857994"/>
              <a:gd name="connsiteX8" fmla="*/ 1377121 w 5867183"/>
              <a:gd name="connsiteY8" fmla="*/ 1786946 h 6857994"/>
              <a:gd name="connsiteX9" fmla="*/ 1448091 w 5867183"/>
              <a:gd name="connsiteY9" fmla="*/ 1802331 h 6857994"/>
              <a:gd name="connsiteX10" fmla="*/ 1542262 w 5867183"/>
              <a:gd name="connsiteY10" fmla="*/ 2043195 h 6857994"/>
              <a:gd name="connsiteX11" fmla="*/ 465175 w 5867183"/>
              <a:gd name="connsiteY11" fmla="*/ 4503199 h 6857994"/>
              <a:gd name="connsiteX12" fmla="*/ 224312 w 5867183"/>
              <a:gd name="connsiteY12" fmla="*/ 4597371 h 6857994"/>
              <a:gd name="connsiteX13" fmla="*/ 130140 w 5867183"/>
              <a:gd name="connsiteY13" fmla="*/ 4356508 h 6857994"/>
              <a:gd name="connsiteX14" fmla="*/ 1207227 w 5867183"/>
              <a:gd name="connsiteY14" fmla="*/ 1896503 h 6857994"/>
              <a:gd name="connsiteX15" fmla="*/ 1377121 w 5867183"/>
              <a:gd name="connsiteY15" fmla="*/ 1786946 h 6857994"/>
              <a:gd name="connsiteX16" fmla="*/ 2593035 w 5867183"/>
              <a:gd name="connsiteY16" fmla="*/ 1184187 h 6857994"/>
              <a:gd name="connsiteX17" fmla="*/ 2664005 w 5867183"/>
              <a:gd name="connsiteY17" fmla="*/ 1199572 h 6857994"/>
              <a:gd name="connsiteX18" fmla="*/ 2758177 w 5867183"/>
              <a:gd name="connsiteY18" fmla="*/ 1440435 h 6857994"/>
              <a:gd name="connsiteX19" fmla="*/ 940965 w 5867183"/>
              <a:gd name="connsiteY19" fmla="*/ 5590846 h 6857994"/>
              <a:gd name="connsiteX20" fmla="*/ 700102 w 5867183"/>
              <a:gd name="connsiteY20" fmla="*/ 5685018 h 6857994"/>
              <a:gd name="connsiteX21" fmla="*/ 605930 w 5867183"/>
              <a:gd name="connsiteY21" fmla="*/ 5444154 h 6857994"/>
              <a:gd name="connsiteX22" fmla="*/ 2423141 w 5867183"/>
              <a:gd name="connsiteY22" fmla="*/ 1293744 h 6857994"/>
              <a:gd name="connsiteX23" fmla="*/ 2593035 w 5867183"/>
              <a:gd name="connsiteY23" fmla="*/ 1184187 h 6857994"/>
              <a:gd name="connsiteX24" fmla="*/ 3447963 w 5867183"/>
              <a:gd name="connsiteY24" fmla="*/ 0 h 6857994"/>
              <a:gd name="connsiteX25" fmla="*/ 5867183 w 5867183"/>
              <a:gd name="connsiteY25" fmla="*/ 0 h 6857994"/>
              <a:gd name="connsiteX26" fmla="*/ 5867183 w 5867183"/>
              <a:gd name="connsiteY26" fmla="*/ 6857994 h 6857994"/>
              <a:gd name="connsiteX27" fmla="*/ 491267 w 5867183"/>
              <a:gd name="connsiteY27" fmla="*/ 6857994 h 6857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867183" h="6857994">
                <a:moveTo>
                  <a:pt x="1633625" y="2305029"/>
                </a:moveTo>
                <a:cubicBezTo>
                  <a:pt x="1657378" y="2305327"/>
                  <a:pt x="1681465" y="2310287"/>
                  <a:pt x="1704595" y="2320414"/>
                </a:cubicBezTo>
                <a:cubicBezTo>
                  <a:pt x="1797113" y="2360922"/>
                  <a:pt x="1839274" y="2468760"/>
                  <a:pt x="1798767" y="2561278"/>
                </a:cubicBezTo>
                <a:lnTo>
                  <a:pt x="350435" y="5869185"/>
                </a:lnTo>
                <a:cubicBezTo>
                  <a:pt x="309928" y="5961703"/>
                  <a:pt x="202089" y="6003865"/>
                  <a:pt x="109572" y="5963357"/>
                </a:cubicBezTo>
                <a:cubicBezTo>
                  <a:pt x="17054" y="5922849"/>
                  <a:pt x="-25108" y="5815011"/>
                  <a:pt x="15400" y="5722494"/>
                </a:cubicBezTo>
                <a:lnTo>
                  <a:pt x="1463732" y="2414587"/>
                </a:lnTo>
                <a:cubicBezTo>
                  <a:pt x="1494111" y="2345198"/>
                  <a:pt x="1562367" y="2304135"/>
                  <a:pt x="1633625" y="2305029"/>
                </a:cubicBezTo>
                <a:close/>
                <a:moveTo>
                  <a:pt x="1377121" y="1786946"/>
                </a:moveTo>
                <a:cubicBezTo>
                  <a:pt x="1400874" y="1787244"/>
                  <a:pt x="1424960" y="1792204"/>
                  <a:pt x="1448091" y="1802331"/>
                </a:cubicBezTo>
                <a:cubicBezTo>
                  <a:pt x="1540608" y="1842839"/>
                  <a:pt x="1582770" y="1950677"/>
                  <a:pt x="1542262" y="2043195"/>
                </a:cubicBezTo>
                <a:lnTo>
                  <a:pt x="465175" y="4503199"/>
                </a:lnTo>
                <a:cubicBezTo>
                  <a:pt x="424668" y="4595717"/>
                  <a:pt x="316830" y="4637879"/>
                  <a:pt x="224312" y="4597371"/>
                </a:cubicBezTo>
                <a:cubicBezTo>
                  <a:pt x="131795" y="4556864"/>
                  <a:pt x="89633" y="4449025"/>
                  <a:pt x="130140" y="4356508"/>
                </a:cubicBezTo>
                <a:lnTo>
                  <a:pt x="1207227" y="1896503"/>
                </a:lnTo>
                <a:cubicBezTo>
                  <a:pt x="1237607" y="1827114"/>
                  <a:pt x="1305862" y="1786051"/>
                  <a:pt x="1377121" y="1786946"/>
                </a:cubicBezTo>
                <a:close/>
                <a:moveTo>
                  <a:pt x="2593035" y="1184187"/>
                </a:moveTo>
                <a:cubicBezTo>
                  <a:pt x="2616788" y="1184484"/>
                  <a:pt x="2640875" y="1189445"/>
                  <a:pt x="2664005" y="1199572"/>
                </a:cubicBezTo>
                <a:cubicBezTo>
                  <a:pt x="2756523" y="1240080"/>
                  <a:pt x="2798686" y="1347918"/>
                  <a:pt x="2758177" y="1440435"/>
                </a:cubicBezTo>
                <a:lnTo>
                  <a:pt x="940965" y="5590846"/>
                </a:lnTo>
                <a:cubicBezTo>
                  <a:pt x="900457" y="5683364"/>
                  <a:pt x="792619" y="5725526"/>
                  <a:pt x="700102" y="5685018"/>
                </a:cubicBezTo>
                <a:cubicBezTo>
                  <a:pt x="607584" y="5644510"/>
                  <a:pt x="565422" y="5536672"/>
                  <a:pt x="605930" y="5444154"/>
                </a:cubicBezTo>
                <a:lnTo>
                  <a:pt x="2423141" y="1293744"/>
                </a:lnTo>
                <a:cubicBezTo>
                  <a:pt x="2453522" y="1224355"/>
                  <a:pt x="2521776" y="1183292"/>
                  <a:pt x="2593035" y="1184187"/>
                </a:cubicBezTo>
                <a:close/>
                <a:moveTo>
                  <a:pt x="3447963" y="0"/>
                </a:moveTo>
                <a:lnTo>
                  <a:pt x="5867183" y="0"/>
                </a:lnTo>
                <a:lnTo>
                  <a:pt x="5867183" y="6857994"/>
                </a:lnTo>
                <a:lnTo>
                  <a:pt x="491267" y="6857994"/>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14513" y="2275545"/>
            <a:ext cx="3170522" cy="3043406"/>
          </a:xfrm>
          <a:custGeom>
            <a:avLst/>
            <a:gdLst>
              <a:gd name="connsiteX0" fmla="*/ 0 w 3170522"/>
              <a:gd name="connsiteY0" fmla="*/ 0 h 3043406"/>
              <a:gd name="connsiteX1" fmla="*/ 3170522 w 3170522"/>
              <a:gd name="connsiteY1" fmla="*/ 0 h 3043406"/>
              <a:gd name="connsiteX2" fmla="*/ 3170522 w 3170522"/>
              <a:gd name="connsiteY2" fmla="*/ 3043406 h 3043406"/>
              <a:gd name="connsiteX3" fmla="*/ 0 w 3170522"/>
              <a:gd name="connsiteY3" fmla="*/ 3043406 h 3043406"/>
            </a:gdLst>
            <a:ahLst/>
            <a:cxnLst>
              <a:cxn ang="0">
                <a:pos x="connsiteX0" y="connsiteY0"/>
              </a:cxn>
              <a:cxn ang="0">
                <a:pos x="connsiteX1" y="connsiteY1"/>
              </a:cxn>
              <a:cxn ang="0">
                <a:pos x="connsiteX2" y="connsiteY2"/>
              </a:cxn>
              <a:cxn ang="0">
                <a:pos x="connsiteX3" y="connsiteY3"/>
              </a:cxn>
            </a:cxnLst>
            <a:rect l="l" t="t" r="r" b="b"/>
            <a:pathLst>
              <a:path w="3170522" h="3043406">
                <a:moveTo>
                  <a:pt x="0" y="0"/>
                </a:moveTo>
                <a:lnTo>
                  <a:pt x="3170522" y="0"/>
                </a:lnTo>
                <a:lnTo>
                  <a:pt x="3170522" y="3043406"/>
                </a:lnTo>
                <a:lnTo>
                  <a:pt x="0" y="3043406"/>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9035054" y="2275545"/>
            <a:ext cx="3156946" cy="3043406"/>
          </a:xfrm>
          <a:custGeom>
            <a:avLst/>
            <a:gdLst>
              <a:gd name="connsiteX0" fmla="*/ 0 w 3156946"/>
              <a:gd name="connsiteY0" fmla="*/ 0 h 3043406"/>
              <a:gd name="connsiteX1" fmla="*/ 3156946 w 3156946"/>
              <a:gd name="connsiteY1" fmla="*/ 0 h 3043406"/>
              <a:gd name="connsiteX2" fmla="*/ 3156946 w 3156946"/>
              <a:gd name="connsiteY2" fmla="*/ 3043406 h 3043406"/>
              <a:gd name="connsiteX3" fmla="*/ 0 w 3156946"/>
              <a:gd name="connsiteY3" fmla="*/ 3043406 h 3043406"/>
            </a:gdLst>
            <a:ahLst/>
            <a:cxnLst>
              <a:cxn ang="0">
                <a:pos x="connsiteX0" y="connsiteY0"/>
              </a:cxn>
              <a:cxn ang="0">
                <a:pos x="connsiteX1" y="connsiteY1"/>
              </a:cxn>
              <a:cxn ang="0">
                <a:pos x="connsiteX2" y="connsiteY2"/>
              </a:cxn>
              <a:cxn ang="0">
                <a:pos x="connsiteX3" y="connsiteY3"/>
              </a:cxn>
            </a:cxnLst>
            <a:rect l="l" t="t" r="r" b="b"/>
            <a:pathLst>
              <a:path w="3156946" h="3043406">
                <a:moveTo>
                  <a:pt x="0" y="0"/>
                </a:moveTo>
                <a:lnTo>
                  <a:pt x="3156946" y="0"/>
                </a:lnTo>
                <a:lnTo>
                  <a:pt x="3156946" y="3043406"/>
                </a:lnTo>
                <a:lnTo>
                  <a:pt x="0" y="3043406"/>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0" name="图片占位符 9"/>
          <p:cNvSpPr>
            <a:spLocks noGrp="1"/>
          </p:cNvSpPr>
          <p:nvPr>
            <p:ph type="pic" sz="quarter" idx="11"/>
          </p:nvPr>
        </p:nvSpPr>
        <p:spPr>
          <a:xfrm>
            <a:off x="1604500" y="2149440"/>
            <a:ext cx="2090277" cy="3499207"/>
          </a:xfrm>
          <a:custGeom>
            <a:avLst/>
            <a:gdLst>
              <a:gd name="connsiteX0" fmla="*/ 0 w 2090277"/>
              <a:gd name="connsiteY0" fmla="*/ 0 h 3499207"/>
              <a:gd name="connsiteX1" fmla="*/ 2090277 w 2090277"/>
              <a:gd name="connsiteY1" fmla="*/ 0 h 3499207"/>
              <a:gd name="connsiteX2" fmla="*/ 2090277 w 2090277"/>
              <a:gd name="connsiteY2" fmla="*/ 3499207 h 3499207"/>
              <a:gd name="connsiteX3" fmla="*/ 0 w 2090277"/>
              <a:gd name="connsiteY3" fmla="*/ 3499207 h 3499207"/>
            </a:gdLst>
            <a:ahLst/>
            <a:cxnLst>
              <a:cxn ang="0">
                <a:pos x="connsiteX0" y="connsiteY0"/>
              </a:cxn>
              <a:cxn ang="0">
                <a:pos x="connsiteX1" y="connsiteY1"/>
              </a:cxn>
              <a:cxn ang="0">
                <a:pos x="connsiteX2" y="connsiteY2"/>
              </a:cxn>
              <a:cxn ang="0">
                <a:pos x="connsiteX3" y="connsiteY3"/>
              </a:cxn>
            </a:cxnLst>
            <a:rect l="l" t="t" r="r" b="b"/>
            <a:pathLst>
              <a:path w="2090277" h="3499207">
                <a:moveTo>
                  <a:pt x="0" y="0"/>
                </a:moveTo>
                <a:lnTo>
                  <a:pt x="2090277" y="0"/>
                </a:lnTo>
                <a:lnTo>
                  <a:pt x="2090277" y="3499207"/>
                </a:lnTo>
                <a:lnTo>
                  <a:pt x="0" y="3499207"/>
                </a:lnTo>
                <a:close/>
              </a:path>
            </a:pathLst>
          </a:custGeom>
        </p:spPr>
        <p:txBody>
          <a:bodyPr wrap="square">
            <a:noAutofit/>
          </a:bodyPr>
          <a:lstStyle/>
          <a:p>
            <a:endParaRPr lang="zh-CN" altLang="en-US"/>
          </a:p>
        </p:txBody>
      </p:sp>
      <p:sp>
        <p:nvSpPr>
          <p:cNvPr id="6" name="图片占位符 5"/>
          <p:cNvSpPr>
            <a:spLocks noGrp="1"/>
          </p:cNvSpPr>
          <p:nvPr>
            <p:ph type="pic" sz="quarter" idx="10"/>
          </p:nvPr>
        </p:nvSpPr>
        <p:spPr>
          <a:xfrm>
            <a:off x="0" y="0"/>
            <a:ext cx="12192000" cy="3789363"/>
          </a:xfrm>
          <a:custGeom>
            <a:avLst/>
            <a:gdLst>
              <a:gd name="connsiteX0" fmla="*/ 0 w 12192000"/>
              <a:gd name="connsiteY0" fmla="*/ 0 h 3789363"/>
              <a:gd name="connsiteX1" fmla="*/ 12192000 w 12192000"/>
              <a:gd name="connsiteY1" fmla="*/ 0 h 3789363"/>
              <a:gd name="connsiteX2" fmla="*/ 12192000 w 12192000"/>
              <a:gd name="connsiteY2" fmla="*/ 3789363 h 3789363"/>
              <a:gd name="connsiteX3" fmla="*/ 0 w 12192000"/>
              <a:gd name="connsiteY3" fmla="*/ 3789363 h 3789363"/>
            </a:gdLst>
            <a:ahLst/>
            <a:cxnLst>
              <a:cxn ang="0">
                <a:pos x="connsiteX0" y="connsiteY0"/>
              </a:cxn>
              <a:cxn ang="0">
                <a:pos x="connsiteX1" y="connsiteY1"/>
              </a:cxn>
              <a:cxn ang="0">
                <a:pos x="connsiteX2" y="connsiteY2"/>
              </a:cxn>
              <a:cxn ang="0">
                <a:pos x="connsiteX3" y="connsiteY3"/>
              </a:cxn>
            </a:cxnLst>
            <a:rect l="l" t="t" r="r" b="b"/>
            <a:pathLst>
              <a:path w="12192000" h="3789363">
                <a:moveTo>
                  <a:pt x="0" y="0"/>
                </a:moveTo>
                <a:lnTo>
                  <a:pt x="12192000" y="0"/>
                </a:lnTo>
                <a:lnTo>
                  <a:pt x="12192000" y="3789363"/>
                </a:lnTo>
                <a:lnTo>
                  <a:pt x="0" y="3789363"/>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 y="1"/>
            <a:ext cx="2297527" cy="2662925"/>
          </a:xfrm>
          <a:custGeom>
            <a:avLst/>
            <a:gdLst>
              <a:gd name="connsiteX0" fmla="*/ 0 w 2297527"/>
              <a:gd name="connsiteY0" fmla="*/ 0 h 2662925"/>
              <a:gd name="connsiteX1" fmla="*/ 2297527 w 2297527"/>
              <a:gd name="connsiteY1" fmla="*/ 0 h 2662925"/>
              <a:gd name="connsiteX2" fmla="*/ 2297527 w 2297527"/>
              <a:gd name="connsiteY2" fmla="*/ 2662925 h 2662925"/>
              <a:gd name="connsiteX3" fmla="*/ 0 w 2297527"/>
              <a:gd name="connsiteY3" fmla="*/ 2662925 h 2662925"/>
            </a:gdLst>
            <a:ahLst/>
            <a:cxnLst>
              <a:cxn ang="0">
                <a:pos x="connsiteX0" y="connsiteY0"/>
              </a:cxn>
              <a:cxn ang="0">
                <a:pos x="connsiteX1" y="connsiteY1"/>
              </a:cxn>
              <a:cxn ang="0">
                <a:pos x="connsiteX2" y="connsiteY2"/>
              </a:cxn>
              <a:cxn ang="0">
                <a:pos x="connsiteX3" y="connsiteY3"/>
              </a:cxn>
            </a:cxnLst>
            <a:rect l="l" t="t" r="r" b="b"/>
            <a:pathLst>
              <a:path w="2297527" h="2662925">
                <a:moveTo>
                  <a:pt x="0" y="0"/>
                </a:moveTo>
                <a:lnTo>
                  <a:pt x="2297527" y="0"/>
                </a:lnTo>
                <a:lnTo>
                  <a:pt x="2297527" y="2662925"/>
                </a:lnTo>
                <a:lnTo>
                  <a:pt x="0" y="2662925"/>
                </a:lnTo>
                <a:close/>
              </a:path>
            </a:pathLst>
          </a:custGeom>
        </p:spPr>
        <p:txBody>
          <a:bodyPr wrap="square">
            <a:noAutofit/>
          </a:bodyPr>
          <a:lstStyle/>
          <a:p>
            <a:endParaRPr lang="zh-CN" altLang="en-US"/>
          </a:p>
        </p:txBody>
      </p:sp>
      <p:sp>
        <p:nvSpPr>
          <p:cNvPr id="16" name="图片占位符 15"/>
          <p:cNvSpPr>
            <a:spLocks noGrp="1"/>
          </p:cNvSpPr>
          <p:nvPr>
            <p:ph type="pic" sz="quarter" idx="11"/>
          </p:nvPr>
        </p:nvSpPr>
        <p:spPr>
          <a:xfrm>
            <a:off x="2363460" y="1"/>
            <a:ext cx="2297527" cy="2662925"/>
          </a:xfrm>
          <a:custGeom>
            <a:avLst/>
            <a:gdLst>
              <a:gd name="connsiteX0" fmla="*/ 0 w 2297527"/>
              <a:gd name="connsiteY0" fmla="*/ 0 h 2662925"/>
              <a:gd name="connsiteX1" fmla="*/ 2297527 w 2297527"/>
              <a:gd name="connsiteY1" fmla="*/ 0 h 2662925"/>
              <a:gd name="connsiteX2" fmla="*/ 2297527 w 2297527"/>
              <a:gd name="connsiteY2" fmla="*/ 2662925 h 2662925"/>
              <a:gd name="connsiteX3" fmla="*/ 0 w 2297527"/>
              <a:gd name="connsiteY3" fmla="*/ 2662925 h 2662925"/>
            </a:gdLst>
            <a:ahLst/>
            <a:cxnLst>
              <a:cxn ang="0">
                <a:pos x="connsiteX0" y="connsiteY0"/>
              </a:cxn>
              <a:cxn ang="0">
                <a:pos x="connsiteX1" y="connsiteY1"/>
              </a:cxn>
              <a:cxn ang="0">
                <a:pos x="connsiteX2" y="connsiteY2"/>
              </a:cxn>
              <a:cxn ang="0">
                <a:pos x="connsiteX3" y="connsiteY3"/>
              </a:cxn>
            </a:cxnLst>
            <a:rect l="l" t="t" r="r" b="b"/>
            <a:pathLst>
              <a:path w="2297527" h="2662925">
                <a:moveTo>
                  <a:pt x="0" y="0"/>
                </a:moveTo>
                <a:lnTo>
                  <a:pt x="2297527" y="0"/>
                </a:lnTo>
                <a:lnTo>
                  <a:pt x="2297527" y="2662925"/>
                </a:lnTo>
                <a:lnTo>
                  <a:pt x="0" y="2662925"/>
                </a:lnTo>
                <a:close/>
              </a:path>
            </a:pathLst>
          </a:custGeom>
        </p:spPr>
        <p:txBody>
          <a:bodyPr wrap="square">
            <a:noAutofit/>
          </a:bodyPr>
          <a:lstStyle/>
          <a:p>
            <a:endParaRPr lang="zh-CN" altLang="en-US"/>
          </a:p>
        </p:txBody>
      </p:sp>
      <p:sp>
        <p:nvSpPr>
          <p:cNvPr id="17" name="图片占位符 16"/>
          <p:cNvSpPr>
            <a:spLocks noGrp="1"/>
          </p:cNvSpPr>
          <p:nvPr>
            <p:ph type="pic" sz="quarter" idx="12"/>
          </p:nvPr>
        </p:nvSpPr>
        <p:spPr>
          <a:xfrm>
            <a:off x="2363460" y="2738257"/>
            <a:ext cx="2297527" cy="2626151"/>
          </a:xfrm>
          <a:custGeom>
            <a:avLst/>
            <a:gdLst>
              <a:gd name="connsiteX0" fmla="*/ 0 w 2297527"/>
              <a:gd name="connsiteY0" fmla="*/ 0 h 2626151"/>
              <a:gd name="connsiteX1" fmla="*/ 2297527 w 2297527"/>
              <a:gd name="connsiteY1" fmla="*/ 0 h 2626151"/>
              <a:gd name="connsiteX2" fmla="*/ 2297527 w 2297527"/>
              <a:gd name="connsiteY2" fmla="*/ 2626151 h 2626151"/>
              <a:gd name="connsiteX3" fmla="*/ 0 w 2297527"/>
              <a:gd name="connsiteY3" fmla="*/ 2626151 h 2626151"/>
            </a:gdLst>
            <a:ahLst/>
            <a:cxnLst>
              <a:cxn ang="0">
                <a:pos x="connsiteX0" y="connsiteY0"/>
              </a:cxn>
              <a:cxn ang="0">
                <a:pos x="connsiteX1" y="connsiteY1"/>
              </a:cxn>
              <a:cxn ang="0">
                <a:pos x="connsiteX2" y="connsiteY2"/>
              </a:cxn>
              <a:cxn ang="0">
                <a:pos x="connsiteX3" y="connsiteY3"/>
              </a:cxn>
            </a:cxnLst>
            <a:rect l="l" t="t" r="r" b="b"/>
            <a:pathLst>
              <a:path w="2297527" h="2626151">
                <a:moveTo>
                  <a:pt x="0" y="0"/>
                </a:moveTo>
                <a:lnTo>
                  <a:pt x="2297527" y="0"/>
                </a:lnTo>
                <a:lnTo>
                  <a:pt x="2297527" y="2626151"/>
                </a:lnTo>
                <a:lnTo>
                  <a:pt x="0" y="2626151"/>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1" y="4187154"/>
            <a:ext cx="2297527" cy="2662925"/>
          </a:xfrm>
          <a:custGeom>
            <a:avLst/>
            <a:gdLst>
              <a:gd name="connsiteX0" fmla="*/ 0 w 2297527"/>
              <a:gd name="connsiteY0" fmla="*/ 0 h 2662925"/>
              <a:gd name="connsiteX1" fmla="*/ 2297527 w 2297527"/>
              <a:gd name="connsiteY1" fmla="*/ 0 h 2662925"/>
              <a:gd name="connsiteX2" fmla="*/ 2297527 w 2297527"/>
              <a:gd name="connsiteY2" fmla="*/ 2662925 h 2662925"/>
              <a:gd name="connsiteX3" fmla="*/ 0 w 2297527"/>
              <a:gd name="connsiteY3" fmla="*/ 2662925 h 2662925"/>
            </a:gdLst>
            <a:ahLst/>
            <a:cxnLst>
              <a:cxn ang="0">
                <a:pos x="connsiteX0" y="connsiteY0"/>
              </a:cxn>
              <a:cxn ang="0">
                <a:pos x="connsiteX1" y="connsiteY1"/>
              </a:cxn>
              <a:cxn ang="0">
                <a:pos x="connsiteX2" y="connsiteY2"/>
              </a:cxn>
              <a:cxn ang="0">
                <a:pos x="connsiteX3" y="connsiteY3"/>
              </a:cxn>
            </a:cxnLst>
            <a:rect l="l" t="t" r="r" b="b"/>
            <a:pathLst>
              <a:path w="2297527" h="2662925">
                <a:moveTo>
                  <a:pt x="0" y="0"/>
                </a:moveTo>
                <a:lnTo>
                  <a:pt x="2297527" y="0"/>
                </a:lnTo>
                <a:lnTo>
                  <a:pt x="2297527" y="2662925"/>
                </a:lnTo>
                <a:lnTo>
                  <a:pt x="0" y="2662925"/>
                </a:lnTo>
                <a:close/>
              </a:path>
            </a:pathLst>
          </a:custGeom>
        </p:spPr>
        <p:txBody>
          <a:bodyPr wrap="square">
            <a:noAutofit/>
          </a:bodyPr>
          <a:lstStyle/>
          <a:p>
            <a:endParaRPr lang="zh-CN" altLang="en-US"/>
          </a:p>
        </p:txBody>
      </p:sp>
      <p:sp>
        <p:nvSpPr>
          <p:cNvPr id="14" name="图片占位符 13"/>
          <p:cNvSpPr>
            <a:spLocks noGrp="1"/>
          </p:cNvSpPr>
          <p:nvPr>
            <p:ph type="pic" sz="quarter" idx="14"/>
          </p:nvPr>
        </p:nvSpPr>
        <p:spPr>
          <a:xfrm>
            <a:off x="7968599" y="2738256"/>
            <a:ext cx="4223401" cy="4111823"/>
          </a:xfrm>
          <a:custGeom>
            <a:avLst/>
            <a:gdLst>
              <a:gd name="connsiteX0" fmla="*/ 0 w 4223401"/>
              <a:gd name="connsiteY0" fmla="*/ 0 h 4111823"/>
              <a:gd name="connsiteX1" fmla="*/ 4223401 w 4223401"/>
              <a:gd name="connsiteY1" fmla="*/ 0 h 4111823"/>
              <a:gd name="connsiteX2" fmla="*/ 4223401 w 4223401"/>
              <a:gd name="connsiteY2" fmla="*/ 4111823 h 4111823"/>
              <a:gd name="connsiteX3" fmla="*/ 0 w 4223401"/>
              <a:gd name="connsiteY3" fmla="*/ 4111823 h 4111823"/>
            </a:gdLst>
            <a:ahLst/>
            <a:cxnLst>
              <a:cxn ang="0">
                <a:pos x="connsiteX0" y="connsiteY0"/>
              </a:cxn>
              <a:cxn ang="0">
                <a:pos x="connsiteX1" y="connsiteY1"/>
              </a:cxn>
              <a:cxn ang="0">
                <a:pos x="connsiteX2" y="connsiteY2"/>
              </a:cxn>
              <a:cxn ang="0">
                <a:pos x="connsiteX3" y="connsiteY3"/>
              </a:cxn>
            </a:cxnLst>
            <a:rect l="l" t="t" r="r" b="b"/>
            <a:pathLst>
              <a:path w="4223401" h="4111823">
                <a:moveTo>
                  <a:pt x="0" y="0"/>
                </a:moveTo>
                <a:lnTo>
                  <a:pt x="4223401" y="0"/>
                </a:lnTo>
                <a:lnTo>
                  <a:pt x="4223401" y="4111823"/>
                </a:lnTo>
                <a:lnTo>
                  <a:pt x="0" y="4111823"/>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1242501" y="2529495"/>
            <a:ext cx="1672720" cy="1617064"/>
          </a:xfrm>
          <a:custGeom>
            <a:avLst/>
            <a:gdLst>
              <a:gd name="connsiteX0" fmla="*/ 836360 w 1672720"/>
              <a:gd name="connsiteY0" fmla="*/ 0 h 1617064"/>
              <a:gd name="connsiteX1" fmla="*/ 1672720 w 1672720"/>
              <a:gd name="connsiteY1" fmla="*/ 808532 h 1617064"/>
              <a:gd name="connsiteX2" fmla="*/ 836360 w 1672720"/>
              <a:gd name="connsiteY2" fmla="*/ 1617064 h 1617064"/>
              <a:gd name="connsiteX3" fmla="*/ 0 w 1672720"/>
              <a:gd name="connsiteY3" fmla="*/ 808532 h 1617064"/>
              <a:gd name="connsiteX4" fmla="*/ 836360 w 1672720"/>
              <a:gd name="connsiteY4" fmla="*/ 0 h 1617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720" h="1617064">
                <a:moveTo>
                  <a:pt x="836360" y="0"/>
                </a:moveTo>
                <a:cubicBezTo>
                  <a:pt x="1298269" y="0"/>
                  <a:pt x="1672720" y="361992"/>
                  <a:pt x="1672720" y="808532"/>
                </a:cubicBezTo>
                <a:cubicBezTo>
                  <a:pt x="1672720" y="1255072"/>
                  <a:pt x="1298269" y="1617064"/>
                  <a:pt x="836360" y="1617064"/>
                </a:cubicBezTo>
                <a:cubicBezTo>
                  <a:pt x="374451" y="1617064"/>
                  <a:pt x="0" y="1255072"/>
                  <a:pt x="0" y="808532"/>
                </a:cubicBezTo>
                <a:cubicBezTo>
                  <a:pt x="0" y="361992"/>
                  <a:pt x="374451" y="0"/>
                  <a:pt x="836360" y="0"/>
                </a:cubicBezTo>
                <a:close/>
              </a:path>
            </a:pathLst>
          </a:custGeom>
        </p:spPr>
        <p:txBody>
          <a:bodyPr wrap="square">
            <a:noAutofit/>
          </a:bodyPr>
          <a:lstStyle/>
          <a:p>
            <a:endParaRPr lang="zh-CN" altLang="en-US"/>
          </a:p>
        </p:txBody>
      </p:sp>
      <p:sp>
        <p:nvSpPr>
          <p:cNvPr id="13" name="图片占位符 12"/>
          <p:cNvSpPr>
            <a:spLocks noGrp="1"/>
          </p:cNvSpPr>
          <p:nvPr>
            <p:ph type="pic" sz="quarter" idx="11"/>
          </p:nvPr>
        </p:nvSpPr>
        <p:spPr>
          <a:xfrm>
            <a:off x="3920601" y="2529497"/>
            <a:ext cx="1672720" cy="1617064"/>
          </a:xfrm>
          <a:custGeom>
            <a:avLst/>
            <a:gdLst>
              <a:gd name="connsiteX0" fmla="*/ 836360 w 1672720"/>
              <a:gd name="connsiteY0" fmla="*/ 0 h 1617064"/>
              <a:gd name="connsiteX1" fmla="*/ 1672720 w 1672720"/>
              <a:gd name="connsiteY1" fmla="*/ 808532 h 1617064"/>
              <a:gd name="connsiteX2" fmla="*/ 836360 w 1672720"/>
              <a:gd name="connsiteY2" fmla="*/ 1617064 h 1617064"/>
              <a:gd name="connsiteX3" fmla="*/ 0 w 1672720"/>
              <a:gd name="connsiteY3" fmla="*/ 808532 h 1617064"/>
              <a:gd name="connsiteX4" fmla="*/ 836360 w 1672720"/>
              <a:gd name="connsiteY4" fmla="*/ 0 h 1617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720" h="1617064">
                <a:moveTo>
                  <a:pt x="836360" y="0"/>
                </a:moveTo>
                <a:cubicBezTo>
                  <a:pt x="1298269" y="0"/>
                  <a:pt x="1672720" y="361992"/>
                  <a:pt x="1672720" y="808532"/>
                </a:cubicBezTo>
                <a:cubicBezTo>
                  <a:pt x="1672720" y="1255072"/>
                  <a:pt x="1298269" y="1617064"/>
                  <a:pt x="836360" y="1617064"/>
                </a:cubicBezTo>
                <a:cubicBezTo>
                  <a:pt x="374451" y="1617064"/>
                  <a:pt x="0" y="1255072"/>
                  <a:pt x="0" y="808532"/>
                </a:cubicBezTo>
                <a:cubicBezTo>
                  <a:pt x="0" y="361992"/>
                  <a:pt x="374451" y="0"/>
                  <a:pt x="836360" y="0"/>
                </a:cubicBez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6598701" y="2529497"/>
            <a:ext cx="1672720" cy="1617064"/>
          </a:xfrm>
          <a:custGeom>
            <a:avLst/>
            <a:gdLst>
              <a:gd name="connsiteX0" fmla="*/ 836360 w 1672720"/>
              <a:gd name="connsiteY0" fmla="*/ 0 h 1617064"/>
              <a:gd name="connsiteX1" fmla="*/ 1672720 w 1672720"/>
              <a:gd name="connsiteY1" fmla="*/ 808532 h 1617064"/>
              <a:gd name="connsiteX2" fmla="*/ 836360 w 1672720"/>
              <a:gd name="connsiteY2" fmla="*/ 1617064 h 1617064"/>
              <a:gd name="connsiteX3" fmla="*/ 0 w 1672720"/>
              <a:gd name="connsiteY3" fmla="*/ 808532 h 1617064"/>
              <a:gd name="connsiteX4" fmla="*/ 836360 w 1672720"/>
              <a:gd name="connsiteY4" fmla="*/ 0 h 1617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720" h="1617064">
                <a:moveTo>
                  <a:pt x="836360" y="0"/>
                </a:moveTo>
                <a:cubicBezTo>
                  <a:pt x="1298269" y="0"/>
                  <a:pt x="1672720" y="361992"/>
                  <a:pt x="1672720" y="808532"/>
                </a:cubicBezTo>
                <a:cubicBezTo>
                  <a:pt x="1672720" y="1255072"/>
                  <a:pt x="1298269" y="1617064"/>
                  <a:pt x="836360" y="1617064"/>
                </a:cubicBezTo>
                <a:cubicBezTo>
                  <a:pt x="374451" y="1617064"/>
                  <a:pt x="0" y="1255072"/>
                  <a:pt x="0" y="808532"/>
                </a:cubicBezTo>
                <a:cubicBezTo>
                  <a:pt x="0" y="361992"/>
                  <a:pt x="374451" y="0"/>
                  <a:pt x="836360" y="0"/>
                </a:cubicBezTo>
                <a:close/>
              </a:path>
            </a:pathLst>
          </a:custGeom>
        </p:spPr>
        <p:txBody>
          <a:bodyPr wrap="square">
            <a:noAutofit/>
          </a:bodyPr>
          <a:lstStyle/>
          <a:p>
            <a:endParaRPr lang="zh-CN" altLang="en-US"/>
          </a:p>
        </p:txBody>
      </p:sp>
      <p:sp>
        <p:nvSpPr>
          <p:cNvPr id="15" name="图片占位符 14"/>
          <p:cNvSpPr>
            <a:spLocks noGrp="1"/>
          </p:cNvSpPr>
          <p:nvPr>
            <p:ph type="pic" sz="quarter" idx="13"/>
          </p:nvPr>
        </p:nvSpPr>
        <p:spPr>
          <a:xfrm>
            <a:off x="9280151" y="2529497"/>
            <a:ext cx="1672720" cy="1617064"/>
          </a:xfrm>
          <a:custGeom>
            <a:avLst/>
            <a:gdLst>
              <a:gd name="connsiteX0" fmla="*/ 836360 w 1672720"/>
              <a:gd name="connsiteY0" fmla="*/ 0 h 1617064"/>
              <a:gd name="connsiteX1" fmla="*/ 1672720 w 1672720"/>
              <a:gd name="connsiteY1" fmla="*/ 808532 h 1617064"/>
              <a:gd name="connsiteX2" fmla="*/ 836360 w 1672720"/>
              <a:gd name="connsiteY2" fmla="*/ 1617064 h 1617064"/>
              <a:gd name="connsiteX3" fmla="*/ 0 w 1672720"/>
              <a:gd name="connsiteY3" fmla="*/ 808532 h 1617064"/>
              <a:gd name="connsiteX4" fmla="*/ 836360 w 1672720"/>
              <a:gd name="connsiteY4" fmla="*/ 0 h 1617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720" h="1617064">
                <a:moveTo>
                  <a:pt x="836360" y="0"/>
                </a:moveTo>
                <a:cubicBezTo>
                  <a:pt x="1298269" y="0"/>
                  <a:pt x="1672720" y="361992"/>
                  <a:pt x="1672720" y="808532"/>
                </a:cubicBezTo>
                <a:cubicBezTo>
                  <a:pt x="1672720" y="1255072"/>
                  <a:pt x="1298269" y="1617064"/>
                  <a:pt x="836360" y="1617064"/>
                </a:cubicBezTo>
                <a:cubicBezTo>
                  <a:pt x="374451" y="1617064"/>
                  <a:pt x="0" y="1255072"/>
                  <a:pt x="0" y="808532"/>
                </a:cubicBezTo>
                <a:cubicBezTo>
                  <a:pt x="0" y="361992"/>
                  <a:pt x="374451" y="0"/>
                  <a:pt x="836360" y="0"/>
                </a:cubicBez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1198502" y="2038047"/>
            <a:ext cx="4682069" cy="3502633"/>
          </a:xfrm>
          <a:custGeom>
            <a:avLst/>
            <a:gdLst>
              <a:gd name="connsiteX0" fmla="*/ 730692 w 4682069"/>
              <a:gd name="connsiteY0" fmla="*/ 2965176 h 3502633"/>
              <a:gd name="connsiteX1" fmla="*/ 4682069 w 4682069"/>
              <a:gd name="connsiteY1" fmla="*/ 2965176 h 3502633"/>
              <a:gd name="connsiteX2" fmla="*/ 4547705 w 4682069"/>
              <a:gd name="connsiteY2" fmla="*/ 3502633 h 3502633"/>
              <a:gd name="connsiteX3" fmla="*/ 596328 w 4682069"/>
              <a:gd name="connsiteY3" fmla="*/ 3502633 h 3502633"/>
              <a:gd name="connsiteX4" fmla="*/ 134364 w 4682069"/>
              <a:gd name="connsiteY4" fmla="*/ 2372141 h 3502633"/>
              <a:gd name="connsiteX5" fmla="*/ 4085741 w 4682069"/>
              <a:gd name="connsiteY5" fmla="*/ 2372141 h 3502633"/>
              <a:gd name="connsiteX6" fmla="*/ 3951377 w 4682069"/>
              <a:gd name="connsiteY6" fmla="*/ 2909598 h 3502633"/>
              <a:gd name="connsiteX7" fmla="*/ 0 w 4682069"/>
              <a:gd name="connsiteY7" fmla="*/ 2909598 h 3502633"/>
              <a:gd name="connsiteX8" fmla="*/ 730692 w 4682069"/>
              <a:gd name="connsiteY8" fmla="*/ 1779106 h 3502633"/>
              <a:gd name="connsiteX9" fmla="*/ 4682069 w 4682069"/>
              <a:gd name="connsiteY9" fmla="*/ 1779106 h 3502633"/>
              <a:gd name="connsiteX10" fmla="*/ 4547705 w 4682069"/>
              <a:gd name="connsiteY10" fmla="*/ 2316563 h 3502633"/>
              <a:gd name="connsiteX11" fmla="*/ 596328 w 4682069"/>
              <a:gd name="connsiteY11" fmla="*/ 2316563 h 3502633"/>
              <a:gd name="connsiteX12" fmla="*/ 134365 w 4682069"/>
              <a:gd name="connsiteY12" fmla="*/ 1186071 h 3502633"/>
              <a:gd name="connsiteX13" fmla="*/ 4085741 w 4682069"/>
              <a:gd name="connsiteY13" fmla="*/ 1186071 h 3502633"/>
              <a:gd name="connsiteX14" fmla="*/ 3951377 w 4682069"/>
              <a:gd name="connsiteY14" fmla="*/ 1723528 h 3502633"/>
              <a:gd name="connsiteX15" fmla="*/ 0 w 4682069"/>
              <a:gd name="connsiteY15" fmla="*/ 1723528 h 3502633"/>
              <a:gd name="connsiteX16" fmla="*/ 730692 w 4682069"/>
              <a:gd name="connsiteY16" fmla="*/ 593035 h 3502633"/>
              <a:gd name="connsiteX17" fmla="*/ 4682069 w 4682069"/>
              <a:gd name="connsiteY17" fmla="*/ 593035 h 3502633"/>
              <a:gd name="connsiteX18" fmla="*/ 4547705 w 4682069"/>
              <a:gd name="connsiteY18" fmla="*/ 1130492 h 3502633"/>
              <a:gd name="connsiteX19" fmla="*/ 596328 w 4682069"/>
              <a:gd name="connsiteY19" fmla="*/ 1130492 h 3502633"/>
              <a:gd name="connsiteX20" fmla="*/ 134365 w 4682069"/>
              <a:gd name="connsiteY20" fmla="*/ 0 h 3502633"/>
              <a:gd name="connsiteX21" fmla="*/ 4085741 w 4682069"/>
              <a:gd name="connsiteY21" fmla="*/ 0 h 3502633"/>
              <a:gd name="connsiteX22" fmla="*/ 3951377 w 4682069"/>
              <a:gd name="connsiteY22" fmla="*/ 537457 h 3502633"/>
              <a:gd name="connsiteX23" fmla="*/ 0 w 4682069"/>
              <a:gd name="connsiteY23" fmla="*/ 537457 h 350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682069" h="3502633">
                <a:moveTo>
                  <a:pt x="730692" y="2965176"/>
                </a:moveTo>
                <a:lnTo>
                  <a:pt x="4682069" y="2965176"/>
                </a:lnTo>
                <a:lnTo>
                  <a:pt x="4547705" y="3502633"/>
                </a:lnTo>
                <a:lnTo>
                  <a:pt x="596328" y="3502633"/>
                </a:lnTo>
                <a:close/>
                <a:moveTo>
                  <a:pt x="134364" y="2372141"/>
                </a:moveTo>
                <a:lnTo>
                  <a:pt x="4085741" y="2372141"/>
                </a:lnTo>
                <a:lnTo>
                  <a:pt x="3951377" y="2909598"/>
                </a:lnTo>
                <a:lnTo>
                  <a:pt x="0" y="2909598"/>
                </a:lnTo>
                <a:close/>
                <a:moveTo>
                  <a:pt x="730692" y="1779106"/>
                </a:moveTo>
                <a:lnTo>
                  <a:pt x="4682069" y="1779106"/>
                </a:lnTo>
                <a:lnTo>
                  <a:pt x="4547705" y="2316563"/>
                </a:lnTo>
                <a:lnTo>
                  <a:pt x="596328" y="2316563"/>
                </a:lnTo>
                <a:close/>
                <a:moveTo>
                  <a:pt x="134365" y="1186071"/>
                </a:moveTo>
                <a:lnTo>
                  <a:pt x="4085741" y="1186071"/>
                </a:lnTo>
                <a:lnTo>
                  <a:pt x="3951377" y="1723528"/>
                </a:lnTo>
                <a:lnTo>
                  <a:pt x="0" y="1723528"/>
                </a:lnTo>
                <a:close/>
                <a:moveTo>
                  <a:pt x="730692" y="593035"/>
                </a:moveTo>
                <a:lnTo>
                  <a:pt x="4682069" y="593035"/>
                </a:lnTo>
                <a:lnTo>
                  <a:pt x="4547705" y="1130492"/>
                </a:lnTo>
                <a:lnTo>
                  <a:pt x="596328" y="1130492"/>
                </a:lnTo>
                <a:close/>
                <a:moveTo>
                  <a:pt x="134365" y="0"/>
                </a:moveTo>
                <a:lnTo>
                  <a:pt x="4085741" y="0"/>
                </a:lnTo>
                <a:lnTo>
                  <a:pt x="3951377" y="537457"/>
                </a:lnTo>
                <a:lnTo>
                  <a:pt x="0" y="537457"/>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2277474" y="1442604"/>
            <a:ext cx="1874838" cy="1874838"/>
          </a:xfrm>
          <a:custGeom>
            <a:avLst/>
            <a:gdLst>
              <a:gd name="connsiteX0" fmla="*/ 937419 w 1874838"/>
              <a:gd name="connsiteY0" fmla="*/ 0 h 1874838"/>
              <a:gd name="connsiteX1" fmla="*/ 1874838 w 1874838"/>
              <a:gd name="connsiteY1" fmla="*/ 937419 h 1874838"/>
              <a:gd name="connsiteX2" fmla="*/ 1874838 w 1874838"/>
              <a:gd name="connsiteY2" fmla="*/ 1874838 h 1874838"/>
              <a:gd name="connsiteX3" fmla="*/ 937419 w 1874838"/>
              <a:gd name="connsiteY3" fmla="*/ 1874838 h 1874838"/>
              <a:gd name="connsiteX4" fmla="*/ 0 w 1874838"/>
              <a:gd name="connsiteY4" fmla="*/ 937419 h 1874838"/>
              <a:gd name="connsiteX5" fmla="*/ 937419 w 1874838"/>
              <a:gd name="connsiteY5" fmla="*/ 0 h 187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838" h="1874838">
                <a:moveTo>
                  <a:pt x="937419" y="0"/>
                </a:moveTo>
                <a:cubicBezTo>
                  <a:pt x="1455141" y="0"/>
                  <a:pt x="1874838" y="419697"/>
                  <a:pt x="1874838" y="937419"/>
                </a:cubicBezTo>
                <a:lnTo>
                  <a:pt x="1874838" y="1874838"/>
                </a:lnTo>
                <a:lnTo>
                  <a:pt x="937419" y="1874838"/>
                </a:lnTo>
                <a:cubicBezTo>
                  <a:pt x="419697" y="1874838"/>
                  <a:pt x="0" y="1455141"/>
                  <a:pt x="0" y="937419"/>
                </a:cubicBezTo>
                <a:cubicBezTo>
                  <a:pt x="0" y="419697"/>
                  <a:pt x="419697" y="0"/>
                  <a:pt x="937419" y="0"/>
                </a:cubicBezTo>
                <a:close/>
              </a:path>
            </a:pathLst>
          </a:custGeom>
          <a:solidFill>
            <a:schemeClr val="accent2"/>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a:endParaRPr lang="zh-CN" altLang="en-US"/>
          </a:p>
        </p:txBody>
      </p:sp>
      <p:sp>
        <p:nvSpPr>
          <p:cNvPr id="12" name="图片占位符 11"/>
          <p:cNvSpPr>
            <a:spLocks noGrp="1"/>
          </p:cNvSpPr>
          <p:nvPr>
            <p:ph type="pic" sz="quarter" idx="11"/>
          </p:nvPr>
        </p:nvSpPr>
        <p:spPr>
          <a:xfrm>
            <a:off x="4283117" y="1428357"/>
            <a:ext cx="1889084" cy="1889084"/>
          </a:xfrm>
          <a:custGeom>
            <a:avLst/>
            <a:gdLst>
              <a:gd name="connsiteX0" fmla="*/ 944542 w 1889084"/>
              <a:gd name="connsiteY0" fmla="*/ 0 h 1889084"/>
              <a:gd name="connsiteX1" fmla="*/ 1889084 w 1889084"/>
              <a:gd name="connsiteY1" fmla="*/ 944542 h 1889084"/>
              <a:gd name="connsiteX2" fmla="*/ 944542 w 1889084"/>
              <a:gd name="connsiteY2" fmla="*/ 1889084 h 1889084"/>
              <a:gd name="connsiteX3" fmla="*/ 0 w 1889084"/>
              <a:gd name="connsiteY3" fmla="*/ 1889084 h 1889084"/>
              <a:gd name="connsiteX4" fmla="*/ 0 w 1889084"/>
              <a:gd name="connsiteY4" fmla="*/ 944543 h 1889084"/>
              <a:gd name="connsiteX5" fmla="*/ 944542 w 1889084"/>
              <a:gd name="connsiteY5" fmla="*/ 1 h 188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084" h="1889084">
                <a:moveTo>
                  <a:pt x="944542" y="0"/>
                </a:moveTo>
                <a:cubicBezTo>
                  <a:pt x="1466198" y="0"/>
                  <a:pt x="1889084" y="422886"/>
                  <a:pt x="1889084" y="944542"/>
                </a:cubicBezTo>
                <a:cubicBezTo>
                  <a:pt x="1889084" y="1466198"/>
                  <a:pt x="1466198" y="1889084"/>
                  <a:pt x="944542" y="1889084"/>
                </a:cubicBezTo>
                <a:lnTo>
                  <a:pt x="0" y="1889084"/>
                </a:lnTo>
                <a:lnTo>
                  <a:pt x="0" y="944543"/>
                </a:lnTo>
                <a:cubicBezTo>
                  <a:pt x="0" y="422887"/>
                  <a:pt x="422886" y="1"/>
                  <a:pt x="944542" y="1"/>
                </a:cubicBezTo>
                <a:close/>
              </a:path>
            </a:pathLst>
          </a:custGeom>
          <a:solidFill>
            <a:schemeClr val="accent2"/>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a:endParaRPr lang="zh-CN" altLang="en-US"/>
          </a:p>
        </p:txBody>
      </p:sp>
      <p:sp>
        <p:nvSpPr>
          <p:cNvPr id="13" name="图片占位符 12"/>
          <p:cNvSpPr>
            <a:spLocks noGrp="1"/>
          </p:cNvSpPr>
          <p:nvPr>
            <p:ph type="pic" sz="quarter" idx="12"/>
          </p:nvPr>
        </p:nvSpPr>
        <p:spPr>
          <a:xfrm>
            <a:off x="1561512" y="3437787"/>
            <a:ext cx="2590800" cy="2590800"/>
          </a:xfrm>
          <a:custGeom>
            <a:avLst/>
            <a:gdLst>
              <a:gd name="connsiteX0" fmla="*/ 1295400 w 2590800"/>
              <a:gd name="connsiteY0" fmla="*/ 0 h 2590800"/>
              <a:gd name="connsiteX1" fmla="*/ 2590800 w 2590800"/>
              <a:gd name="connsiteY1" fmla="*/ 0 h 2590800"/>
              <a:gd name="connsiteX2" fmla="*/ 2590800 w 2590800"/>
              <a:gd name="connsiteY2" fmla="*/ 1295400 h 2590800"/>
              <a:gd name="connsiteX3" fmla="*/ 1295400 w 2590800"/>
              <a:gd name="connsiteY3" fmla="*/ 2590800 h 2590800"/>
              <a:gd name="connsiteX4" fmla="*/ 0 w 2590800"/>
              <a:gd name="connsiteY4" fmla="*/ 1295400 h 2590800"/>
              <a:gd name="connsiteX5" fmla="*/ 1295400 w 2590800"/>
              <a:gd name="connsiteY5" fmla="*/ 0 h 259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0800" h="2590800">
                <a:moveTo>
                  <a:pt x="1295400" y="0"/>
                </a:moveTo>
                <a:lnTo>
                  <a:pt x="2590800" y="0"/>
                </a:lnTo>
                <a:lnTo>
                  <a:pt x="2590800" y="1295400"/>
                </a:lnTo>
                <a:cubicBezTo>
                  <a:pt x="2590800" y="2010830"/>
                  <a:pt x="2010830" y="2590800"/>
                  <a:pt x="1295400" y="2590800"/>
                </a:cubicBezTo>
                <a:cubicBezTo>
                  <a:pt x="579970" y="2590800"/>
                  <a:pt x="0" y="2010830"/>
                  <a:pt x="0" y="1295400"/>
                </a:cubicBezTo>
                <a:cubicBezTo>
                  <a:pt x="0" y="579970"/>
                  <a:pt x="579970" y="0"/>
                  <a:pt x="1295400" y="0"/>
                </a:cubicBezTo>
                <a:close/>
              </a:path>
            </a:pathLst>
          </a:custGeom>
          <a:solidFill>
            <a:schemeClr val="accent2"/>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a:defRPr lang="zh-CN" altLang="en-US" sz="1800">
                <a:solidFill>
                  <a:schemeClr val="lt1"/>
                </a:solidFill>
              </a:defRPr>
            </a:lvl1pPr>
          </a:lstStyle>
          <a:p>
            <a:pPr marL="0" lvl="0"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mailto:huxiaoqin@vinchin.com" TargetMode="External"/><Relationship Id="rId5" Type="http://schemas.openxmlformats.org/officeDocument/2006/relationships/image" Target="../media/image10.png"/><Relationship Id="rId4" Type="http://schemas.openxmlformats.org/officeDocument/2006/relationships/hyperlink" Target="https://www.linkedin.com/in/%E8%83%A1%E6%99%93%E5%8B%A4-mark-hu-209686117/"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hyperlink" Target="https://www.linkedin.com/in/peter-xie-227542157/" TargetMode="External"/><Relationship Id="rId3" Type="http://schemas.openxmlformats.org/officeDocument/2006/relationships/image" Target="../media/image12.png"/><Relationship Id="rId7" Type="http://schemas.openxmlformats.org/officeDocument/2006/relationships/hyperlink" Target="https://www.linkedin.com/in/chuanbo-huang-419a95157/" TargetMode="External"/><Relationship Id="rId12" Type="http://schemas.openxmlformats.org/officeDocument/2006/relationships/hyperlink" Target="mailto:tulei@vinchin.com" TargetMode="External"/><Relationship Id="rId2" Type="http://schemas.openxmlformats.org/officeDocument/2006/relationships/notesSlide" Target="../notesSlides/notesSlide7.xml"/><Relationship Id="rId16" Type="http://schemas.openxmlformats.org/officeDocument/2006/relationships/hyperlink" Target="mailto:xiezhuowei@vinchin.com" TargetMode="External"/><Relationship Id="rId1" Type="http://schemas.openxmlformats.org/officeDocument/2006/relationships/slideLayout" Target="../slideLayouts/slideLayout13.xml"/><Relationship Id="rId6" Type="http://schemas.openxmlformats.org/officeDocument/2006/relationships/image" Target="../media/image15.png"/><Relationship Id="rId11" Type="http://schemas.openxmlformats.org/officeDocument/2006/relationships/hyperlink" Target="https://www.linkedin.com/in/%E7%A3%8A-%E6%B6%82-008449149/" TargetMode="External"/><Relationship Id="rId5" Type="http://schemas.openxmlformats.org/officeDocument/2006/relationships/image" Target="../media/image14.png"/><Relationship Id="rId15" Type="http://schemas.openxmlformats.org/officeDocument/2006/relationships/hyperlink" Target="https://www.linkedin.com/in/well-xie-60a80a149/" TargetMode="External"/><Relationship Id="rId10" Type="http://schemas.openxmlformats.org/officeDocument/2006/relationships/image" Target="../media/image17.png"/><Relationship Id="rId4" Type="http://schemas.openxmlformats.org/officeDocument/2006/relationships/image" Target="../media/image13.png"/><Relationship Id="rId9" Type="http://schemas.openxmlformats.org/officeDocument/2006/relationships/hyperlink" Target="mailto:huangchuanbo@vinchin.com" TargetMode="External"/><Relationship Id="rId14" Type="http://schemas.openxmlformats.org/officeDocument/2006/relationships/hyperlink" Target="mailto:xiejunfeng@vinchin.co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jpe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0.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image" Target="../media/image39.png"/><Relationship Id="rId5" Type="http://schemas.openxmlformats.org/officeDocument/2006/relationships/image" Target="../media/image38.jpe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41.jpe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44.jpeg"/><Relationship Id="rId4" Type="http://schemas.openxmlformats.org/officeDocument/2006/relationships/image" Target="../media/image43.jpeg"/></Relationships>
</file>

<file path=ppt/slides/_rels/slide19.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jpeg"/></Relationships>
</file>

<file path=ppt/slides/_rels/slide20.xml.rels><?xml version="1.0" encoding="UTF-8" standalone="yes"?>
<Relationships xmlns="http://schemas.openxmlformats.org/package/2006/relationships"><Relationship Id="rId8" Type="http://schemas.openxmlformats.org/officeDocument/2006/relationships/image" Target="../media/image55.jpe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jpe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3">
            <a:duotone>
              <a:prstClr val="black"/>
              <a:srgbClr val="319295">
                <a:tint val="45000"/>
                <a:satMod val="400000"/>
              </a:srgbClr>
            </a:duotone>
          </a:blip>
          <a:srcRect/>
          <a:stretch>
            <a:fillRect/>
          </a:stretch>
        </p:blipFill>
        <p:spPr/>
      </p:pic>
      <p:sp>
        <p:nvSpPr>
          <p:cNvPr id="14" name="任意多边形: 形状 13"/>
          <p:cNvSpPr/>
          <p:nvPr/>
        </p:nvSpPr>
        <p:spPr>
          <a:xfrm>
            <a:off x="0" y="0"/>
            <a:ext cx="12192000" cy="6858000"/>
          </a:xfrm>
          <a:custGeom>
            <a:avLst/>
            <a:gdLst>
              <a:gd name="connsiteX0" fmla="*/ 12192000 w 12192000"/>
              <a:gd name="connsiteY0" fmla="*/ 5798487 h 6858000"/>
              <a:gd name="connsiteX1" fmla="*/ 12192000 w 12192000"/>
              <a:gd name="connsiteY1" fmla="*/ 6858000 h 6858000"/>
              <a:gd name="connsiteX2" fmla="*/ 11683190 w 12192000"/>
              <a:gd name="connsiteY2" fmla="*/ 6858000 h 6858000"/>
              <a:gd name="connsiteX3" fmla="*/ 0 w 12192000"/>
              <a:gd name="connsiteY3" fmla="*/ 0 h 6858000"/>
              <a:gd name="connsiteX4" fmla="*/ 8836437 w 12192000"/>
              <a:gd name="connsiteY4" fmla="*/ 0 h 6858000"/>
              <a:gd name="connsiteX5" fmla="*/ 6096000 w 12192000"/>
              <a:gd name="connsiteY5" fmla="*/ 5706508 h 6858000"/>
              <a:gd name="connsiteX6" fmla="*/ 9723834 w 12192000"/>
              <a:gd name="connsiteY6" fmla="*/ 5706508 h 6858000"/>
              <a:gd name="connsiteX7" fmla="*/ 12192000 w 12192000"/>
              <a:gd name="connsiteY7" fmla="*/ 566959 h 6858000"/>
              <a:gd name="connsiteX8" fmla="*/ 12192000 w 12192000"/>
              <a:gd name="connsiteY8" fmla="*/ 1135698 h 6858000"/>
              <a:gd name="connsiteX9" fmla="*/ 11179151 w 12192000"/>
              <a:gd name="connsiteY9" fmla="*/ 3244789 h 6858000"/>
              <a:gd name="connsiteX10" fmla="*/ 11927911 w 12192000"/>
              <a:gd name="connsiteY10" fmla="*/ 3244789 h 6858000"/>
              <a:gd name="connsiteX11" fmla="*/ 12192000 w 12192000"/>
              <a:gd name="connsiteY11" fmla="*/ 2694867 h 6858000"/>
              <a:gd name="connsiteX12" fmla="*/ 12192000 w 12192000"/>
              <a:gd name="connsiteY12" fmla="*/ 4367050 h 6858000"/>
              <a:gd name="connsiteX13" fmla="*/ 10995771 w 12192000"/>
              <a:gd name="connsiteY13" fmla="*/ 6858000 h 6858000"/>
              <a:gd name="connsiteX14" fmla="*/ 10821819 w 12192000"/>
              <a:gd name="connsiteY14" fmla="*/ 6858000 h 6858000"/>
              <a:gd name="connsiteX15" fmla="*/ 11838038 w 12192000"/>
              <a:gd name="connsiteY15" fmla="*/ 4741892 h 6858000"/>
              <a:gd name="connsiteX16" fmla="*/ 10408984 w 12192000"/>
              <a:gd name="connsiteY16" fmla="*/ 4741892 h 6858000"/>
              <a:gd name="connsiteX17" fmla="*/ 9392765 w 12192000"/>
              <a:gd name="connsiteY17" fmla="*/ 6858000 h 6858000"/>
              <a:gd name="connsiteX18" fmla="*/ 5345111 w 12192000"/>
              <a:gd name="connsiteY18" fmla="*/ 6858000 h 6858000"/>
              <a:gd name="connsiteX19" fmla="*/ 7158475 w 12192000"/>
              <a:gd name="connsiteY19" fmla="*/ 3081966 h 6858000"/>
              <a:gd name="connsiteX20" fmla="*/ 6389145 w 12192000"/>
              <a:gd name="connsiteY20" fmla="*/ 3081966 h 6858000"/>
              <a:gd name="connsiteX21" fmla="*/ 4575781 w 12192000"/>
              <a:gd name="connsiteY21" fmla="*/ 6858000 h 6858000"/>
              <a:gd name="connsiteX22" fmla="*/ 0 w 12192000"/>
              <a:gd name="connsiteY2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6858000">
                <a:moveTo>
                  <a:pt x="12192000" y="5798487"/>
                </a:moveTo>
                <a:lnTo>
                  <a:pt x="12192000" y="6858000"/>
                </a:lnTo>
                <a:lnTo>
                  <a:pt x="11683190" y="6858000"/>
                </a:lnTo>
                <a:close/>
                <a:moveTo>
                  <a:pt x="0" y="0"/>
                </a:moveTo>
                <a:lnTo>
                  <a:pt x="8836437" y="0"/>
                </a:lnTo>
                <a:lnTo>
                  <a:pt x="6096000" y="5706508"/>
                </a:lnTo>
                <a:lnTo>
                  <a:pt x="9723834" y="5706508"/>
                </a:lnTo>
                <a:lnTo>
                  <a:pt x="12192000" y="566959"/>
                </a:lnTo>
                <a:lnTo>
                  <a:pt x="12192000" y="1135698"/>
                </a:lnTo>
                <a:lnTo>
                  <a:pt x="11179151" y="3244789"/>
                </a:lnTo>
                <a:lnTo>
                  <a:pt x="11927911" y="3244789"/>
                </a:lnTo>
                <a:lnTo>
                  <a:pt x="12192000" y="2694867"/>
                </a:lnTo>
                <a:lnTo>
                  <a:pt x="12192000" y="4367050"/>
                </a:lnTo>
                <a:lnTo>
                  <a:pt x="10995771" y="6858000"/>
                </a:lnTo>
                <a:lnTo>
                  <a:pt x="10821819" y="6858000"/>
                </a:lnTo>
                <a:lnTo>
                  <a:pt x="11838038" y="4741892"/>
                </a:lnTo>
                <a:lnTo>
                  <a:pt x="10408984" y="4741892"/>
                </a:lnTo>
                <a:lnTo>
                  <a:pt x="9392765" y="6858000"/>
                </a:lnTo>
                <a:lnTo>
                  <a:pt x="5345111" y="6858000"/>
                </a:lnTo>
                <a:lnTo>
                  <a:pt x="7158475" y="3081966"/>
                </a:lnTo>
                <a:lnTo>
                  <a:pt x="6389145" y="3081966"/>
                </a:lnTo>
                <a:lnTo>
                  <a:pt x="4575781" y="6858000"/>
                </a:lnTo>
                <a:lnTo>
                  <a:pt x="0" y="6858000"/>
                </a:lnTo>
                <a:close/>
              </a:path>
            </a:pathLst>
          </a:custGeom>
          <a:solidFill>
            <a:schemeClr val="accent6">
              <a:lumMod val="50000"/>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a:off x="7500040" y="2"/>
            <a:ext cx="1139200" cy="841828"/>
          </a:xfrm>
          <a:custGeom>
            <a:avLst/>
            <a:gdLst>
              <a:gd name="connsiteX0" fmla="*/ 620058 w 1747266"/>
              <a:gd name="connsiteY0" fmla="*/ 0 h 1291167"/>
              <a:gd name="connsiteX1" fmla="*/ 1747266 w 1747266"/>
              <a:gd name="connsiteY1" fmla="*/ 0 h 1291167"/>
              <a:gd name="connsiteX2" fmla="*/ 1127209 w 1747266"/>
              <a:gd name="connsiteY2" fmla="*/ 1291167 h 1291167"/>
              <a:gd name="connsiteX3" fmla="*/ 0 w 1747266"/>
              <a:gd name="connsiteY3" fmla="*/ 1291167 h 1291167"/>
            </a:gdLst>
            <a:ahLst/>
            <a:cxnLst>
              <a:cxn ang="0">
                <a:pos x="connsiteX0" y="connsiteY0"/>
              </a:cxn>
              <a:cxn ang="0">
                <a:pos x="connsiteX1" y="connsiteY1"/>
              </a:cxn>
              <a:cxn ang="0">
                <a:pos x="connsiteX2" y="connsiteY2"/>
              </a:cxn>
              <a:cxn ang="0">
                <a:pos x="connsiteX3" y="connsiteY3"/>
              </a:cxn>
            </a:cxnLst>
            <a:rect l="l" t="t" r="r" b="b"/>
            <a:pathLst>
              <a:path w="1747266" h="1291167">
                <a:moveTo>
                  <a:pt x="620058" y="0"/>
                </a:moveTo>
                <a:lnTo>
                  <a:pt x="1747266" y="0"/>
                </a:lnTo>
                <a:lnTo>
                  <a:pt x="1127209" y="1291167"/>
                </a:lnTo>
                <a:lnTo>
                  <a:pt x="0" y="1291167"/>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p:cNvSpPr/>
          <p:nvPr/>
        </p:nvSpPr>
        <p:spPr>
          <a:xfrm>
            <a:off x="4569330" y="-14491"/>
            <a:ext cx="7622670" cy="6871433"/>
          </a:xfrm>
          <a:custGeom>
            <a:avLst/>
            <a:gdLst>
              <a:gd name="connsiteX0" fmla="*/ 5839654 w 7622670"/>
              <a:gd name="connsiteY0" fmla="*/ 4741892 h 6871433"/>
              <a:gd name="connsiteX1" fmla="*/ 7268708 w 7622670"/>
              <a:gd name="connsiteY1" fmla="*/ 4741892 h 6871433"/>
              <a:gd name="connsiteX2" fmla="*/ 6246039 w 7622670"/>
              <a:gd name="connsiteY2" fmla="*/ 6871432 h 6871433"/>
              <a:gd name="connsiteX3" fmla="*/ 4816985 w 7622670"/>
              <a:gd name="connsiteY3" fmla="*/ 6871432 h 6871433"/>
              <a:gd name="connsiteX4" fmla="*/ 7622670 w 7622670"/>
              <a:gd name="connsiteY4" fmla="*/ 4367050 h 6871433"/>
              <a:gd name="connsiteX5" fmla="*/ 7622670 w 7622670"/>
              <a:gd name="connsiteY5" fmla="*/ 5798487 h 6871433"/>
              <a:gd name="connsiteX6" fmla="*/ 7107409 w 7622670"/>
              <a:gd name="connsiteY6" fmla="*/ 6871433 h 6871433"/>
              <a:gd name="connsiteX7" fmla="*/ 6419990 w 7622670"/>
              <a:gd name="connsiteY7" fmla="*/ 6871433 h 6871433"/>
              <a:gd name="connsiteX8" fmla="*/ 1819815 w 7622670"/>
              <a:gd name="connsiteY8" fmla="*/ 3081966 h 6871433"/>
              <a:gd name="connsiteX9" fmla="*/ 2589145 w 7622670"/>
              <a:gd name="connsiteY9" fmla="*/ 3081966 h 6871433"/>
              <a:gd name="connsiteX10" fmla="*/ 769330 w 7622670"/>
              <a:gd name="connsiteY10" fmla="*/ 6871432 h 6871433"/>
              <a:gd name="connsiteX11" fmla="*/ 0 w 7622670"/>
              <a:gd name="connsiteY11" fmla="*/ 6871432 h 6871433"/>
              <a:gd name="connsiteX12" fmla="*/ 7622670 w 7622670"/>
              <a:gd name="connsiteY12" fmla="*/ 1135698 h 6871433"/>
              <a:gd name="connsiteX13" fmla="*/ 7622670 w 7622670"/>
              <a:gd name="connsiteY13" fmla="*/ 2694867 h 6871433"/>
              <a:gd name="connsiteX14" fmla="*/ 7358581 w 7622670"/>
              <a:gd name="connsiteY14" fmla="*/ 3244789 h 6871433"/>
              <a:gd name="connsiteX15" fmla="*/ 6609821 w 7622670"/>
              <a:gd name="connsiteY15" fmla="*/ 3244789 h 6871433"/>
              <a:gd name="connsiteX16" fmla="*/ 4267107 w 7622670"/>
              <a:gd name="connsiteY16" fmla="*/ 0 h 6871433"/>
              <a:gd name="connsiteX17" fmla="*/ 7622670 w 7622670"/>
              <a:gd name="connsiteY17" fmla="*/ 0 h 6871433"/>
              <a:gd name="connsiteX18" fmla="*/ 7622670 w 7622670"/>
              <a:gd name="connsiteY18" fmla="*/ 566959 h 6871433"/>
              <a:gd name="connsiteX19" fmla="*/ 5154504 w 7622670"/>
              <a:gd name="connsiteY19" fmla="*/ 5706508 h 6871433"/>
              <a:gd name="connsiteX20" fmla="*/ 1526670 w 7622670"/>
              <a:gd name="connsiteY20" fmla="*/ 5706508 h 687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22670" h="6871433">
                <a:moveTo>
                  <a:pt x="5839654" y="4741892"/>
                </a:moveTo>
                <a:lnTo>
                  <a:pt x="7268708" y="4741892"/>
                </a:lnTo>
                <a:lnTo>
                  <a:pt x="6246039" y="6871432"/>
                </a:lnTo>
                <a:lnTo>
                  <a:pt x="4816985" y="6871432"/>
                </a:lnTo>
                <a:close/>
                <a:moveTo>
                  <a:pt x="7622670" y="4367050"/>
                </a:moveTo>
                <a:lnTo>
                  <a:pt x="7622670" y="5798487"/>
                </a:lnTo>
                <a:lnTo>
                  <a:pt x="7107409" y="6871433"/>
                </a:lnTo>
                <a:lnTo>
                  <a:pt x="6419990" y="6871433"/>
                </a:lnTo>
                <a:close/>
                <a:moveTo>
                  <a:pt x="1819815" y="3081966"/>
                </a:moveTo>
                <a:lnTo>
                  <a:pt x="2589145" y="3081966"/>
                </a:lnTo>
                <a:lnTo>
                  <a:pt x="769330" y="6871432"/>
                </a:lnTo>
                <a:lnTo>
                  <a:pt x="0" y="6871432"/>
                </a:lnTo>
                <a:close/>
                <a:moveTo>
                  <a:pt x="7622670" y="1135698"/>
                </a:moveTo>
                <a:lnTo>
                  <a:pt x="7622670" y="2694867"/>
                </a:lnTo>
                <a:lnTo>
                  <a:pt x="7358581" y="3244789"/>
                </a:lnTo>
                <a:lnTo>
                  <a:pt x="6609821" y="3244789"/>
                </a:lnTo>
                <a:close/>
                <a:moveTo>
                  <a:pt x="4267107" y="0"/>
                </a:moveTo>
                <a:lnTo>
                  <a:pt x="7622670" y="0"/>
                </a:lnTo>
                <a:lnTo>
                  <a:pt x="7622670" y="566959"/>
                </a:lnTo>
                <a:lnTo>
                  <a:pt x="5154504" y="5706508"/>
                </a:lnTo>
                <a:lnTo>
                  <a:pt x="1526670" y="5706508"/>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a:off x="8236529" y="1816757"/>
            <a:ext cx="2536002" cy="5054675"/>
          </a:xfrm>
          <a:custGeom>
            <a:avLst/>
            <a:gdLst>
              <a:gd name="connsiteX0" fmla="*/ 2427406 w 2536002"/>
              <a:gd name="connsiteY0" fmla="*/ 0 h 5054675"/>
              <a:gd name="connsiteX1" fmla="*/ 2536002 w 2536002"/>
              <a:gd name="connsiteY1" fmla="*/ 0 h 5054675"/>
              <a:gd name="connsiteX2" fmla="*/ 108596 w 2536002"/>
              <a:gd name="connsiteY2" fmla="*/ 5054675 h 5054675"/>
              <a:gd name="connsiteX3" fmla="*/ 0 w 2536002"/>
              <a:gd name="connsiteY3" fmla="*/ 5054675 h 5054675"/>
            </a:gdLst>
            <a:ahLst/>
            <a:cxnLst>
              <a:cxn ang="0">
                <a:pos x="connsiteX0" y="connsiteY0"/>
              </a:cxn>
              <a:cxn ang="0">
                <a:pos x="connsiteX1" y="connsiteY1"/>
              </a:cxn>
              <a:cxn ang="0">
                <a:pos x="connsiteX2" y="connsiteY2"/>
              </a:cxn>
              <a:cxn ang="0">
                <a:pos x="connsiteX3" y="connsiteY3"/>
              </a:cxn>
            </a:cxnLst>
            <a:rect l="l" t="t" r="r" b="b"/>
            <a:pathLst>
              <a:path w="2536002" h="5054675">
                <a:moveTo>
                  <a:pt x="2427406" y="0"/>
                </a:moveTo>
                <a:lnTo>
                  <a:pt x="2536002" y="0"/>
                </a:lnTo>
                <a:lnTo>
                  <a:pt x="108596" y="5054675"/>
                </a:lnTo>
                <a:lnTo>
                  <a:pt x="0" y="5054675"/>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p:cNvSpPr/>
          <p:nvPr/>
        </p:nvSpPr>
        <p:spPr>
          <a:xfrm>
            <a:off x="10696204" y="1"/>
            <a:ext cx="934832" cy="1469723"/>
          </a:xfrm>
          <a:custGeom>
            <a:avLst/>
            <a:gdLst>
              <a:gd name="connsiteX0" fmla="*/ 705805 w 934832"/>
              <a:gd name="connsiteY0" fmla="*/ 0 h 1469723"/>
              <a:gd name="connsiteX1" fmla="*/ 934832 w 934832"/>
              <a:gd name="connsiteY1" fmla="*/ 0 h 1469723"/>
              <a:gd name="connsiteX2" fmla="*/ 229027 w 934832"/>
              <a:gd name="connsiteY2" fmla="*/ 1469723 h 1469723"/>
              <a:gd name="connsiteX3" fmla="*/ 0 w 934832"/>
              <a:gd name="connsiteY3" fmla="*/ 1469723 h 1469723"/>
            </a:gdLst>
            <a:ahLst/>
            <a:cxnLst>
              <a:cxn ang="0">
                <a:pos x="connsiteX0" y="connsiteY0"/>
              </a:cxn>
              <a:cxn ang="0">
                <a:pos x="connsiteX1" y="connsiteY1"/>
              </a:cxn>
              <a:cxn ang="0">
                <a:pos x="connsiteX2" y="connsiteY2"/>
              </a:cxn>
              <a:cxn ang="0">
                <a:pos x="connsiteX3" y="connsiteY3"/>
              </a:cxn>
            </a:cxnLst>
            <a:rect l="l" t="t" r="r" b="b"/>
            <a:pathLst>
              <a:path w="934832" h="1469723">
                <a:moveTo>
                  <a:pt x="705805" y="0"/>
                </a:moveTo>
                <a:lnTo>
                  <a:pt x="934832" y="0"/>
                </a:lnTo>
                <a:lnTo>
                  <a:pt x="229027" y="1469723"/>
                </a:lnTo>
                <a:lnTo>
                  <a:pt x="0" y="1469723"/>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654957" y="2153964"/>
            <a:ext cx="5724965" cy="769441"/>
          </a:xfrm>
          <a:prstGeom prst="rect">
            <a:avLst/>
          </a:prstGeom>
          <a:noFill/>
        </p:spPr>
        <p:txBody>
          <a:bodyPr wrap="none" rtlCol="0">
            <a:spAutoFit/>
            <a:scene3d>
              <a:camera prst="orthographicFront"/>
              <a:lightRig rig="threePt" dir="t"/>
            </a:scene3d>
            <a:sp3d contourW="12700"/>
          </a:bodyPr>
          <a:lstStyle/>
          <a:p>
            <a:r>
              <a:rPr lang="en-US" altLang="zh-CN" sz="4400" b="1" dirty="0" smtClean="0">
                <a:solidFill>
                  <a:schemeClr val="bg1"/>
                </a:solidFill>
                <a:latin typeface="+mn-ea"/>
              </a:rPr>
              <a:t>COMPANY PROFILE</a:t>
            </a:r>
            <a:endParaRPr lang="zh-CN" altLang="en-US" sz="4400" b="1" dirty="0">
              <a:solidFill>
                <a:schemeClr val="bg1"/>
              </a:solidFill>
              <a:latin typeface="+mn-ea"/>
            </a:endParaRPr>
          </a:p>
        </p:txBody>
      </p:sp>
      <p:sp>
        <p:nvSpPr>
          <p:cNvPr id="36" name="文本框 35"/>
          <p:cNvSpPr txBox="1"/>
          <p:nvPr/>
        </p:nvSpPr>
        <p:spPr>
          <a:xfrm>
            <a:off x="654957" y="3051894"/>
            <a:ext cx="4990470" cy="523220"/>
          </a:xfrm>
          <a:prstGeom prst="rect">
            <a:avLst/>
          </a:prstGeom>
          <a:noFill/>
        </p:spPr>
        <p:txBody>
          <a:bodyPr wrap="square" rtlCol="0">
            <a:spAutoFit/>
            <a:scene3d>
              <a:camera prst="orthographicFront"/>
              <a:lightRig rig="threePt" dir="t"/>
            </a:scene3d>
            <a:sp3d contourW="12700"/>
          </a:bodyPr>
          <a:lstStyle/>
          <a:p>
            <a:r>
              <a:rPr lang="en-US" altLang="zh-CN" sz="1400" dirty="0" err="1" smtClean="0">
                <a:solidFill>
                  <a:schemeClr val="bg1"/>
                </a:solidFill>
                <a:latin typeface="+mn-ea"/>
              </a:rPr>
              <a:t>Vinchin</a:t>
            </a:r>
            <a:r>
              <a:rPr lang="en-US" altLang="zh-CN" sz="1400" dirty="0" smtClean="0">
                <a:solidFill>
                  <a:schemeClr val="bg1"/>
                </a:solidFill>
                <a:latin typeface="+mn-ea"/>
              </a:rPr>
              <a:t> </a:t>
            </a:r>
            <a:r>
              <a:rPr lang="en-US" altLang="zh-CN" sz="1400" dirty="0">
                <a:solidFill>
                  <a:schemeClr val="bg1"/>
                </a:solidFill>
                <a:latin typeface="+mn-ea"/>
              </a:rPr>
              <a:t>is a professional provider of data protection solutions for </a:t>
            </a:r>
            <a:r>
              <a:rPr lang="en-US" altLang="zh-CN" sz="1400" dirty="0" smtClean="0">
                <a:solidFill>
                  <a:schemeClr val="bg1"/>
                </a:solidFill>
                <a:latin typeface="+mn-ea"/>
              </a:rPr>
              <a:t>enterprises.</a:t>
            </a:r>
            <a:endParaRPr lang="en-US" altLang="zh-CN" sz="1400" dirty="0">
              <a:solidFill>
                <a:schemeClr val="bg1"/>
              </a:solidFill>
              <a:latin typeface="+mn-ea"/>
            </a:endParaRPr>
          </a:p>
        </p:txBody>
      </p:sp>
      <p:sp>
        <p:nvSpPr>
          <p:cNvPr id="29" name="矩形: 圆角 28"/>
          <p:cNvSpPr/>
          <p:nvPr/>
        </p:nvSpPr>
        <p:spPr>
          <a:xfrm>
            <a:off x="769257" y="4786757"/>
            <a:ext cx="1812578" cy="484489"/>
          </a:xfrm>
          <a:prstGeom prst="roundRect">
            <a:avLst>
              <a:gd name="adj" fmla="val 50000"/>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t>2022</a:t>
            </a:r>
            <a:endParaRPr lang="zh-CN" altLang="en-US" sz="3200" b="1" dirty="0"/>
          </a:p>
        </p:txBody>
      </p:sp>
      <p:grpSp>
        <p:nvGrpSpPr>
          <p:cNvPr id="31" name="组合 30"/>
          <p:cNvGrpSpPr/>
          <p:nvPr/>
        </p:nvGrpSpPr>
        <p:grpSpPr>
          <a:xfrm>
            <a:off x="769257" y="1"/>
            <a:ext cx="1915886" cy="841828"/>
            <a:chOff x="769257" y="1"/>
            <a:chExt cx="1915886" cy="841828"/>
          </a:xfrm>
        </p:grpSpPr>
        <p:sp>
          <p:nvSpPr>
            <p:cNvPr id="2" name="矩形 1"/>
            <p:cNvSpPr/>
            <p:nvPr/>
          </p:nvSpPr>
          <p:spPr>
            <a:xfrm>
              <a:off x="769257" y="1"/>
              <a:ext cx="1915886" cy="203200"/>
            </a:xfrm>
            <a:prstGeom prst="rect">
              <a:avLst/>
            </a:prstGeom>
            <a:solidFill>
              <a:srgbClr val="1F6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69257" y="203201"/>
              <a:ext cx="1915886" cy="638628"/>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2" name="图片 21"/>
          <p:cNvPicPr>
            <a:picLocks noChangeAspect="1"/>
          </p:cNvPicPr>
          <p:nvPr/>
        </p:nvPicPr>
        <p:blipFill>
          <a:blip r:embed="rId4"/>
          <a:stretch>
            <a:fillRect/>
          </a:stretch>
        </p:blipFill>
        <p:spPr>
          <a:xfrm>
            <a:off x="942034" y="358523"/>
            <a:ext cx="1570332" cy="31295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12192000" cy="10287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711200" y="0"/>
            <a:ext cx="1231599" cy="1028700"/>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036994" y="189240"/>
            <a:ext cx="2255746" cy="707886"/>
          </a:xfrm>
          <a:prstGeom prst="rect">
            <a:avLst/>
          </a:prstGeom>
          <a:noFill/>
        </p:spPr>
        <p:txBody>
          <a:bodyPr wrap="none" rtlCol="0">
            <a:spAutoFit/>
            <a:scene3d>
              <a:camera prst="orthographicFront"/>
              <a:lightRig rig="threePt" dir="t"/>
            </a:scene3d>
            <a:sp3d contourW="12700"/>
          </a:bodyPr>
          <a:lstStyle/>
          <a:p>
            <a:r>
              <a:rPr lang="en-US" altLang="zh-CN" sz="4000" dirty="0">
                <a:solidFill>
                  <a:schemeClr val="bg1"/>
                </a:solidFill>
                <a:latin typeface="Impact" panose="020B0806030902050204" pitchFamily="34" charset="0"/>
              </a:rPr>
              <a:t>CONTENTS</a:t>
            </a:r>
            <a:endParaRPr lang="zh-CN" altLang="en-US" sz="4000" dirty="0">
              <a:solidFill>
                <a:schemeClr val="bg1"/>
              </a:solidFill>
              <a:latin typeface="Impact" panose="020B0806030902050204" pitchFamily="34" charset="0"/>
            </a:endParaRPr>
          </a:p>
        </p:txBody>
      </p:sp>
      <p:grpSp>
        <p:nvGrpSpPr>
          <p:cNvPr id="41" name="组合 40"/>
          <p:cNvGrpSpPr/>
          <p:nvPr/>
        </p:nvGrpSpPr>
        <p:grpSpPr>
          <a:xfrm>
            <a:off x="2422377" y="2914239"/>
            <a:ext cx="2772921" cy="586297"/>
            <a:chOff x="2261791" y="2447895"/>
            <a:chExt cx="2772921" cy="586297"/>
          </a:xfrm>
        </p:grpSpPr>
        <p:sp>
          <p:nvSpPr>
            <p:cNvPr id="16" name="任意多边形: 形状 15"/>
            <p:cNvSpPr/>
            <p:nvPr/>
          </p:nvSpPr>
          <p:spPr>
            <a:xfrm>
              <a:off x="2261791" y="2647950"/>
              <a:ext cx="648001" cy="386242"/>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4AD1C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2" name="文本框 21"/>
            <p:cNvSpPr txBox="1"/>
            <p:nvPr/>
          </p:nvSpPr>
          <p:spPr>
            <a:xfrm>
              <a:off x="3098476" y="2447895"/>
              <a:ext cx="1936236" cy="400110"/>
            </a:xfrm>
            <a:prstGeom prst="rect">
              <a:avLst/>
            </a:prstGeom>
            <a:noFill/>
          </p:spPr>
          <p:txBody>
            <a:bodyPr wrap="none" rtlCol="0">
              <a:spAutoFit/>
              <a:scene3d>
                <a:camera prst="orthographicFront"/>
                <a:lightRig rig="threePt" dir="t"/>
              </a:scene3d>
              <a:sp3d contourW="12700"/>
            </a:bodyPr>
            <a:lstStyle/>
            <a:p>
              <a:r>
                <a:rPr lang="en-US" altLang="zh-CN" sz="2000" b="1" dirty="0" smtClean="0">
                  <a:solidFill>
                    <a:schemeClr val="tx1">
                      <a:lumMod val="75000"/>
                      <a:lumOff val="25000"/>
                    </a:schemeClr>
                  </a:solidFill>
                  <a:latin typeface="+mn-ea"/>
                </a:rPr>
                <a:t>Who </a:t>
              </a:r>
              <a:r>
                <a:rPr lang="en-US" altLang="zh-CN" sz="2000" b="1" dirty="0">
                  <a:solidFill>
                    <a:schemeClr val="tx1">
                      <a:lumMod val="75000"/>
                      <a:lumOff val="25000"/>
                    </a:schemeClr>
                  </a:solidFill>
                  <a:latin typeface="+mn-ea"/>
                </a:rPr>
                <a:t>W</a:t>
              </a:r>
              <a:r>
                <a:rPr lang="en-US" altLang="zh-CN" sz="2000" b="1" dirty="0" smtClean="0">
                  <a:solidFill>
                    <a:schemeClr val="tx1">
                      <a:lumMod val="75000"/>
                      <a:lumOff val="25000"/>
                    </a:schemeClr>
                  </a:solidFill>
                  <a:latin typeface="+mn-ea"/>
                </a:rPr>
                <a:t>e </a:t>
              </a:r>
              <a:r>
                <a:rPr lang="en-US" altLang="zh-CN" sz="2000" b="1" dirty="0">
                  <a:solidFill>
                    <a:schemeClr val="tx1">
                      <a:lumMod val="75000"/>
                      <a:lumOff val="25000"/>
                    </a:schemeClr>
                  </a:solidFill>
                  <a:latin typeface="+mn-ea"/>
                </a:rPr>
                <a:t>A</a:t>
              </a:r>
              <a:r>
                <a:rPr lang="en-US" altLang="zh-CN" sz="2000" b="1" dirty="0" smtClean="0">
                  <a:solidFill>
                    <a:schemeClr val="tx1">
                      <a:lumMod val="75000"/>
                      <a:lumOff val="25000"/>
                    </a:schemeClr>
                  </a:solidFill>
                  <a:latin typeface="+mn-ea"/>
                </a:rPr>
                <a:t>re?</a:t>
              </a:r>
              <a:endParaRPr lang="zh-CN" altLang="en-US" sz="2000" b="1" dirty="0">
                <a:solidFill>
                  <a:schemeClr val="tx1">
                    <a:lumMod val="75000"/>
                    <a:lumOff val="25000"/>
                  </a:schemeClr>
                </a:solidFill>
                <a:latin typeface="+mn-ea"/>
              </a:endParaRPr>
            </a:p>
          </p:txBody>
        </p:sp>
      </p:grpSp>
      <p:grpSp>
        <p:nvGrpSpPr>
          <p:cNvPr id="44" name="组合 43"/>
          <p:cNvGrpSpPr/>
          <p:nvPr/>
        </p:nvGrpSpPr>
        <p:grpSpPr>
          <a:xfrm>
            <a:off x="2444869" y="4093523"/>
            <a:ext cx="2668277" cy="586297"/>
            <a:chOff x="2261791" y="4778345"/>
            <a:chExt cx="2668277" cy="586297"/>
          </a:xfrm>
        </p:grpSpPr>
        <p:sp>
          <p:nvSpPr>
            <p:cNvPr id="18" name="任意多边形: 形状 17"/>
            <p:cNvSpPr/>
            <p:nvPr/>
          </p:nvSpPr>
          <p:spPr>
            <a:xfrm>
              <a:off x="2261791" y="4978400"/>
              <a:ext cx="648001" cy="386242"/>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4AD1C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4" name="文本框 23"/>
            <p:cNvSpPr txBox="1"/>
            <p:nvPr/>
          </p:nvSpPr>
          <p:spPr>
            <a:xfrm>
              <a:off x="3098476" y="4778345"/>
              <a:ext cx="1831592" cy="400110"/>
            </a:xfrm>
            <a:prstGeom prst="rect">
              <a:avLst/>
            </a:prstGeom>
            <a:noFill/>
          </p:spPr>
          <p:txBody>
            <a:bodyPr wrap="none" rtlCol="0">
              <a:spAutoFit/>
              <a:scene3d>
                <a:camera prst="orthographicFront"/>
                <a:lightRig rig="threePt" dir="t"/>
              </a:scene3d>
              <a:sp3d contourW="12700"/>
            </a:bodyPr>
            <a:lstStyle/>
            <a:p>
              <a:r>
                <a:rPr lang="en-US" altLang="zh-CN" sz="2000" b="1" dirty="0" smtClean="0">
                  <a:solidFill>
                    <a:schemeClr val="tx1">
                      <a:lumMod val="75000"/>
                      <a:lumOff val="25000"/>
                    </a:schemeClr>
                  </a:solidFill>
                  <a:latin typeface="+mn-ea"/>
                </a:rPr>
                <a:t>Our Partners</a:t>
              </a:r>
              <a:endParaRPr lang="zh-CN" altLang="en-US" sz="2000" b="1" dirty="0">
                <a:solidFill>
                  <a:schemeClr val="tx1">
                    <a:lumMod val="75000"/>
                    <a:lumOff val="25000"/>
                  </a:schemeClr>
                </a:solidFill>
                <a:latin typeface="+mn-ea"/>
              </a:endParaRPr>
            </a:p>
          </p:txBody>
        </p:sp>
      </p:grpSp>
      <p:grpSp>
        <p:nvGrpSpPr>
          <p:cNvPr id="47" name="组合 46"/>
          <p:cNvGrpSpPr/>
          <p:nvPr/>
        </p:nvGrpSpPr>
        <p:grpSpPr>
          <a:xfrm>
            <a:off x="6804178" y="2914239"/>
            <a:ext cx="2319896" cy="586297"/>
            <a:chOff x="6643592" y="2447895"/>
            <a:chExt cx="2319896" cy="586297"/>
          </a:xfrm>
        </p:grpSpPr>
        <p:sp>
          <p:nvSpPr>
            <p:cNvPr id="19" name="任意多边形: 形状 18"/>
            <p:cNvSpPr/>
            <p:nvPr/>
          </p:nvSpPr>
          <p:spPr>
            <a:xfrm>
              <a:off x="6643592" y="2647950"/>
              <a:ext cx="648001" cy="386242"/>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4AD1C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5" name="文本框 24"/>
            <p:cNvSpPr txBox="1"/>
            <p:nvPr/>
          </p:nvSpPr>
          <p:spPr>
            <a:xfrm>
              <a:off x="7499176" y="2447895"/>
              <a:ext cx="1464312" cy="400110"/>
            </a:xfrm>
            <a:prstGeom prst="rect">
              <a:avLst/>
            </a:prstGeom>
            <a:noFill/>
          </p:spPr>
          <p:txBody>
            <a:bodyPr wrap="none" rtlCol="0">
              <a:spAutoFit/>
              <a:scene3d>
                <a:camera prst="orthographicFront"/>
                <a:lightRig rig="threePt" dir="t"/>
              </a:scene3d>
              <a:sp3d contourW="12700"/>
            </a:bodyPr>
            <a:lstStyle/>
            <a:p>
              <a:r>
                <a:rPr lang="en-US" altLang="zh-CN" sz="2000" b="1" dirty="0" smtClean="0">
                  <a:solidFill>
                    <a:schemeClr val="tx1">
                      <a:lumMod val="75000"/>
                      <a:lumOff val="25000"/>
                    </a:schemeClr>
                  </a:solidFill>
                  <a:latin typeface="+mn-ea"/>
                </a:rPr>
                <a:t>Milestone</a:t>
              </a:r>
              <a:endParaRPr lang="zh-CN" altLang="en-US" sz="2000" b="1" dirty="0">
                <a:solidFill>
                  <a:schemeClr val="tx1">
                    <a:lumMod val="75000"/>
                    <a:lumOff val="25000"/>
                  </a:schemeClr>
                </a:solidFill>
                <a:latin typeface="+mn-ea"/>
              </a:endParaRPr>
            </a:p>
          </p:txBody>
        </p:sp>
      </p:grpSp>
      <p:grpSp>
        <p:nvGrpSpPr>
          <p:cNvPr id="45" name="组合 44"/>
          <p:cNvGrpSpPr/>
          <p:nvPr/>
        </p:nvGrpSpPr>
        <p:grpSpPr>
          <a:xfrm>
            <a:off x="6804178" y="4086387"/>
            <a:ext cx="3247073" cy="586297"/>
            <a:chOff x="6643592" y="4778345"/>
            <a:chExt cx="3247073" cy="586297"/>
          </a:xfrm>
        </p:grpSpPr>
        <p:sp>
          <p:nvSpPr>
            <p:cNvPr id="21" name="任意多边形: 形状 20"/>
            <p:cNvSpPr/>
            <p:nvPr/>
          </p:nvSpPr>
          <p:spPr>
            <a:xfrm>
              <a:off x="6643592" y="4978400"/>
              <a:ext cx="648001" cy="386242"/>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4AD1C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7" name="文本框 26"/>
            <p:cNvSpPr txBox="1"/>
            <p:nvPr/>
          </p:nvSpPr>
          <p:spPr>
            <a:xfrm>
              <a:off x="7499176" y="4778345"/>
              <a:ext cx="2391489" cy="400110"/>
            </a:xfrm>
            <a:prstGeom prst="rect">
              <a:avLst/>
            </a:prstGeom>
            <a:noFill/>
          </p:spPr>
          <p:txBody>
            <a:bodyPr wrap="none" rtlCol="0">
              <a:spAutoFit/>
              <a:scene3d>
                <a:camera prst="orthographicFront"/>
                <a:lightRig rig="threePt" dir="t"/>
              </a:scene3d>
              <a:sp3d contourW="12700"/>
            </a:bodyPr>
            <a:lstStyle/>
            <a:p>
              <a:r>
                <a:rPr lang="en-US" altLang="zh-CN" sz="2000" b="1" dirty="0" smtClean="0">
                  <a:solidFill>
                    <a:schemeClr val="tx1">
                      <a:lumMod val="75000"/>
                      <a:lumOff val="25000"/>
                    </a:schemeClr>
                  </a:solidFill>
                  <a:latin typeface="+mn-ea"/>
                </a:rPr>
                <a:t>Customer Stories</a:t>
              </a:r>
              <a:endParaRPr lang="zh-CN" altLang="en-US" sz="2000" b="1" dirty="0">
                <a:solidFill>
                  <a:schemeClr val="tx1">
                    <a:lumMod val="75000"/>
                    <a:lumOff val="25000"/>
                  </a:schemeClr>
                </a:solidFill>
                <a:latin typeface="+mn-ea"/>
              </a:endParaRPr>
            </a:p>
          </p:txBody>
        </p:sp>
      </p:grpSp>
      <p:sp>
        <p:nvSpPr>
          <p:cNvPr id="49" name="任意多边形: 形状 9"/>
          <p:cNvSpPr/>
          <p:nvPr/>
        </p:nvSpPr>
        <p:spPr>
          <a:xfrm>
            <a:off x="2036994" y="2809494"/>
            <a:ext cx="1033384" cy="615950"/>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p:cNvSpPr txBox="1"/>
          <p:nvPr/>
        </p:nvSpPr>
        <p:spPr>
          <a:xfrm>
            <a:off x="2373188" y="2785890"/>
            <a:ext cx="360996" cy="646331"/>
          </a:xfrm>
          <a:prstGeom prst="rect">
            <a:avLst/>
          </a:prstGeom>
          <a:noFill/>
        </p:spPr>
        <p:txBody>
          <a:bodyPr wrap="none" rtlCol="0">
            <a:spAutoFit/>
            <a:scene3d>
              <a:camera prst="orthographicFront"/>
              <a:lightRig rig="threePt" dir="t"/>
            </a:scene3d>
            <a:sp3d contourW="12700"/>
          </a:bodyPr>
          <a:lstStyle/>
          <a:p>
            <a:pPr algn="ctr"/>
            <a:r>
              <a:rPr lang="en-US" altLang="zh-CN" sz="3600" dirty="0">
                <a:solidFill>
                  <a:schemeClr val="bg1"/>
                </a:solidFill>
                <a:latin typeface="Impact" panose="020B0806030902050204" pitchFamily="34" charset="0"/>
              </a:rPr>
              <a:t>1</a:t>
            </a:r>
            <a:endParaRPr lang="zh-CN" altLang="en-US" sz="3600" dirty="0">
              <a:solidFill>
                <a:schemeClr val="bg1"/>
              </a:solidFill>
              <a:latin typeface="Impact" panose="020B0806030902050204" pitchFamily="34" charset="0"/>
            </a:endParaRPr>
          </a:p>
        </p:txBody>
      </p:sp>
      <p:sp>
        <p:nvSpPr>
          <p:cNvPr id="51" name="任意多边形: 形状 12"/>
          <p:cNvSpPr/>
          <p:nvPr/>
        </p:nvSpPr>
        <p:spPr>
          <a:xfrm>
            <a:off x="6418795" y="2809494"/>
            <a:ext cx="1033384" cy="615950"/>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p:cNvSpPr txBox="1"/>
          <p:nvPr/>
        </p:nvSpPr>
        <p:spPr>
          <a:xfrm>
            <a:off x="6706369" y="2785890"/>
            <a:ext cx="417102" cy="646331"/>
          </a:xfrm>
          <a:prstGeom prst="rect">
            <a:avLst/>
          </a:prstGeom>
          <a:noFill/>
        </p:spPr>
        <p:txBody>
          <a:bodyPr wrap="none" rtlCol="0">
            <a:spAutoFit/>
            <a:scene3d>
              <a:camera prst="orthographicFront"/>
              <a:lightRig rig="threePt" dir="t"/>
            </a:scene3d>
            <a:sp3d contourW="12700"/>
          </a:bodyPr>
          <a:lstStyle/>
          <a:p>
            <a:pPr algn="ctr"/>
            <a:r>
              <a:rPr lang="en-US" altLang="zh-CN" sz="3600" dirty="0">
                <a:solidFill>
                  <a:schemeClr val="bg1"/>
                </a:solidFill>
                <a:latin typeface="Impact" panose="020B0806030902050204" pitchFamily="34" charset="0"/>
              </a:rPr>
              <a:t>2</a:t>
            </a:r>
            <a:endParaRPr lang="zh-CN" altLang="en-US" sz="3600" dirty="0">
              <a:solidFill>
                <a:schemeClr val="bg1"/>
              </a:solidFill>
              <a:latin typeface="Impact" panose="020B0806030902050204" pitchFamily="34" charset="0"/>
            </a:endParaRPr>
          </a:p>
        </p:txBody>
      </p:sp>
      <p:sp>
        <p:nvSpPr>
          <p:cNvPr id="53" name="任意多边形: 形状 13"/>
          <p:cNvSpPr/>
          <p:nvPr/>
        </p:nvSpPr>
        <p:spPr>
          <a:xfrm>
            <a:off x="6418795" y="3974719"/>
            <a:ext cx="1033384" cy="615950"/>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p:cNvSpPr txBox="1"/>
          <p:nvPr/>
        </p:nvSpPr>
        <p:spPr>
          <a:xfrm>
            <a:off x="6707171" y="3956353"/>
            <a:ext cx="415498" cy="646331"/>
          </a:xfrm>
          <a:prstGeom prst="rect">
            <a:avLst/>
          </a:prstGeom>
          <a:noFill/>
        </p:spPr>
        <p:txBody>
          <a:bodyPr wrap="none" rtlCol="0">
            <a:spAutoFit/>
            <a:scene3d>
              <a:camera prst="orthographicFront"/>
              <a:lightRig rig="threePt" dir="t"/>
            </a:scene3d>
            <a:sp3d contourW="12700"/>
          </a:bodyPr>
          <a:lstStyle/>
          <a:p>
            <a:pPr algn="ctr"/>
            <a:r>
              <a:rPr lang="en-US" altLang="zh-CN" sz="3600" dirty="0">
                <a:solidFill>
                  <a:schemeClr val="bg1"/>
                </a:solidFill>
                <a:latin typeface="Impact" panose="020B0806030902050204" pitchFamily="34" charset="0"/>
              </a:rPr>
              <a:t>4</a:t>
            </a:r>
            <a:endParaRPr lang="zh-CN" altLang="en-US" sz="3600" dirty="0">
              <a:solidFill>
                <a:schemeClr val="bg1"/>
              </a:solidFill>
              <a:latin typeface="Impact" panose="020B0806030902050204" pitchFamily="34" charset="0"/>
            </a:endParaRPr>
          </a:p>
        </p:txBody>
      </p:sp>
      <p:sp>
        <p:nvSpPr>
          <p:cNvPr id="57" name="任意多边形: 形状 10"/>
          <p:cNvSpPr/>
          <p:nvPr/>
        </p:nvSpPr>
        <p:spPr>
          <a:xfrm>
            <a:off x="2036994" y="3974719"/>
            <a:ext cx="1033384" cy="615950"/>
          </a:xfrm>
          <a:custGeom>
            <a:avLst/>
            <a:gdLst>
              <a:gd name="connsiteX0" fmla="*/ 295798 w 1033384"/>
              <a:gd name="connsiteY0" fmla="*/ 0 h 615950"/>
              <a:gd name="connsiteX1" fmla="*/ 1033384 w 1033384"/>
              <a:gd name="connsiteY1" fmla="*/ 0 h 615950"/>
              <a:gd name="connsiteX2" fmla="*/ 737587 w 1033384"/>
              <a:gd name="connsiteY2" fmla="*/ 615950 h 615950"/>
              <a:gd name="connsiteX3" fmla="*/ 0 w 1033384"/>
              <a:gd name="connsiteY3" fmla="*/ 615950 h 615950"/>
            </a:gdLst>
            <a:ahLst/>
            <a:cxnLst>
              <a:cxn ang="0">
                <a:pos x="connsiteX0" y="connsiteY0"/>
              </a:cxn>
              <a:cxn ang="0">
                <a:pos x="connsiteX1" y="connsiteY1"/>
              </a:cxn>
              <a:cxn ang="0">
                <a:pos x="connsiteX2" y="connsiteY2"/>
              </a:cxn>
              <a:cxn ang="0">
                <a:pos x="connsiteX3" y="connsiteY3"/>
              </a:cxn>
            </a:cxnLst>
            <a:rect l="l" t="t" r="r" b="b"/>
            <a:pathLst>
              <a:path w="1033384" h="615950">
                <a:moveTo>
                  <a:pt x="295798" y="0"/>
                </a:moveTo>
                <a:lnTo>
                  <a:pt x="1033384" y="0"/>
                </a:lnTo>
                <a:lnTo>
                  <a:pt x="737587" y="615950"/>
                </a:lnTo>
                <a:lnTo>
                  <a:pt x="0" y="61595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文本框 57"/>
          <p:cNvSpPr txBox="1"/>
          <p:nvPr/>
        </p:nvSpPr>
        <p:spPr>
          <a:xfrm>
            <a:off x="2338723" y="3956353"/>
            <a:ext cx="429926" cy="646331"/>
          </a:xfrm>
          <a:prstGeom prst="rect">
            <a:avLst/>
          </a:prstGeom>
          <a:noFill/>
        </p:spPr>
        <p:txBody>
          <a:bodyPr wrap="none" rtlCol="0">
            <a:spAutoFit/>
            <a:scene3d>
              <a:camera prst="orthographicFront"/>
              <a:lightRig rig="threePt" dir="t"/>
            </a:scene3d>
            <a:sp3d contourW="12700"/>
          </a:bodyPr>
          <a:lstStyle/>
          <a:p>
            <a:pPr algn="ctr"/>
            <a:r>
              <a:rPr lang="en-US" altLang="zh-CN" sz="3600" dirty="0">
                <a:solidFill>
                  <a:schemeClr val="bg1"/>
                </a:solidFill>
                <a:latin typeface="Impact" panose="020B0806030902050204" pitchFamily="34" charset="0"/>
              </a:rPr>
              <a:t>3</a:t>
            </a:r>
            <a:endParaRPr lang="zh-CN" altLang="en-US" sz="3600" dirty="0">
              <a:solidFill>
                <a:schemeClr val="bg1"/>
              </a:solidFill>
              <a:latin typeface="Impact" panose="020B080603090205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animScale>
                                      <p:cBhvr>
                                        <p:cTn id="7" dur="1000" decel="50000" fill="hold">
                                          <p:stCondLst>
                                            <p:cond delay="0"/>
                                          </p:stCondLst>
                                        </p:cTn>
                                        <p:tgtEl>
                                          <p:spTgt spid="4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1"/>
                                        </p:tgtEl>
                                        <p:attrNameLst>
                                          <p:attrName>ppt_x</p:attrName>
                                          <p:attrName>ppt_y</p:attrName>
                                        </p:attrNameLst>
                                      </p:cBhvr>
                                    </p:animMotion>
                                    <p:animEffect transition="in" filter="fade">
                                      <p:cBhvr>
                                        <p:cTn id="9" dur="1000"/>
                                        <p:tgtEl>
                                          <p:spTgt spid="41"/>
                                        </p:tgtEl>
                                      </p:cBhvr>
                                    </p:animEffect>
                                  </p:childTnLst>
                                </p:cTn>
                              </p:par>
                              <p:par>
                                <p:cTn id="10" presetID="52" presetClass="entr" presetSubtype="0" fill="hold" nodeType="withEffect">
                                  <p:stCondLst>
                                    <p:cond delay="250"/>
                                  </p:stCondLst>
                                  <p:childTnLst>
                                    <p:set>
                                      <p:cBhvr>
                                        <p:cTn id="11" dur="1" fill="hold">
                                          <p:stCondLst>
                                            <p:cond delay="0"/>
                                          </p:stCondLst>
                                        </p:cTn>
                                        <p:tgtEl>
                                          <p:spTgt spid="47"/>
                                        </p:tgtEl>
                                        <p:attrNameLst>
                                          <p:attrName>style.visibility</p:attrName>
                                        </p:attrNameLst>
                                      </p:cBhvr>
                                      <p:to>
                                        <p:strVal val="visible"/>
                                      </p:to>
                                    </p:set>
                                    <p:animScale>
                                      <p:cBhvr>
                                        <p:cTn id="12" dur="1000" decel="50000" fill="hold">
                                          <p:stCondLst>
                                            <p:cond delay="0"/>
                                          </p:stCondLst>
                                        </p:cTn>
                                        <p:tgtEl>
                                          <p:spTgt spid="4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47"/>
                                        </p:tgtEl>
                                        <p:attrNameLst>
                                          <p:attrName>ppt_x</p:attrName>
                                          <p:attrName>ppt_y</p:attrName>
                                        </p:attrNameLst>
                                      </p:cBhvr>
                                    </p:animMotion>
                                    <p:animEffect transition="in" filter="fade">
                                      <p:cBhvr>
                                        <p:cTn id="14" dur="1000"/>
                                        <p:tgtEl>
                                          <p:spTgt spid="47"/>
                                        </p:tgtEl>
                                      </p:cBhvr>
                                    </p:animEffect>
                                  </p:childTnLst>
                                </p:cTn>
                              </p:par>
                              <p:par>
                                <p:cTn id="15" presetID="52" presetClass="entr" presetSubtype="0" fill="hold" nodeType="withEffect">
                                  <p:stCondLst>
                                    <p:cond delay="1000"/>
                                  </p:stCondLst>
                                  <p:childTnLst>
                                    <p:set>
                                      <p:cBhvr>
                                        <p:cTn id="16" dur="1" fill="hold">
                                          <p:stCondLst>
                                            <p:cond delay="0"/>
                                          </p:stCondLst>
                                        </p:cTn>
                                        <p:tgtEl>
                                          <p:spTgt spid="44"/>
                                        </p:tgtEl>
                                        <p:attrNameLst>
                                          <p:attrName>style.visibility</p:attrName>
                                        </p:attrNameLst>
                                      </p:cBhvr>
                                      <p:to>
                                        <p:strVal val="visible"/>
                                      </p:to>
                                    </p:set>
                                    <p:animScale>
                                      <p:cBhvr>
                                        <p:cTn id="17" dur="1000" decel="50000" fill="hold">
                                          <p:stCondLst>
                                            <p:cond delay="0"/>
                                          </p:stCondLst>
                                        </p:cTn>
                                        <p:tgtEl>
                                          <p:spTgt spid="4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44"/>
                                        </p:tgtEl>
                                        <p:attrNameLst>
                                          <p:attrName>ppt_x</p:attrName>
                                          <p:attrName>ppt_y</p:attrName>
                                        </p:attrNameLst>
                                      </p:cBhvr>
                                    </p:animMotion>
                                    <p:animEffect transition="in" filter="fade">
                                      <p:cBhvr>
                                        <p:cTn id="19" dur="1000"/>
                                        <p:tgtEl>
                                          <p:spTgt spid="44"/>
                                        </p:tgtEl>
                                      </p:cBhvr>
                                    </p:animEffect>
                                  </p:childTnLst>
                                </p:cTn>
                              </p:par>
                              <p:par>
                                <p:cTn id="20" presetID="52" presetClass="entr" presetSubtype="0" fill="hold" nodeType="withEffect">
                                  <p:stCondLst>
                                    <p:cond delay="1250"/>
                                  </p:stCondLst>
                                  <p:childTnLst>
                                    <p:set>
                                      <p:cBhvr>
                                        <p:cTn id="21" dur="1" fill="hold">
                                          <p:stCondLst>
                                            <p:cond delay="0"/>
                                          </p:stCondLst>
                                        </p:cTn>
                                        <p:tgtEl>
                                          <p:spTgt spid="45"/>
                                        </p:tgtEl>
                                        <p:attrNameLst>
                                          <p:attrName>style.visibility</p:attrName>
                                        </p:attrNameLst>
                                      </p:cBhvr>
                                      <p:to>
                                        <p:strVal val="visible"/>
                                      </p:to>
                                    </p:set>
                                    <p:animScale>
                                      <p:cBhvr>
                                        <p:cTn id="22"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45"/>
                                        </p:tgtEl>
                                        <p:attrNameLst>
                                          <p:attrName>ppt_x</p:attrName>
                                          <p:attrName>ppt_y</p:attrName>
                                        </p:attrNameLst>
                                      </p:cBhvr>
                                    </p:animMotion>
                                    <p:animEffect transition="in" filter="fade">
                                      <p:cBhvr>
                                        <p:cTn id="24"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4"/>
          <a:srcRect/>
          <a:stretch>
            <a:fillRect/>
          </a:stretch>
        </p:blipFill>
        <p:spPr/>
      </p:pic>
      <p:sp>
        <p:nvSpPr>
          <p:cNvPr id="20" name="矩形 19"/>
          <p:cNvSpPr/>
          <p:nvPr/>
        </p:nvSpPr>
        <p:spPr>
          <a:xfrm>
            <a:off x="-2872" y="0"/>
            <a:ext cx="12192000" cy="6858000"/>
          </a:xfrm>
          <a:prstGeom prst="rect">
            <a:avLst/>
          </a:prstGeom>
          <a:solidFill>
            <a:schemeClr val="accent6">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p:nvSpPr>
        <p:spPr>
          <a:xfrm>
            <a:off x="438150" y="0"/>
            <a:ext cx="1257300" cy="1050167"/>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0" y="0"/>
            <a:ext cx="3786028" cy="3162300"/>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 y="2343150"/>
            <a:ext cx="3702179" cy="4514850"/>
          </a:xfrm>
          <a:custGeom>
            <a:avLst/>
            <a:gdLst>
              <a:gd name="connsiteX0" fmla="*/ 1625728 w 3702179"/>
              <a:gd name="connsiteY0" fmla="*/ 0 h 4514850"/>
              <a:gd name="connsiteX1" fmla="*/ 3702179 w 3702179"/>
              <a:gd name="connsiteY1" fmla="*/ 0 h 4514850"/>
              <a:gd name="connsiteX2" fmla="*/ 1534011 w 3702179"/>
              <a:gd name="connsiteY2" fmla="*/ 4514850 h 4514850"/>
              <a:gd name="connsiteX3" fmla="*/ 0 w 3702179"/>
              <a:gd name="connsiteY3" fmla="*/ 4514850 h 4514850"/>
              <a:gd name="connsiteX4" fmla="*/ 0 w 3702179"/>
              <a:gd name="connsiteY4" fmla="*/ 3385309 h 451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2179" h="4514850">
                <a:moveTo>
                  <a:pt x="1625728" y="0"/>
                </a:moveTo>
                <a:lnTo>
                  <a:pt x="3702179" y="0"/>
                </a:lnTo>
                <a:lnTo>
                  <a:pt x="1534011" y="4514850"/>
                </a:lnTo>
                <a:lnTo>
                  <a:pt x="0" y="4514850"/>
                </a:lnTo>
                <a:lnTo>
                  <a:pt x="0" y="3385309"/>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任意多边形: 形状 17"/>
          <p:cNvSpPr/>
          <p:nvPr/>
        </p:nvSpPr>
        <p:spPr>
          <a:xfrm>
            <a:off x="11452929" y="5319006"/>
            <a:ext cx="739072" cy="1538994"/>
          </a:xfrm>
          <a:custGeom>
            <a:avLst/>
            <a:gdLst>
              <a:gd name="connsiteX0" fmla="*/ 739072 w 739072"/>
              <a:gd name="connsiteY0" fmla="*/ 0 h 1538994"/>
              <a:gd name="connsiteX1" fmla="*/ 739072 w 739072"/>
              <a:gd name="connsiteY1" fmla="*/ 1538994 h 1538994"/>
              <a:gd name="connsiteX2" fmla="*/ 0 w 739072"/>
              <a:gd name="connsiteY2" fmla="*/ 1538994 h 1538994"/>
            </a:gdLst>
            <a:ahLst/>
            <a:cxnLst>
              <a:cxn ang="0">
                <a:pos x="connsiteX0" y="connsiteY0"/>
              </a:cxn>
              <a:cxn ang="0">
                <a:pos x="connsiteX1" y="connsiteY1"/>
              </a:cxn>
              <a:cxn ang="0">
                <a:pos x="connsiteX2" y="connsiteY2"/>
              </a:cxn>
            </a:cxnLst>
            <a:rect l="l" t="t" r="r" b="b"/>
            <a:pathLst>
              <a:path w="739072" h="1538994">
                <a:moveTo>
                  <a:pt x="739072" y="0"/>
                </a:moveTo>
                <a:lnTo>
                  <a:pt x="739072" y="1538994"/>
                </a:lnTo>
                <a:lnTo>
                  <a:pt x="0" y="1538994"/>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任意多边形: 形状 12"/>
          <p:cNvSpPr/>
          <p:nvPr/>
        </p:nvSpPr>
        <p:spPr>
          <a:xfrm>
            <a:off x="11182350" y="6221536"/>
            <a:ext cx="762000" cy="636464"/>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61485" y="1402140"/>
            <a:ext cx="1553630" cy="1569660"/>
          </a:xfrm>
          <a:prstGeom prst="rect">
            <a:avLst/>
          </a:prstGeom>
          <a:noFill/>
        </p:spPr>
        <p:txBody>
          <a:bodyPr wrap="none" rtlCol="0">
            <a:spAutoFit/>
            <a:scene3d>
              <a:camera prst="orthographicFront"/>
              <a:lightRig rig="threePt" dir="t"/>
            </a:scene3d>
            <a:sp3d contourW="12700"/>
          </a:bodyPr>
          <a:lstStyle/>
          <a:p>
            <a:r>
              <a:rPr lang="en-US" altLang="zh-CN" sz="9600" b="1" i="1" dirty="0">
                <a:solidFill>
                  <a:schemeClr val="bg1"/>
                </a:solidFill>
              </a:rPr>
              <a:t>01</a:t>
            </a:r>
            <a:endParaRPr lang="zh-CN" altLang="en-US" sz="9600" b="1" i="1" dirty="0">
              <a:solidFill>
                <a:schemeClr val="bg1"/>
              </a:solidFill>
            </a:endParaRPr>
          </a:p>
        </p:txBody>
      </p:sp>
      <p:sp>
        <p:nvSpPr>
          <p:cNvPr id="24" name="文本框 23"/>
          <p:cNvSpPr txBox="1"/>
          <p:nvPr/>
        </p:nvSpPr>
        <p:spPr>
          <a:xfrm>
            <a:off x="4263428" y="2724834"/>
            <a:ext cx="4040401" cy="769441"/>
          </a:xfrm>
          <a:prstGeom prst="rect">
            <a:avLst/>
          </a:prstGeom>
          <a:noFill/>
        </p:spPr>
        <p:txBody>
          <a:bodyPr wrap="none" rtlCol="0">
            <a:spAutoFit/>
            <a:scene3d>
              <a:camera prst="orthographicFront"/>
              <a:lightRig rig="threePt" dir="t"/>
            </a:scene3d>
            <a:sp3d contourW="12700"/>
          </a:bodyPr>
          <a:lstStyle/>
          <a:p>
            <a:r>
              <a:rPr lang="en-US" altLang="zh-CN" sz="4400" b="1" dirty="0" smtClean="0">
                <a:solidFill>
                  <a:schemeClr val="bg1"/>
                </a:solidFill>
                <a:latin typeface="+mn-ea"/>
              </a:rPr>
              <a:t>Who We Are?</a:t>
            </a:r>
            <a:endParaRPr lang="zh-CN" altLang="en-US" sz="4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占位符 20"/>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p:pic>
      <p:sp>
        <p:nvSpPr>
          <p:cNvPr id="2" name="矩形 1"/>
          <p:cNvSpPr/>
          <p:nvPr/>
        </p:nvSpPr>
        <p:spPr>
          <a:xfrm>
            <a:off x="0" y="0"/>
            <a:ext cx="12191999" cy="3562350"/>
          </a:xfrm>
          <a:prstGeom prst="rect">
            <a:avLst/>
          </a:prstGeom>
          <a:solidFill>
            <a:schemeClr val="accent6">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a:ea typeface="微软雅黑" panose="020B0503020204020204" charset="-122"/>
            </a:endParaRPr>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5400000">
            <a:off x="11024138" y="3353678"/>
            <a:ext cx="467958" cy="403412"/>
          </a:xfrm>
          <a:prstGeom prst="triangle">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6200000" flipH="1">
            <a:off x="789551" y="3353678"/>
            <a:ext cx="467958" cy="403412"/>
          </a:xfrm>
          <a:prstGeom prst="triangle">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7862" y="211515"/>
            <a:ext cx="1721946" cy="1569660"/>
          </a:xfrm>
          <a:prstGeom prst="rect">
            <a:avLst/>
          </a:prstGeom>
          <a:noFill/>
        </p:spPr>
        <p:txBody>
          <a:bodyPr wrap="none" rtlCol="0">
            <a:spAutoFit/>
          </a:bodyPr>
          <a:lstStyle/>
          <a:p>
            <a:r>
              <a:rPr lang="en-US" altLang="zh-CN" sz="4800" dirty="0" smtClean="0">
                <a:solidFill>
                  <a:srgbClr val="319295"/>
                </a:solidFill>
                <a:latin typeface="Impact" panose="020B0806030902050204" pitchFamily="34" charset="0"/>
              </a:rPr>
              <a:t>Since </a:t>
            </a:r>
          </a:p>
          <a:p>
            <a:r>
              <a:rPr lang="en-US" altLang="zh-CN" sz="4800" dirty="0" smtClean="0">
                <a:solidFill>
                  <a:schemeClr val="bg1">
                    <a:lumMod val="85000"/>
                  </a:schemeClr>
                </a:solidFill>
                <a:latin typeface="Impact" panose="020B0806030902050204" pitchFamily="34" charset="0"/>
              </a:rPr>
              <a:t>2015</a:t>
            </a:r>
            <a:endParaRPr lang="zh-CN" altLang="en-US" sz="4800" dirty="0">
              <a:solidFill>
                <a:schemeClr val="bg1">
                  <a:lumMod val="85000"/>
                </a:schemeClr>
              </a:solidFill>
              <a:latin typeface="Impact" panose="020B0806030902050204" pitchFamily="34" charset="0"/>
            </a:endParaRPr>
          </a:p>
        </p:txBody>
      </p:sp>
      <p:sp>
        <p:nvSpPr>
          <p:cNvPr id="32" name="TextBox 11"/>
          <p:cNvSpPr txBox="1"/>
          <p:nvPr/>
        </p:nvSpPr>
        <p:spPr>
          <a:xfrm>
            <a:off x="2806697" y="5798519"/>
            <a:ext cx="6578604" cy="538609"/>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altLang="zh-CN" sz="1200" dirty="0" smtClean="0">
                <a:solidFill>
                  <a:schemeClr val="bg1">
                    <a:lumMod val="65000"/>
                  </a:schemeClr>
                </a:solidFill>
                <a:latin typeface="Calibri" panose="020F0502020204030204" pitchFamily="34" charset="0"/>
                <a:cs typeface="Calibri" panose="020F0502020204030204" pitchFamily="34" charset="0"/>
              </a:rPr>
              <a:t>Right, Panda! The </a:t>
            </a:r>
            <a:r>
              <a:rPr lang="en-US" altLang="zh-CN" sz="1200" dirty="0">
                <a:solidFill>
                  <a:schemeClr val="bg1">
                    <a:lumMod val="65000"/>
                  </a:schemeClr>
                </a:solidFill>
                <a:latin typeface="Calibri" panose="020F0502020204030204" pitchFamily="34" charset="0"/>
                <a:cs typeface="Calibri" panose="020F0502020204030204" pitchFamily="34" charset="0"/>
              </a:rPr>
              <a:t>city where panda comes from is named Chengdu, which is also the Chinese national software industry base. This is the place where </a:t>
            </a:r>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was born in 2015</a:t>
            </a:r>
            <a:r>
              <a:rPr lang="en-US" altLang="zh-CN" sz="1200" dirty="0" smtClean="0">
                <a:solidFill>
                  <a:schemeClr val="bg1">
                    <a:lumMod val="65000"/>
                  </a:schemeClr>
                </a:solidFill>
                <a:latin typeface="Calibri" panose="020F0502020204030204" pitchFamily="34" charset="0"/>
                <a:cs typeface="Calibri" panose="020F0502020204030204" pitchFamily="34" charset="0"/>
              </a:rPr>
              <a:t>.</a:t>
            </a:r>
          </a:p>
          <a:p>
            <a:pPr algn="ctr">
              <a:lnSpc>
                <a:spcPts val="1400"/>
              </a:lnSpc>
            </a:pPr>
            <a:endParaRPr lang="en-US" altLang="zh-CN" sz="1200" dirty="0">
              <a:solidFill>
                <a:schemeClr val="bg1">
                  <a:lumMod val="65000"/>
                </a:schemeClr>
              </a:solidFill>
              <a:latin typeface="Calibri" panose="020F0502020204030204" pitchFamily="34" charset="0"/>
              <a:cs typeface="Calibri" panose="020F0502020204030204" pitchFamily="34" charset="0"/>
            </a:endParaRPr>
          </a:p>
        </p:txBody>
      </p:sp>
      <p:pic>
        <p:nvPicPr>
          <p:cNvPr id="22" name="图片 21"/>
          <p:cNvPicPr>
            <a:picLocks noChangeAspect="1"/>
          </p:cNvPicPr>
          <p:nvPr/>
        </p:nvPicPr>
        <p:blipFill>
          <a:blip r:embed="rId4"/>
          <a:stretch>
            <a:fillRect/>
          </a:stretch>
        </p:blipFill>
        <p:spPr>
          <a:xfrm>
            <a:off x="5763587" y="419261"/>
            <a:ext cx="5031630" cy="2365332"/>
          </a:xfrm>
          <a:prstGeom prst="rect">
            <a:avLst/>
          </a:prstGeom>
        </p:spPr>
      </p:pic>
      <p:pic>
        <p:nvPicPr>
          <p:cNvPr id="23" name="图片 22"/>
          <p:cNvPicPr>
            <a:picLocks noChangeAspect="1"/>
          </p:cNvPicPr>
          <p:nvPr/>
        </p:nvPicPr>
        <p:blipFill>
          <a:blip r:embed="rId5"/>
          <a:stretch>
            <a:fillRect/>
          </a:stretch>
        </p:blipFill>
        <p:spPr>
          <a:xfrm>
            <a:off x="5755195" y="2929490"/>
            <a:ext cx="5048414" cy="2315058"/>
          </a:xfrm>
          <a:prstGeom prst="rect">
            <a:avLst/>
          </a:prstGeom>
        </p:spPr>
      </p:pic>
      <p:pic>
        <p:nvPicPr>
          <p:cNvPr id="24" name="图片 23"/>
          <p:cNvPicPr>
            <a:picLocks noChangeAspect="1"/>
          </p:cNvPicPr>
          <p:nvPr/>
        </p:nvPicPr>
        <p:blipFill>
          <a:blip r:embed="rId6"/>
          <a:stretch>
            <a:fillRect/>
          </a:stretch>
        </p:blipFill>
        <p:spPr>
          <a:xfrm>
            <a:off x="1447680" y="1883358"/>
            <a:ext cx="4136610" cy="257041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848848" y="255002"/>
            <a:ext cx="3482400" cy="713636"/>
            <a:chOff x="1561776" y="234890"/>
            <a:chExt cx="3482400" cy="713636"/>
          </a:xfrm>
        </p:grpSpPr>
        <p:sp>
          <p:nvSpPr>
            <p:cNvPr id="9" name="文本框 8"/>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About Us</a:t>
              </a:r>
              <a:endParaRPr lang="zh-CN" altLang="en-US" sz="2800" b="1" dirty="0">
                <a:solidFill>
                  <a:schemeClr val="accent2"/>
                </a:solidFill>
                <a:latin typeface="+mn-ea"/>
              </a:endParaRPr>
            </a:p>
          </p:txBody>
        </p:sp>
        <p:sp>
          <p:nvSpPr>
            <p:cNvPr id="10" name="文本框 9"/>
            <p:cNvSpPr txBox="1"/>
            <p:nvPr/>
          </p:nvSpPr>
          <p:spPr>
            <a:xfrm>
              <a:off x="1561776" y="694610"/>
              <a:ext cx="3482400" cy="253916"/>
            </a:xfrm>
            <a:prstGeom prst="rect">
              <a:avLst/>
            </a:prstGeom>
            <a:noFill/>
          </p:spPr>
          <p:txBody>
            <a:bodyPr wrap="square" rtlCol="0">
              <a:spAutoFit/>
              <a:scene3d>
                <a:camera prst="orthographicFront"/>
                <a:lightRig rig="threePt" dir="t"/>
              </a:scene3d>
              <a:sp3d contourW="12700"/>
            </a:bodyPr>
            <a:lstStyle/>
            <a:p>
              <a:endParaRPr lang="en-US" altLang="zh-CN" sz="1050" dirty="0">
                <a:solidFill>
                  <a:schemeClr val="bg1">
                    <a:lumMod val="65000"/>
                  </a:schemeClr>
                </a:solidFill>
                <a:latin typeface="+mj-lt"/>
              </a:endParaRPr>
            </a:p>
          </p:txBody>
        </p:sp>
      </p:grpSp>
      <p:sp>
        <p:nvSpPr>
          <p:cNvPr id="11" name="任意多边形: 形状 10"/>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985019" y="1660015"/>
            <a:ext cx="4816829" cy="3404493"/>
            <a:chOff x="6736921" y="2071046"/>
            <a:chExt cx="4299379" cy="3404493"/>
          </a:xfrm>
        </p:grpSpPr>
        <p:sp>
          <p:nvSpPr>
            <p:cNvPr id="15" name="TextBox 11"/>
            <p:cNvSpPr txBox="1"/>
            <p:nvPr/>
          </p:nvSpPr>
          <p:spPr>
            <a:xfrm>
              <a:off x="6736921" y="2520884"/>
              <a:ext cx="4299379" cy="2954655"/>
            </a:xfrm>
            <a:prstGeom prst="rect">
              <a:avLst/>
            </a:prstGeom>
            <a:noFill/>
          </p:spPr>
          <p:txBody>
            <a:bodyPr wrap="square" lIns="0" tIns="0" rIns="0" bIns="0" rtlCol="0">
              <a:spAutoFit/>
              <a:scene3d>
                <a:camera prst="orthographicFront"/>
                <a:lightRig rig="threePt" dir="t"/>
              </a:scene3d>
              <a:sp3d contourW="12700"/>
            </a:bodyPr>
            <a:lstStyle/>
            <a:p>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is a professional provider of data protection solutions for enterprises. It provides a series of data backup, instant recovery, and offsite DR solutions for private cloud, public cloud and hybrid cloud environments</a:t>
              </a:r>
              <a:r>
                <a:rPr lang="en-US" altLang="zh-CN" sz="1200" dirty="0" smtClean="0">
                  <a:solidFill>
                    <a:schemeClr val="bg1">
                      <a:lumMod val="65000"/>
                    </a:schemeClr>
                  </a:solidFill>
                  <a:latin typeface="Calibri" panose="020F0502020204030204" pitchFamily="34" charset="0"/>
                  <a:cs typeface="Calibri" panose="020F0502020204030204" pitchFamily="34" charset="0"/>
                </a:rPr>
                <a:t>.</a:t>
              </a:r>
            </a:p>
            <a:p>
              <a:endParaRPr lang="en-US" altLang="zh-CN" sz="1200" dirty="0">
                <a:solidFill>
                  <a:schemeClr val="bg1">
                    <a:lumMod val="65000"/>
                  </a:schemeClr>
                </a:solidFill>
                <a:latin typeface="Calibri" panose="020F0502020204030204" pitchFamily="34" charset="0"/>
                <a:cs typeface="Calibri" panose="020F0502020204030204" pitchFamily="34" charset="0"/>
              </a:endParaRPr>
            </a:p>
            <a:p>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Backup &amp; Recovery, the next generation VM backup solution self-developed by </a:t>
              </a:r>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supports the world’s most mainstream virtual environments including VMware, </a:t>
              </a:r>
              <a:r>
                <a:rPr lang="en-US" altLang="zh-CN" sz="1200" dirty="0" err="1">
                  <a:solidFill>
                    <a:schemeClr val="bg1">
                      <a:lumMod val="65000"/>
                    </a:schemeClr>
                  </a:solidFill>
                  <a:latin typeface="Calibri" panose="020F0502020204030204" pitchFamily="34" charset="0"/>
                  <a:cs typeface="Calibri" panose="020F0502020204030204" pitchFamily="34" charset="0"/>
                </a:rPr>
                <a:t>XenServer</a:t>
              </a:r>
              <a:r>
                <a:rPr lang="en-US" altLang="zh-CN" sz="1200" dirty="0">
                  <a:solidFill>
                    <a:schemeClr val="bg1">
                      <a:lumMod val="65000"/>
                    </a:schemeClr>
                  </a:solidFill>
                  <a:latin typeface="Calibri" panose="020F0502020204030204" pitchFamily="34" charset="0"/>
                  <a:cs typeface="Calibri" panose="020F0502020204030204" pitchFamily="34" charset="0"/>
                </a:rPr>
                <a:t>/XCP-ng, Hyper-V, RHV/</a:t>
              </a:r>
              <a:r>
                <a:rPr lang="en-US" altLang="zh-CN" sz="1200" dirty="0" err="1">
                  <a:solidFill>
                    <a:schemeClr val="bg1">
                      <a:lumMod val="65000"/>
                    </a:schemeClr>
                  </a:solidFill>
                  <a:latin typeface="Calibri" panose="020F0502020204030204" pitchFamily="34" charset="0"/>
                  <a:cs typeface="Calibri" panose="020F0502020204030204" pitchFamily="34" charset="0"/>
                </a:rPr>
                <a:t>oVirt</a:t>
              </a:r>
              <a:r>
                <a:rPr lang="en-US" altLang="zh-CN" sz="1200" dirty="0">
                  <a:solidFill>
                    <a:schemeClr val="bg1">
                      <a:lumMod val="65000"/>
                    </a:schemeClr>
                  </a:solidFill>
                  <a:latin typeface="Calibri" panose="020F0502020204030204" pitchFamily="34" charset="0"/>
                  <a:cs typeface="Calibri" panose="020F0502020204030204" pitchFamily="34" charset="0"/>
                </a:rPr>
                <a:t>, OpenStack, </a:t>
              </a:r>
              <a:r>
                <a:rPr lang="en-US" altLang="zh-CN" sz="1200" dirty="0" err="1">
                  <a:solidFill>
                    <a:schemeClr val="bg1">
                      <a:lumMod val="65000"/>
                    </a:schemeClr>
                  </a:solidFill>
                  <a:latin typeface="Calibri" panose="020F0502020204030204" pitchFamily="34" charset="0"/>
                  <a:cs typeface="Calibri" panose="020F0502020204030204" pitchFamily="34" charset="0"/>
                </a:rPr>
                <a:t>Sangfor</a:t>
              </a:r>
              <a:r>
                <a:rPr lang="en-US" altLang="zh-CN" sz="1200" dirty="0">
                  <a:solidFill>
                    <a:schemeClr val="bg1">
                      <a:lumMod val="65000"/>
                    </a:schemeClr>
                  </a:solidFill>
                  <a:latin typeface="Calibri" panose="020F0502020204030204" pitchFamily="34" charset="0"/>
                  <a:cs typeface="Calibri" panose="020F0502020204030204" pitchFamily="34" charset="0"/>
                </a:rPr>
                <a:t> HCI, Oracle Linux Virtualization Manager and Huawei </a:t>
              </a:r>
              <a:r>
                <a:rPr lang="en-US" altLang="zh-CN" sz="1200" dirty="0" err="1">
                  <a:solidFill>
                    <a:schemeClr val="bg1">
                      <a:lumMod val="65000"/>
                    </a:schemeClr>
                  </a:solidFill>
                  <a:latin typeface="Calibri" panose="020F0502020204030204" pitchFamily="34" charset="0"/>
                  <a:cs typeface="Calibri" panose="020F0502020204030204" pitchFamily="34" charset="0"/>
                </a:rPr>
                <a:t>FusionCompute</a:t>
              </a:r>
              <a:r>
                <a:rPr lang="en-US" altLang="zh-CN" sz="1200" dirty="0">
                  <a:solidFill>
                    <a:schemeClr val="bg1">
                      <a:lumMod val="65000"/>
                    </a:schemeClr>
                  </a:solidFill>
                  <a:latin typeface="Calibri" panose="020F0502020204030204" pitchFamily="34" charset="0"/>
                  <a:cs typeface="Calibri" panose="020F0502020204030204" pitchFamily="34" charset="0"/>
                </a:rPr>
                <a:t>(Xen Based). It prevents the loss of critical business data due to human </a:t>
              </a:r>
              <a:r>
                <a:rPr lang="en-US" altLang="zh-CN" sz="1200" dirty="0" err="1">
                  <a:solidFill>
                    <a:schemeClr val="bg1">
                      <a:lumMod val="65000"/>
                    </a:schemeClr>
                  </a:solidFill>
                  <a:latin typeface="Calibri" panose="020F0502020204030204" pitchFamily="34" charset="0"/>
                  <a:cs typeface="Calibri" panose="020F0502020204030204" pitchFamily="34" charset="0"/>
                </a:rPr>
                <a:t>misoperation</a:t>
              </a:r>
              <a:r>
                <a:rPr lang="en-US" altLang="zh-CN" sz="1200" dirty="0">
                  <a:solidFill>
                    <a:schemeClr val="bg1">
                      <a:lumMod val="65000"/>
                    </a:schemeClr>
                  </a:solidFill>
                  <a:latin typeface="Calibri" panose="020F0502020204030204" pitchFamily="34" charset="0"/>
                  <a:cs typeface="Calibri" panose="020F0502020204030204" pitchFamily="34" charset="0"/>
                </a:rPr>
                <a:t>, viruses, attacks, hardware failures, natural disasters, wars, etc. It now supports Chinese, English, German, Czech, etc. languages</a:t>
              </a:r>
              <a:r>
                <a:rPr lang="en-US" altLang="zh-CN" sz="1200" dirty="0" smtClean="0">
                  <a:solidFill>
                    <a:schemeClr val="bg1">
                      <a:lumMod val="65000"/>
                    </a:schemeClr>
                  </a:solidFill>
                  <a:latin typeface="Calibri" panose="020F0502020204030204" pitchFamily="34" charset="0"/>
                  <a:cs typeface="Calibri" panose="020F0502020204030204" pitchFamily="34" charset="0"/>
                </a:rPr>
                <a:t>.</a:t>
              </a:r>
            </a:p>
            <a:p>
              <a:endParaRPr lang="en-US" altLang="zh-CN" sz="1200" dirty="0">
                <a:solidFill>
                  <a:schemeClr val="bg1">
                    <a:lumMod val="65000"/>
                  </a:schemeClr>
                </a:solidFill>
                <a:latin typeface="Calibri" panose="020F0502020204030204" pitchFamily="34" charset="0"/>
                <a:cs typeface="Calibri" panose="020F0502020204030204" pitchFamily="34" charset="0"/>
              </a:endParaRPr>
            </a:p>
            <a:p>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backup solutions have been successfully deployed and delivered in </a:t>
              </a:r>
              <a:r>
                <a:rPr lang="en-US" altLang="zh-CN" sz="1200" dirty="0" smtClean="0">
                  <a:solidFill>
                    <a:schemeClr val="bg1">
                      <a:lumMod val="65000"/>
                    </a:schemeClr>
                  </a:solidFill>
                  <a:latin typeface="Calibri" panose="020F0502020204030204" pitchFamily="34" charset="0"/>
                  <a:cs typeface="Calibri" panose="020F0502020204030204" pitchFamily="34" charset="0"/>
                </a:rPr>
                <a:t>100</a:t>
              </a:r>
              <a:r>
                <a:rPr lang="en-US" altLang="zh-CN" sz="1200" dirty="0">
                  <a:solidFill>
                    <a:schemeClr val="bg1">
                      <a:lumMod val="65000"/>
                    </a:schemeClr>
                  </a:solidFill>
                  <a:latin typeface="Calibri" panose="020F0502020204030204" pitchFamily="34" charset="0"/>
                  <a:cs typeface="Calibri" panose="020F0502020204030204" pitchFamily="34" charset="0"/>
                </a:rPr>
                <a:t>+ </a:t>
              </a:r>
              <a:r>
                <a:rPr lang="en-US" altLang="zh-CN" sz="1200" dirty="0" err="1" smtClean="0">
                  <a:solidFill>
                    <a:schemeClr val="bg1">
                      <a:lumMod val="65000"/>
                    </a:schemeClr>
                  </a:solidFill>
                  <a:latin typeface="Calibri" panose="020F0502020204030204" pitchFamily="34" charset="0"/>
                  <a:cs typeface="Calibri" panose="020F0502020204030204" pitchFamily="34" charset="0"/>
                </a:rPr>
                <a:t>countries.Today</a:t>
              </a:r>
              <a:r>
                <a:rPr lang="en-US" altLang="zh-CN" sz="1200" dirty="0">
                  <a:solidFill>
                    <a:schemeClr val="bg1">
                      <a:lumMod val="65000"/>
                    </a:schemeClr>
                  </a:solidFill>
                  <a:latin typeface="Calibri" panose="020F0502020204030204" pitchFamily="34" charset="0"/>
                  <a:cs typeface="Calibri" panose="020F0502020204030204" pitchFamily="34" charset="0"/>
                </a:rPr>
                <a:t>, </a:t>
              </a:r>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solutions are available worldwide. You can join us as a channel partner or service provider. We look forward to providing you the excellent supports &amp; services!</a:t>
              </a:r>
            </a:p>
          </p:txBody>
        </p:sp>
        <p:sp>
          <p:nvSpPr>
            <p:cNvPr id="16" name="TextBox 11"/>
            <p:cNvSpPr txBox="1"/>
            <p:nvPr/>
          </p:nvSpPr>
          <p:spPr>
            <a:xfrm>
              <a:off x="6736921" y="2071046"/>
              <a:ext cx="2449035" cy="276999"/>
            </a:xfrm>
            <a:prstGeom prst="rect">
              <a:avLst/>
            </a:prstGeom>
            <a:noFill/>
          </p:spPr>
          <p:txBody>
            <a:bodyPr wrap="square" lIns="0" tIns="0" rIns="0" bIns="0" rtlCol="0">
              <a:spAutoFit/>
              <a:scene3d>
                <a:camera prst="orthographicFront"/>
                <a:lightRig rig="threePt" dir="t"/>
              </a:scene3d>
              <a:sp3d contourW="12700"/>
            </a:bodyPr>
            <a:lstStyle/>
            <a:p>
              <a:r>
                <a:rPr lang="en-US" altLang="zh-CN" dirty="0" smtClean="0">
                  <a:solidFill>
                    <a:schemeClr val="tx1">
                      <a:lumMod val="75000"/>
                      <a:lumOff val="25000"/>
                    </a:schemeClr>
                  </a:solidFill>
                  <a:latin typeface="Calibri" panose="020F0502020204030204" pitchFamily="34" charset="0"/>
                  <a:cs typeface="Calibri" panose="020F0502020204030204" pitchFamily="34" charset="0"/>
                </a:rPr>
                <a:t>Who we are ?</a:t>
              </a:r>
              <a:endParaRPr lang="en-US" dirty="0">
                <a:solidFill>
                  <a:schemeClr val="tx1">
                    <a:lumMod val="75000"/>
                    <a:lumOff val="25000"/>
                  </a:schemeClr>
                </a:solidFill>
                <a:latin typeface="Calibri" panose="020F0502020204030204" pitchFamily="34" charset="0"/>
                <a:cs typeface="Calibri" panose="020F0502020204030204" pitchFamily="34" charset="0"/>
              </a:endParaRPr>
            </a:p>
          </p:txBody>
        </p:sp>
      </p:grpSp>
      <p:pic>
        <p:nvPicPr>
          <p:cNvPr id="12" name="图片占位符 11"/>
          <p:cNvPicPr>
            <a:picLocks noGrp="1" noChangeAspect="1"/>
          </p:cNvPicPr>
          <p:nvPr>
            <p:ph type="pic" sz="quarter" idx="10"/>
          </p:nvPr>
        </p:nvPicPr>
        <p:blipFill>
          <a:blip r:embed="rId3"/>
          <a:srcRect/>
          <a:stretch>
            <a:fillRect/>
          </a:stretch>
        </p:blipFill>
        <p:spPr>
          <a:xfrm>
            <a:off x="6324817" y="6"/>
            <a:ext cx="5867183" cy="6857994"/>
          </a:xfrm>
        </p:spPr>
      </p:pic>
      <p:sp>
        <p:nvSpPr>
          <p:cNvPr id="20" name="任意多边形: 形状 17"/>
          <p:cNvSpPr/>
          <p:nvPr/>
        </p:nvSpPr>
        <p:spPr>
          <a:xfrm>
            <a:off x="11452929" y="5319006"/>
            <a:ext cx="739072" cy="1538994"/>
          </a:xfrm>
          <a:custGeom>
            <a:avLst/>
            <a:gdLst>
              <a:gd name="connsiteX0" fmla="*/ 739072 w 739072"/>
              <a:gd name="connsiteY0" fmla="*/ 0 h 1538994"/>
              <a:gd name="connsiteX1" fmla="*/ 739072 w 739072"/>
              <a:gd name="connsiteY1" fmla="*/ 1538994 h 1538994"/>
              <a:gd name="connsiteX2" fmla="*/ 0 w 739072"/>
              <a:gd name="connsiteY2" fmla="*/ 1538994 h 1538994"/>
            </a:gdLst>
            <a:ahLst/>
            <a:cxnLst>
              <a:cxn ang="0">
                <a:pos x="connsiteX0" y="connsiteY0"/>
              </a:cxn>
              <a:cxn ang="0">
                <a:pos x="connsiteX1" y="connsiteY1"/>
              </a:cxn>
              <a:cxn ang="0">
                <a:pos x="connsiteX2" y="connsiteY2"/>
              </a:cxn>
            </a:cxnLst>
            <a:rect l="l" t="t" r="r" b="b"/>
            <a:pathLst>
              <a:path w="739072" h="1538994">
                <a:moveTo>
                  <a:pt x="739072" y="0"/>
                </a:moveTo>
                <a:lnTo>
                  <a:pt x="739072" y="1538994"/>
                </a:lnTo>
                <a:lnTo>
                  <a:pt x="0" y="1538994"/>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任意多边形: 形状 12"/>
          <p:cNvSpPr/>
          <p:nvPr/>
        </p:nvSpPr>
        <p:spPr>
          <a:xfrm>
            <a:off x="11182350" y="6221536"/>
            <a:ext cx="762000" cy="636464"/>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8848" y="255002"/>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Leadership</a:t>
            </a:r>
            <a:endParaRPr lang="zh-CN" altLang="en-US" sz="2800" b="1" dirty="0">
              <a:solidFill>
                <a:schemeClr val="accent2"/>
              </a:solidFill>
              <a:latin typeface="+mn-ea"/>
            </a:endParaRPr>
          </a:p>
        </p:txBody>
      </p:sp>
      <p:sp>
        <p:nvSpPr>
          <p:cNvPr id="12" name="任意多边形: 形状 11"/>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67794" y="3034883"/>
            <a:ext cx="5612299" cy="540000"/>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1"/>
          <p:cNvSpPr txBox="1"/>
          <p:nvPr/>
        </p:nvSpPr>
        <p:spPr>
          <a:xfrm>
            <a:off x="985018" y="3765299"/>
            <a:ext cx="5595075" cy="1661993"/>
          </a:xfrm>
          <a:prstGeom prst="rect">
            <a:avLst/>
          </a:prstGeom>
          <a:noFill/>
        </p:spPr>
        <p:txBody>
          <a:bodyPr wrap="square" lIns="0" tIns="0" rIns="0" bIns="0" rtlCol="0">
            <a:spAutoFit/>
            <a:scene3d>
              <a:camera prst="orthographicFront"/>
              <a:lightRig rig="threePt" dir="t"/>
            </a:scene3d>
            <a:sp3d contourW="12700"/>
          </a:bodyPr>
          <a:lstStyle/>
          <a:p>
            <a:pPr>
              <a:lnSpc>
                <a:spcPct val="150000"/>
              </a:lnSpc>
            </a:pPr>
            <a:r>
              <a:rPr lang="en-US" sz="1200" dirty="0">
                <a:solidFill>
                  <a:schemeClr val="bg1">
                    <a:lumMod val="65000"/>
                  </a:schemeClr>
                </a:solidFill>
                <a:latin typeface="Calibri" panose="020F0502020204030204" pitchFamily="34" charset="0"/>
                <a:cs typeface="Calibri" panose="020F0502020204030204" pitchFamily="34" charset="0"/>
              </a:rPr>
              <a:t>Mark now owns several national patents for invention, and wins authoritative approval from global academic circles with 10+ papers published on SCI and EI.</a:t>
            </a:r>
          </a:p>
          <a:p>
            <a:pPr>
              <a:lnSpc>
                <a:spcPct val="150000"/>
              </a:lnSpc>
            </a:pPr>
            <a:r>
              <a:rPr lang="en-US" sz="1200" dirty="0">
                <a:solidFill>
                  <a:schemeClr val="bg1">
                    <a:lumMod val="65000"/>
                  </a:schemeClr>
                </a:solidFill>
                <a:latin typeface="Calibri" panose="020F0502020204030204" pitchFamily="34" charset="0"/>
                <a:cs typeface="Calibri" panose="020F0502020204030204" pitchFamily="34" charset="0"/>
              </a:rPr>
              <a:t>Mark built his career as a young yet experienced entrepreneur to explore greater possibilities of data protection in 2015, who now has been playing a leading role to prompt </a:t>
            </a:r>
            <a:r>
              <a:rPr lang="en-US" sz="1200" dirty="0" smtClean="0">
                <a:solidFill>
                  <a:schemeClr val="bg1">
                    <a:lumMod val="65000"/>
                  </a:schemeClr>
                </a:solidFill>
                <a:latin typeface="Calibri" panose="020F0502020204030204" pitchFamily="34" charset="0"/>
                <a:cs typeface="Calibri" panose="020F0502020204030204" pitchFamily="34" charset="0"/>
              </a:rPr>
              <a:t>Chinese industry </a:t>
            </a:r>
            <a:r>
              <a:rPr lang="en-US" sz="1200" dirty="0">
                <a:solidFill>
                  <a:schemeClr val="bg1">
                    <a:lumMod val="65000"/>
                  </a:schemeClr>
                </a:solidFill>
                <a:latin typeface="Calibri" panose="020F0502020204030204" pitchFamily="34" charset="0"/>
                <a:cs typeface="Calibri" panose="020F0502020204030204" pitchFamily="34" charset="0"/>
              </a:rPr>
              <a:t>ecosystem, determined to bring new generation's advanced backup </a:t>
            </a:r>
            <a:r>
              <a:rPr lang="en-US" sz="1200" dirty="0" smtClean="0">
                <a:solidFill>
                  <a:schemeClr val="bg1">
                    <a:lumMod val="65000"/>
                  </a:schemeClr>
                </a:solidFill>
                <a:latin typeface="Calibri" panose="020F0502020204030204" pitchFamily="34" charset="0"/>
                <a:cs typeface="Calibri" panose="020F0502020204030204" pitchFamily="34" charset="0"/>
              </a:rPr>
              <a:t>solution </a:t>
            </a:r>
            <a:r>
              <a:rPr lang="en-US" sz="1200" dirty="0">
                <a:solidFill>
                  <a:schemeClr val="bg1">
                    <a:lumMod val="65000"/>
                  </a:schemeClr>
                </a:solidFill>
                <a:latin typeface="Calibri" panose="020F0502020204030204" pitchFamily="34" charset="0"/>
                <a:cs typeface="Calibri" panose="020F0502020204030204" pitchFamily="34" charset="0"/>
              </a:rPr>
              <a:t>to the world, in </a:t>
            </a:r>
            <a:r>
              <a:rPr lang="en-US" altLang="zh-CN" sz="1200" dirty="0" smtClean="0">
                <a:solidFill>
                  <a:schemeClr val="bg1">
                    <a:lumMod val="65000"/>
                  </a:schemeClr>
                </a:solidFill>
                <a:latin typeface="Calibri" panose="020F0502020204030204" pitchFamily="34" charset="0"/>
                <a:cs typeface="Calibri" panose="020F0502020204030204" pitchFamily="34" charset="0"/>
              </a:rPr>
              <a:t>the </a:t>
            </a:r>
            <a:r>
              <a:rPr lang="en-US" sz="1200" dirty="0" smtClean="0">
                <a:solidFill>
                  <a:schemeClr val="bg1">
                    <a:lumMod val="65000"/>
                  </a:schemeClr>
                </a:solidFill>
                <a:latin typeface="Calibri" panose="020F0502020204030204" pitchFamily="34" charset="0"/>
                <a:cs typeface="Calibri" panose="020F0502020204030204" pitchFamily="34" charset="0"/>
              </a:rPr>
              <a:t>name </a:t>
            </a:r>
            <a:r>
              <a:rPr lang="en-US" sz="1200" dirty="0">
                <a:solidFill>
                  <a:schemeClr val="bg1">
                    <a:lumMod val="65000"/>
                  </a:schemeClr>
                </a:solidFill>
                <a:latin typeface="Calibri" panose="020F0502020204030204" pitchFamily="34" charset="0"/>
                <a:cs typeface="Calibri" panose="020F0502020204030204" pitchFamily="34" charset="0"/>
              </a:rPr>
              <a:t>of </a:t>
            </a:r>
            <a:r>
              <a:rPr lang="en-US" sz="1200" dirty="0" err="1">
                <a:solidFill>
                  <a:schemeClr val="bg1">
                    <a:lumMod val="65000"/>
                  </a:schemeClr>
                </a:solidFill>
                <a:latin typeface="Calibri" panose="020F0502020204030204" pitchFamily="34" charset="0"/>
                <a:cs typeface="Calibri" panose="020F0502020204030204" pitchFamily="34" charset="0"/>
              </a:rPr>
              <a:t>Vinchin</a:t>
            </a:r>
            <a:r>
              <a:rPr lang="en-US" sz="1200" dirty="0">
                <a:solidFill>
                  <a:schemeClr val="bg1">
                    <a:lumMod val="65000"/>
                  </a:schemeClr>
                </a:solidFill>
                <a:latin typeface="Calibri" panose="020F0502020204030204" pitchFamily="34" charset="0"/>
                <a:cs typeface="Calibri" panose="020F0502020204030204" pitchFamily="34" charset="0"/>
              </a:rPr>
              <a:t>.</a:t>
            </a:r>
          </a:p>
        </p:txBody>
      </p:sp>
      <p:sp>
        <p:nvSpPr>
          <p:cNvPr id="17" name="TextBox 11"/>
          <p:cNvSpPr txBox="1"/>
          <p:nvPr/>
        </p:nvSpPr>
        <p:spPr>
          <a:xfrm>
            <a:off x="1055687" y="3166384"/>
            <a:ext cx="5452689" cy="276999"/>
          </a:xfrm>
          <a:prstGeom prst="rect">
            <a:avLst/>
          </a:prstGeom>
          <a:noFill/>
        </p:spPr>
        <p:txBody>
          <a:bodyPr wrap="square" lIns="0" tIns="0" rIns="0" bIns="0" rtlCol="0">
            <a:spAutoFit/>
            <a:scene3d>
              <a:camera prst="orthographicFront"/>
              <a:lightRig rig="threePt" dir="t"/>
            </a:scene3d>
            <a:sp3d contourW="12700"/>
          </a:bodyPr>
          <a:lstStyle/>
          <a:p>
            <a:r>
              <a:rPr lang="en-US" b="1" dirty="0" smtClean="0">
                <a:solidFill>
                  <a:schemeClr val="bg1"/>
                </a:solidFill>
              </a:rPr>
              <a:t>  </a:t>
            </a:r>
            <a:r>
              <a:rPr lang="en-US" b="1" dirty="0" err="1" smtClean="0">
                <a:solidFill>
                  <a:schemeClr val="bg1"/>
                </a:solidFill>
              </a:rPr>
              <a:t>X</a:t>
            </a:r>
            <a:r>
              <a:rPr lang="en-US" altLang="zh-CN" b="1" dirty="0" err="1" smtClean="0">
                <a:solidFill>
                  <a:schemeClr val="bg1"/>
                </a:solidFill>
              </a:rPr>
              <a:t>iaoqin</a:t>
            </a:r>
            <a:r>
              <a:rPr lang="en-US" altLang="zh-CN" b="1" dirty="0" smtClean="0">
                <a:solidFill>
                  <a:schemeClr val="bg1"/>
                </a:solidFill>
              </a:rPr>
              <a:t> Hu (Mark)  |  Founder &amp; CEO, </a:t>
            </a:r>
            <a:r>
              <a:rPr lang="en-US" altLang="zh-CN" b="1" dirty="0" err="1" smtClean="0">
                <a:solidFill>
                  <a:schemeClr val="bg1"/>
                </a:solidFill>
              </a:rPr>
              <a:t>Vinchin</a:t>
            </a:r>
            <a:endParaRPr lang="en-US" b="1" dirty="0">
              <a:solidFill>
                <a:schemeClr val="bg1"/>
              </a:solidFill>
            </a:endParaRPr>
          </a:p>
        </p:txBody>
      </p:sp>
      <p:sp>
        <p:nvSpPr>
          <p:cNvPr id="18" name="TextBox 11"/>
          <p:cNvSpPr txBox="1"/>
          <p:nvPr/>
        </p:nvSpPr>
        <p:spPr>
          <a:xfrm>
            <a:off x="985018" y="1710889"/>
            <a:ext cx="5612299" cy="1107996"/>
          </a:xfrm>
          <a:prstGeom prst="rect">
            <a:avLst/>
          </a:prstGeom>
          <a:noFill/>
        </p:spPr>
        <p:txBody>
          <a:bodyPr wrap="square" lIns="0" tIns="0" rIns="0" bIns="0" rtlCol="0">
            <a:spAutoFit/>
            <a:scene3d>
              <a:camera prst="orthographicFront"/>
              <a:lightRig rig="threePt" dir="t"/>
            </a:scene3d>
            <a:sp3d contourW="12700"/>
          </a:bodyPr>
          <a:lstStyle/>
          <a:p>
            <a:pPr>
              <a:lnSpc>
                <a:spcPct val="150000"/>
              </a:lnSpc>
            </a:pPr>
            <a:r>
              <a:rPr lang="en-US" sz="1200" dirty="0" smtClean="0">
                <a:solidFill>
                  <a:schemeClr val="bg1">
                    <a:lumMod val="65000"/>
                  </a:schemeClr>
                </a:solidFill>
                <a:latin typeface="Calibri" panose="020F0502020204030204" pitchFamily="34" charset="0"/>
                <a:cs typeface="Calibri" panose="020F0502020204030204" pitchFamily="34" charset="0"/>
              </a:rPr>
              <a:t>Graduated </a:t>
            </a:r>
            <a:r>
              <a:rPr lang="en-US" sz="1200" dirty="0">
                <a:solidFill>
                  <a:schemeClr val="bg1">
                    <a:lumMod val="65000"/>
                  </a:schemeClr>
                </a:solidFill>
                <a:latin typeface="Calibri" panose="020F0502020204030204" pitchFamily="34" charset="0"/>
                <a:cs typeface="Calibri" panose="020F0502020204030204" pitchFamily="34" charset="0"/>
              </a:rPr>
              <a:t>as a PhD of Technical Science from Sichuan University, the top 1 seat of learning in Southwestern China, who specialized in science research of cloud computing security and cybersecurity, Mark has been dedicated in the industry for over 20 years. Due to his non-stop innovative mind with rich </a:t>
            </a:r>
            <a:r>
              <a:rPr lang="en-US" sz="1200" dirty="0" smtClean="0">
                <a:solidFill>
                  <a:schemeClr val="bg1">
                    <a:lumMod val="65000"/>
                  </a:schemeClr>
                </a:solidFill>
                <a:latin typeface="Calibri" panose="020F0502020204030204" pitchFamily="34" charset="0"/>
                <a:cs typeface="Calibri" panose="020F0502020204030204" pitchFamily="34" charset="0"/>
              </a:rPr>
              <a:t>knowledge.</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25" name="椭圆 24"/>
          <p:cNvSpPr/>
          <p:nvPr/>
        </p:nvSpPr>
        <p:spPr>
          <a:xfrm>
            <a:off x="8246248" y="1736471"/>
            <a:ext cx="2887917" cy="3054987"/>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a:hlinkClick r:id="rId4"/>
          </p:cNvPr>
          <p:cNvPicPr>
            <a:picLocks noChangeAspect="1"/>
          </p:cNvPicPr>
          <p:nvPr/>
        </p:nvPicPr>
        <p:blipFill>
          <a:blip r:embed="rId5"/>
          <a:stretch>
            <a:fillRect/>
          </a:stretch>
        </p:blipFill>
        <p:spPr>
          <a:xfrm>
            <a:off x="9054353" y="5289417"/>
            <a:ext cx="380358" cy="341771"/>
          </a:xfrm>
          <a:prstGeom prst="rect">
            <a:avLst/>
          </a:prstGeom>
        </p:spPr>
      </p:pic>
      <p:pic>
        <p:nvPicPr>
          <p:cNvPr id="28" name="图片 27">
            <a:hlinkClick r:id="rId6"/>
          </p:cNvPr>
          <p:cNvPicPr>
            <a:picLocks noChangeAspect="1"/>
          </p:cNvPicPr>
          <p:nvPr/>
        </p:nvPicPr>
        <p:blipFill>
          <a:blip r:embed="rId7"/>
          <a:stretch>
            <a:fillRect/>
          </a:stretch>
        </p:blipFill>
        <p:spPr>
          <a:xfrm>
            <a:off x="9918507" y="5343141"/>
            <a:ext cx="369333" cy="286647"/>
          </a:xfrm>
          <a:prstGeom prst="rect">
            <a:avLst/>
          </a:prstGeom>
        </p:spPr>
      </p:pic>
      <p:sp>
        <p:nvSpPr>
          <p:cNvPr id="29" name="TextBox 11"/>
          <p:cNvSpPr txBox="1"/>
          <p:nvPr/>
        </p:nvSpPr>
        <p:spPr>
          <a:xfrm>
            <a:off x="8163843" y="4864427"/>
            <a:ext cx="3052726" cy="282321"/>
          </a:xfrm>
          <a:prstGeom prst="rect">
            <a:avLst/>
          </a:prstGeom>
          <a:noFill/>
        </p:spPr>
        <p:txBody>
          <a:bodyPr wrap="square" lIns="0" tIns="0" rIns="0" bIns="0" rtlCol="0">
            <a:spAutoFit/>
            <a:scene3d>
              <a:camera prst="orthographicFront"/>
              <a:lightRig rig="threePt" dir="t"/>
            </a:scene3d>
            <a:sp3d contourW="12700"/>
          </a:bodyPr>
          <a:lstStyle/>
          <a:p>
            <a:pPr>
              <a:lnSpc>
                <a:spcPct val="150000"/>
              </a:lnSpc>
            </a:pPr>
            <a:r>
              <a:rPr lang="en-US" sz="1400" b="1" i="1" dirty="0" smtClean="0">
                <a:solidFill>
                  <a:srgbClr val="11515A"/>
                </a:solidFill>
                <a:latin typeface="Microsoft Sans Serif" panose="020B0604020202020204" pitchFamily="34" charset="0"/>
                <a:ea typeface="Microsoft Sans Serif" panose="020B0604020202020204" pitchFamily="34" charset="0"/>
                <a:cs typeface="Microsoft Sans Serif" panose="020B0604020202020204" pitchFamily="34" charset="0"/>
              </a:rPr>
              <a:t>B</a:t>
            </a:r>
            <a:r>
              <a:rPr lang="en-US" altLang="zh-CN" sz="1400" b="1" i="1" dirty="0" smtClean="0">
                <a:solidFill>
                  <a:srgbClr val="11515A"/>
                </a:solidFill>
                <a:latin typeface="Microsoft Sans Serif" panose="020B0604020202020204" pitchFamily="34" charset="0"/>
                <a:ea typeface="Microsoft Sans Serif" panose="020B0604020202020204" pitchFamily="34" charset="0"/>
                <a:cs typeface="Microsoft Sans Serif" panose="020B0604020202020204" pitchFamily="34" charset="0"/>
              </a:rPr>
              <a:t>e dare to think, speak and achieve</a:t>
            </a:r>
            <a:endParaRPr lang="en-US" sz="1400" b="1" i="1" dirty="0">
              <a:solidFill>
                <a:srgbClr val="11515A"/>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1500"/>
                            </p:stCondLst>
                            <p:childTnLst>
                              <p:par>
                                <p:cTn id="27" presetID="42" presetClass="entr" presetSubtype="0"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1000"/>
                                        <p:tgtEl>
                                          <p:spTgt spid="29"/>
                                        </p:tgtEl>
                                      </p:cBhvr>
                                    </p:animEffect>
                                    <p:anim calcmode="lin" valueType="num">
                                      <p:cBhvr>
                                        <p:cTn id="30" dur="1000" fill="hold"/>
                                        <p:tgtEl>
                                          <p:spTgt spid="29"/>
                                        </p:tgtEl>
                                        <p:attrNameLst>
                                          <p:attrName>ppt_x</p:attrName>
                                        </p:attrNameLst>
                                      </p:cBhvr>
                                      <p:tavLst>
                                        <p:tav tm="0">
                                          <p:val>
                                            <p:strVal val="#ppt_x"/>
                                          </p:val>
                                        </p:tav>
                                        <p:tav tm="100000">
                                          <p:val>
                                            <p:strVal val="#ppt_x"/>
                                          </p:val>
                                        </p:tav>
                                      </p:tavLst>
                                    </p:anim>
                                    <p:anim calcmode="lin" valueType="num">
                                      <p:cBhvr>
                                        <p:cTn id="3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p:bldP spid="17" grpId="0"/>
      <p:bldP spid="1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848848" y="255002"/>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Leadership</a:t>
            </a:r>
            <a:endParaRPr lang="zh-CN" altLang="en-US" sz="2800" b="1" dirty="0">
              <a:solidFill>
                <a:schemeClr val="accent2"/>
              </a:solidFill>
              <a:latin typeface="+mn-ea"/>
            </a:endParaRPr>
          </a:p>
        </p:txBody>
      </p:sp>
      <p:sp>
        <p:nvSpPr>
          <p:cNvPr id="28" name="任意多边形: 形状 27"/>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11"/>
          <p:cNvSpPr txBox="1"/>
          <p:nvPr/>
        </p:nvSpPr>
        <p:spPr>
          <a:xfrm>
            <a:off x="985025" y="4579751"/>
            <a:ext cx="1834261" cy="1436291"/>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sz="1200" dirty="0" smtClean="0">
                <a:solidFill>
                  <a:schemeClr val="bg1">
                    <a:lumMod val="50000"/>
                  </a:schemeClr>
                </a:solidFill>
                <a:latin typeface="Calibri" panose="020F0502020204030204" pitchFamily="34" charset="0"/>
                <a:cs typeface="Calibri" panose="020F0502020204030204" pitchFamily="34" charset="0"/>
              </a:rPr>
              <a:t>Standing </a:t>
            </a:r>
            <a:r>
              <a:rPr lang="en-US" sz="1200" dirty="0">
                <a:solidFill>
                  <a:schemeClr val="bg1">
                    <a:lumMod val="50000"/>
                  </a:schemeClr>
                </a:solidFill>
                <a:latin typeface="Calibri" panose="020F0502020204030204" pitchFamily="34" charset="0"/>
                <a:cs typeface="Calibri" panose="020F0502020204030204" pitchFamily="34" charset="0"/>
              </a:rPr>
              <a:t>out as a PhD of Computer </a:t>
            </a:r>
            <a:r>
              <a:rPr lang="en-US" sz="1200" dirty="0" smtClean="0">
                <a:solidFill>
                  <a:schemeClr val="bg1">
                    <a:lumMod val="50000"/>
                  </a:schemeClr>
                </a:solidFill>
                <a:latin typeface="Calibri" panose="020F0502020204030204" pitchFamily="34" charset="0"/>
                <a:cs typeface="Calibri" panose="020F0502020204030204" pitchFamily="34" charset="0"/>
              </a:rPr>
              <a:t>Science, </a:t>
            </a:r>
            <a:r>
              <a:rPr lang="en-US" sz="1200" dirty="0" err="1" smtClean="0">
                <a:solidFill>
                  <a:schemeClr val="bg1">
                    <a:lumMod val="50000"/>
                  </a:schemeClr>
                </a:solidFill>
                <a:latin typeface="Calibri" panose="020F0502020204030204" pitchFamily="34" charset="0"/>
                <a:cs typeface="Calibri" panose="020F0502020204030204" pitchFamily="34" charset="0"/>
              </a:rPr>
              <a:t>C</a:t>
            </a:r>
            <a:r>
              <a:rPr lang="en-US" altLang="zh-CN" sz="1200" dirty="0" err="1" smtClean="0">
                <a:solidFill>
                  <a:schemeClr val="bg1">
                    <a:lumMod val="50000"/>
                  </a:schemeClr>
                </a:solidFill>
                <a:latin typeface="Calibri" panose="020F0502020204030204" pitchFamily="34" charset="0"/>
                <a:cs typeface="Calibri" panose="020F0502020204030204" pitchFamily="34" charset="0"/>
              </a:rPr>
              <a:t>huanbo</a:t>
            </a:r>
            <a:r>
              <a:rPr lang="en-US" altLang="zh-CN" sz="1200" dirty="0" smtClean="0">
                <a:solidFill>
                  <a:schemeClr val="bg1">
                    <a:lumMod val="50000"/>
                  </a:schemeClr>
                </a:solidFill>
                <a:latin typeface="Calibri" panose="020F0502020204030204" pitchFamily="34" charset="0"/>
                <a:cs typeface="Calibri" panose="020F0502020204030204" pitchFamily="34" charset="0"/>
              </a:rPr>
              <a:t> </a:t>
            </a:r>
            <a:r>
              <a:rPr lang="en-US" sz="1200" dirty="0" smtClean="0">
                <a:solidFill>
                  <a:schemeClr val="bg1">
                    <a:lumMod val="50000"/>
                  </a:schemeClr>
                </a:solidFill>
                <a:latin typeface="Calibri" panose="020F0502020204030204" pitchFamily="34" charset="0"/>
                <a:cs typeface="Calibri" panose="020F0502020204030204" pitchFamily="34" charset="0"/>
              </a:rPr>
              <a:t>knows </a:t>
            </a:r>
            <a:r>
              <a:rPr lang="en-US" sz="1200" dirty="0">
                <a:solidFill>
                  <a:schemeClr val="bg1">
                    <a:lumMod val="50000"/>
                  </a:schemeClr>
                </a:solidFill>
                <a:latin typeface="Calibri" panose="020F0502020204030204" pitchFamily="34" charset="0"/>
                <a:cs typeface="Calibri" panose="020F0502020204030204" pitchFamily="34" charset="0"/>
              </a:rPr>
              <a:t>exactly how to turn those innovative ideas into best practice, driving the brand of </a:t>
            </a:r>
            <a:r>
              <a:rPr lang="en-US" sz="1200" dirty="0" err="1">
                <a:solidFill>
                  <a:schemeClr val="bg1">
                    <a:lumMod val="50000"/>
                  </a:schemeClr>
                </a:solidFill>
                <a:latin typeface="Calibri" panose="020F0502020204030204" pitchFamily="34" charset="0"/>
                <a:cs typeface="Calibri" panose="020F0502020204030204" pitchFamily="34" charset="0"/>
              </a:rPr>
              <a:t>Vinchin</a:t>
            </a:r>
            <a:r>
              <a:rPr lang="en-US" sz="1200" dirty="0">
                <a:solidFill>
                  <a:schemeClr val="bg1">
                    <a:lumMod val="50000"/>
                  </a:schemeClr>
                </a:solidFill>
                <a:latin typeface="Calibri" panose="020F0502020204030204" pitchFamily="34" charset="0"/>
                <a:cs typeface="Calibri" panose="020F0502020204030204" pitchFamily="34" charset="0"/>
              </a:rPr>
              <a:t> to step higher with solid product functionalities.</a:t>
            </a:r>
          </a:p>
        </p:txBody>
      </p:sp>
      <p:sp>
        <p:nvSpPr>
          <p:cNvPr id="40" name="TextBox 11"/>
          <p:cNvSpPr txBox="1"/>
          <p:nvPr/>
        </p:nvSpPr>
        <p:spPr>
          <a:xfrm>
            <a:off x="3678398" y="4579751"/>
            <a:ext cx="1834261" cy="1795363"/>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sz="1200" dirty="0">
                <a:solidFill>
                  <a:schemeClr val="bg1">
                    <a:lumMod val="50000"/>
                  </a:schemeClr>
                </a:solidFill>
                <a:latin typeface="Calibri" panose="020F0502020204030204" pitchFamily="34" charset="0"/>
                <a:cs typeface="Calibri" panose="020F0502020204030204" pitchFamily="34" charset="0"/>
              </a:rPr>
              <a:t>Raymond is the one who makes you see through the real potential of product from </a:t>
            </a:r>
            <a:r>
              <a:rPr lang="en-US" sz="1200" dirty="0" err="1">
                <a:solidFill>
                  <a:schemeClr val="bg1">
                    <a:lumMod val="50000"/>
                  </a:schemeClr>
                </a:solidFill>
                <a:latin typeface="Calibri" panose="020F0502020204030204" pitchFamily="34" charset="0"/>
                <a:cs typeface="Calibri" panose="020F0502020204030204" pitchFamily="34" charset="0"/>
              </a:rPr>
              <a:t>Vinchin</a:t>
            </a:r>
            <a:r>
              <a:rPr lang="en-US" sz="1200" dirty="0">
                <a:solidFill>
                  <a:schemeClr val="bg1">
                    <a:lumMod val="50000"/>
                  </a:schemeClr>
                </a:solidFill>
                <a:latin typeface="Calibri" panose="020F0502020204030204" pitchFamily="34" charset="0"/>
                <a:cs typeface="Calibri" panose="020F0502020204030204" pitchFamily="34" charset="0"/>
              </a:rPr>
              <a:t>. With strong capability </a:t>
            </a:r>
            <a:r>
              <a:rPr lang="en-US" sz="1200" dirty="0" smtClean="0">
                <a:solidFill>
                  <a:schemeClr val="bg1">
                    <a:lumMod val="50000"/>
                  </a:schemeClr>
                </a:solidFill>
                <a:latin typeface="Calibri" panose="020F0502020204030204" pitchFamily="34" charset="0"/>
                <a:cs typeface="Calibri" panose="020F0502020204030204" pitchFamily="34" charset="0"/>
              </a:rPr>
              <a:t>to </a:t>
            </a:r>
            <a:r>
              <a:rPr lang="en-US" sz="1200" dirty="0">
                <a:solidFill>
                  <a:schemeClr val="bg1">
                    <a:lumMod val="50000"/>
                  </a:schemeClr>
                </a:solidFill>
                <a:latin typeface="Calibri" panose="020F0502020204030204" pitchFamily="34" charset="0"/>
                <a:cs typeface="Calibri" panose="020F0502020204030204" pitchFamily="34" charset="0"/>
              </a:rPr>
              <a:t>exploit </a:t>
            </a:r>
            <a:r>
              <a:rPr lang="en-US" sz="1200" dirty="0" smtClean="0">
                <a:solidFill>
                  <a:schemeClr val="bg1">
                    <a:lumMod val="50000"/>
                  </a:schemeClr>
                </a:solidFill>
                <a:latin typeface="Calibri" panose="020F0502020204030204" pitchFamily="34" charset="0"/>
                <a:cs typeface="Calibri" panose="020F0502020204030204" pitchFamily="34" charset="0"/>
              </a:rPr>
              <a:t>the business opportunities, </a:t>
            </a:r>
            <a:r>
              <a:rPr lang="en-US" sz="1200" dirty="0">
                <a:solidFill>
                  <a:schemeClr val="bg1">
                    <a:lumMod val="50000"/>
                  </a:schemeClr>
                </a:solidFill>
                <a:latin typeface="Calibri" panose="020F0502020204030204" pitchFamily="34" charset="0"/>
                <a:cs typeface="Calibri" panose="020F0502020204030204" pitchFamily="34" charset="0"/>
              </a:rPr>
              <a:t>he continues to bring </a:t>
            </a:r>
            <a:r>
              <a:rPr lang="en-US" sz="1200" dirty="0" smtClean="0">
                <a:solidFill>
                  <a:schemeClr val="bg1">
                    <a:lumMod val="50000"/>
                  </a:schemeClr>
                </a:solidFill>
                <a:latin typeface="Calibri" panose="020F0502020204030204" pitchFamily="34" charset="0"/>
                <a:cs typeface="Calibri" panose="020F0502020204030204" pitchFamily="34" charset="0"/>
              </a:rPr>
              <a:t>innumerable </a:t>
            </a:r>
            <a:r>
              <a:rPr lang="en-US" sz="1200" dirty="0">
                <a:solidFill>
                  <a:schemeClr val="bg1">
                    <a:lumMod val="50000"/>
                  </a:schemeClr>
                </a:solidFill>
                <a:latin typeface="Calibri" panose="020F0502020204030204" pitchFamily="34" charset="0"/>
                <a:cs typeface="Calibri" panose="020F0502020204030204" pitchFamily="34" charset="0"/>
              </a:rPr>
              <a:t>product values of </a:t>
            </a:r>
            <a:r>
              <a:rPr lang="en-US" sz="1200" dirty="0" err="1">
                <a:solidFill>
                  <a:schemeClr val="bg1">
                    <a:lumMod val="50000"/>
                  </a:schemeClr>
                </a:solidFill>
                <a:latin typeface="Calibri" panose="020F0502020204030204" pitchFamily="34" charset="0"/>
                <a:cs typeface="Calibri" panose="020F0502020204030204" pitchFamily="34" charset="0"/>
              </a:rPr>
              <a:t>Vinchin</a:t>
            </a:r>
            <a:r>
              <a:rPr lang="en-US" sz="1200" dirty="0">
                <a:solidFill>
                  <a:schemeClr val="bg1">
                    <a:lumMod val="50000"/>
                  </a:schemeClr>
                </a:solidFill>
                <a:latin typeface="Calibri" panose="020F0502020204030204" pitchFamily="34" charset="0"/>
                <a:cs typeface="Calibri" panose="020F0502020204030204" pitchFamily="34" charset="0"/>
              </a:rPr>
              <a:t> within overall national market.</a:t>
            </a:r>
          </a:p>
        </p:txBody>
      </p:sp>
      <p:sp>
        <p:nvSpPr>
          <p:cNvPr id="41" name="TextBox 11"/>
          <p:cNvSpPr txBox="1"/>
          <p:nvPr/>
        </p:nvSpPr>
        <p:spPr>
          <a:xfrm>
            <a:off x="6337918" y="4579751"/>
            <a:ext cx="1834261" cy="1795363"/>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sz="1200" dirty="0">
                <a:solidFill>
                  <a:schemeClr val="bg1">
                    <a:lumMod val="50000"/>
                  </a:schemeClr>
                </a:solidFill>
                <a:latin typeface="Calibri" panose="020F0502020204030204" pitchFamily="34" charset="0"/>
                <a:cs typeface="Calibri" panose="020F0502020204030204" pitchFamily="34" charset="0"/>
              </a:rPr>
              <a:t>Peter is instrumental for construction of solid IT infrastructure to ensure </a:t>
            </a:r>
            <a:r>
              <a:rPr lang="en-US" sz="1200" dirty="0" err="1">
                <a:solidFill>
                  <a:schemeClr val="bg1">
                    <a:lumMod val="50000"/>
                  </a:schemeClr>
                </a:solidFill>
                <a:latin typeface="Calibri" panose="020F0502020204030204" pitchFamily="34" charset="0"/>
                <a:cs typeface="Calibri" panose="020F0502020204030204" pitchFamily="34" charset="0"/>
              </a:rPr>
              <a:t>Vinchin's</a:t>
            </a:r>
            <a:r>
              <a:rPr lang="en-US" sz="1200" dirty="0">
                <a:solidFill>
                  <a:schemeClr val="bg1">
                    <a:lumMod val="50000"/>
                  </a:schemeClr>
                </a:solidFill>
                <a:latin typeface="Calibri" panose="020F0502020204030204" pitchFamily="34" charset="0"/>
                <a:cs typeface="Calibri" panose="020F0502020204030204" pitchFamily="34" charset="0"/>
              </a:rPr>
              <a:t> excellent performance, by taking full advantage of his rich </a:t>
            </a:r>
            <a:r>
              <a:rPr lang="en-US" sz="1200" dirty="0" smtClean="0">
                <a:solidFill>
                  <a:schemeClr val="bg1">
                    <a:lumMod val="50000"/>
                  </a:schemeClr>
                </a:solidFill>
                <a:latin typeface="Calibri" panose="020F0502020204030204" pitchFamily="34" charset="0"/>
                <a:cs typeface="Calibri" panose="020F0502020204030204" pitchFamily="34" charset="0"/>
              </a:rPr>
              <a:t>experience </a:t>
            </a:r>
            <a:r>
              <a:rPr lang="en-US" sz="1200" dirty="0">
                <a:solidFill>
                  <a:schemeClr val="bg1">
                    <a:lumMod val="50000"/>
                  </a:schemeClr>
                </a:solidFill>
                <a:latin typeface="Calibri" panose="020F0502020204030204" pitchFamily="34" charset="0"/>
                <a:cs typeface="Calibri" panose="020F0502020204030204" pitchFamily="34" charset="0"/>
              </a:rPr>
              <a:t>and </a:t>
            </a:r>
            <a:r>
              <a:rPr lang="en-US" sz="1200" dirty="0" smtClean="0">
                <a:solidFill>
                  <a:schemeClr val="bg1">
                    <a:lumMod val="50000"/>
                  </a:schemeClr>
                </a:solidFill>
                <a:latin typeface="Calibri" panose="020F0502020204030204" pitchFamily="34" charset="0"/>
                <a:cs typeface="Calibri" panose="020F0502020204030204" pitchFamily="34" charset="0"/>
              </a:rPr>
              <a:t>technical </a:t>
            </a:r>
            <a:r>
              <a:rPr lang="en-US" sz="1200" dirty="0">
                <a:solidFill>
                  <a:schemeClr val="bg1">
                    <a:lumMod val="50000"/>
                  </a:schemeClr>
                </a:solidFill>
                <a:latin typeface="Calibri" panose="020F0502020204030204" pitchFamily="34" charset="0"/>
                <a:cs typeface="Calibri" panose="020F0502020204030204" pitchFamily="34" charset="0"/>
              </a:rPr>
              <a:t>skills since 2009, who </a:t>
            </a:r>
            <a:r>
              <a:rPr lang="en-US" sz="1200" dirty="0" smtClean="0">
                <a:solidFill>
                  <a:schemeClr val="bg1">
                    <a:lumMod val="50000"/>
                  </a:schemeClr>
                </a:solidFill>
                <a:latin typeface="Calibri" panose="020F0502020204030204" pitchFamily="34" charset="0"/>
                <a:cs typeface="Calibri" panose="020F0502020204030204" pitchFamily="34" charset="0"/>
              </a:rPr>
              <a:t>previously </a:t>
            </a:r>
            <a:r>
              <a:rPr lang="en-US" sz="1200" dirty="0">
                <a:solidFill>
                  <a:schemeClr val="bg1">
                    <a:lumMod val="50000"/>
                  </a:schemeClr>
                </a:solidFill>
                <a:latin typeface="Calibri" panose="020F0502020204030204" pitchFamily="34" charset="0"/>
                <a:cs typeface="Calibri" panose="020F0502020204030204" pitchFamily="34" charset="0"/>
              </a:rPr>
              <a:t>worked </a:t>
            </a:r>
            <a:r>
              <a:rPr lang="en-US" sz="1200" dirty="0" smtClean="0">
                <a:solidFill>
                  <a:schemeClr val="bg1">
                    <a:lumMod val="50000"/>
                  </a:schemeClr>
                </a:solidFill>
                <a:latin typeface="Calibri" panose="020F0502020204030204" pitchFamily="34" charset="0"/>
                <a:cs typeface="Calibri" panose="020F0502020204030204" pitchFamily="34" charset="0"/>
              </a:rPr>
              <a:t>in </a:t>
            </a:r>
            <a:r>
              <a:rPr lang="en-US" sz="1200" dirty="0">
                <a:solidFill>
                  <a:schemeClr val="bg1">
                    <a:lumMod val="50000"/>
                  </a:schemeClr>
                </a:solidFill>
                <a:latin typeface="Calibri" panose="020F0502020204030204" pitchFamily="34" charset="0"/>
                <a:cs typeface="Calibri" panose="020F0502020204030204" pitchFamily="34" charset="0"/>
              </a:rPr>
              <a:t>Microsoft for 6 years. </a:t>
            </a:r>
          </a:p>
        </p:txBody>
      </p:sp>
      <p:sp>
        <p:nvSpPr>
          <p:cNvPr id="42" name="TextBox 11"/>
          <p:cNvSpPr txBox="1"/>
          <p:nvPr/>
        </p:nvSpPr>
        <p:spPr>
          <a:xfrm>
            <a:off x="9019325" y="4593212"/>
            <a:ext cx="1834261" cy="1436291"/>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sz="1200" dirty="0">
                <a:solidFill>
                  <a:schemeClr val="bg1">
                    <a:lumMod val="50000"/>
                  </a:schemeClr>
                </a:solidFill>
                <a:latin typeface="Calibri" panose="020F0502020204030204" pitchFamily="34" charset="0"/>
                <a:cs typeface="Calibri" panose="020F0502020204030204" pitchFamily="34" charset="0"/>
              </a:rPr>
              <a:t>Well is responsible for </a:t>
            </a:r>
            <a:r>
              <a:rPr lang="en-US" sz="1200" dirty="0" err="1">
                <a:solidFill>
                  <a:schemeClr val="bg1">
                    <a:lumMod val="50000"/>
                  </a:schemeClr>
                </a:solidFill>
                <a:latin typeface="Calibri" panose="020F0502020204030204" pitchFamily="34" charset="0"/>
                <a:cs typeface="Calibri" panose="020F0502020204030204" pitchFamily="34" charset="0"/>
              </a:rPr>
              <a:t>Vinchin's</a:t>
            </a:r>
            <a:r>
              <a:rPr lang="en-US" sz="1200" dirty="0">
                <a:solidFill>
                  <a:schemeClr val="bg1">
                    <a:lumMod val="50000"/>
                  </a:schemeClr>
                </a:solidFill>
                <a:latin typeface="Calibri" panose="020F0502020204030204" pitchFamily="34" charset="0"/>
                <a:cs typeface="Calibri" panose="020F0502020204030204" pitchFamily="34" charset="0"/>
              </a:rPr>
              <a:t> global product </a:t>
            </a:r>
            <a:r>
              <a:rPr lang="en-US" sz="1200" dirty="0" smtClean="0">
                <a:solidFill>
                  <a:schemeClr val="bg1">
                    <a:lumMod val="50000"/>
                  </a:schemeClr>
                </a:solidFill>
                <a:latin typeface="Calibri" panose="020F0502020204030204" pitchFamily="34" charset="0"/>
                <a:cs typeface="Calibri" panose="020F0502020204030204" pitchFamily="34" charset="0"/>
              </a:rPr>
              <a:t>image. </a:t>
            </a:r>
            <a:r>
              <a:rPr lang="en-US" sz="1200" dirty="0">
                <a:solidFill>
                  <a:schemeClr val="bg1">
                    <a:lumMod val="50000"/>
                  </a:schemeClr>
                </a:solidFill>
                <a:latin typeface="Calibri" panose="020F0502020204030204" pitchFamily="34" charset="0"/>
                <a:cs typeface="Calibri" panose="020F0502020204030204" pitchFamily="34" charset="0"/>
              </a:rPr>
              <a:t>As one of the co-founders of </a:t>
            </a:r>
            <a:r>
              <a:rPr lang="en-US" sz="1200" dirty="0" err="1">
                <a:solidFill>
                  <a:schemeClr val="bg1">
                    <a:lumMod val="50000"/>
                  </a:schemeClr>
                </a:solidFill>
                <a:latin typeface="Calibri" panose="020F0502020204030204" pitchFamily="34" charset="0"/>
                <a:cs typeface="Calibri" panose="020F0502020204030204" pitchFamily="34" charset="0"/>
              </a:rPr>
              <a:t>Vinchin</a:t>
            </a:r>
            <a:r>
              <a:rPr lang="en-US" sz="1200" dirty="0">
                <a:solidFill>
                  <a:schemeClr val="bg1">
                    <a:lumMod val="50000"/>
                  </a:schemeClr>
                </a:solidFill>
                <a:latin typeface="Calibri" panose="020F0502020204030204" pitchFamily="34" charset="0"/>
                <a:cs typeface="Calibri" panose="020F0502020204030204" pitchFamily="34" charset="0"/>
              </a:rPr>
              <a:t>, he is consistent to </a:t>
            </a:r>
            <a:r>
              <a:rPr lang="en-US" sz="1200" dirty="0" smtClean="0">
                <a:solidFill>
                  <a:schemeClr val="bg1">
                    <a:lumMod val="50000"/>
                  </a:schemeClr>
                </a:solidFill>
                <a:latin typeface="Calibri" panose="020F0502020204030204" pitchFamily="34" charset="0"/>
                <a:cs typeface="Calibri" panose="020F0502020204030204" pitchFamily="34" charset="0"/>
              </a:rPr>
              <a:t>discover </a:t>
            </a:r>
            <a:r>
              <a:rPr lang="en-US" sz="1200" dirty="0">
                <a:solidFill>
                  <a:schemeClr val="bg1">
                    <a:lumMod val="50000"/>
                  </a:schemeClr>
                </a:solidFill>
                <a:latin typeface="Calibri" panose="020F0502020204030204" pitchFamily="34" charset="0"/>
                <a:cs typeface="Calibri" panose="020F0502020204030204" pitchFamily="34" charset="0"/>
              </a:rPr>
              <a:t>new paths for </a:t>
            </a:r>
            <a:r>
              <a:rPr lang="en-US" sz="1200" dirty="0" err="1">
                <a:solidFill>
                  <a:schemeClr val="bg1">
                    <a:lumMod val="50000"/>
                  </a:schemeClr>
                </a:solidFill>
                <a:latin typeface="Calibri" panose="020F0502020204030204" pitchFamily="34" charset="0"/>
                <a:cs typeface="Calibri" panose="020F0502020204030204" pitchFamily="34" charset="0"/>
              </a:rPr>
              <a:t>Vinchin</a:t>
            </a:r>
            <a:r>
              <a:rPr lang="en-US" sz="1200" dirty="0">
                <a:solidFill>
                  <a:schemeClr val="bg1">
                    <a:lumMod val="50000"/>
                  </a:schemeClr>
                </a:solidFill>
                <a:latin typeface="Calibri" panose="020F0502020204030204" pitchFamily="34" charset="0"/>
                <a:cs typeface="Calibri" panose="020F0502020204030204" pitchFamily="34" charset="0"/>
              </a:rPr>
              <a:t> to realize best customer </a:t>
            </a:r>
            <a:r>
              <a:rPr lang="en-US" sz="1200" dirty="0" smtClean="0">
                <a:solidFill>
                  <a:schemeClr val="bg1">
                    <a:lumMod val="50000"/>
                  </a:schemeClr>
                </a:solidFill>
                <a:latin typeface="Calibri" panose="020F0502020204030204" pitchFamily="34" charset="0"/>
                <a:cs typeface="Calibri" panose="020F0502020204030204" pitchFamily="34" charset="0"/>
              </a:rPr>
              <a:t>satisfaction </a:t>
            </a:r>
            <a:r>
              <a:rPr lang="en-US" sz="1200" dirty="0">
                <a:solidFill>
                  <a:schemeClr val="bg1">
                    <a:lumMod val="50000"/>
                  </a:schemeClr>
                </a:solidFill>
                <a:latin typeface="Calibri" panose="020F0502020204030204" pitchFamily="34" charset="0"/>
                <a:cs typeface="Calibri" panose="020F0502020204030204" pitchFamily="34" charset="0"/>
              </a:rPr>
              <a:t>and business optimization.</a:t>
            </a:r>
          </a:p>
        </p:txBody>
      </p:sp>
      <p:pic>
        <p:nvPicPr>
          <p:cNvPr id="13" name="图片占位符 12"/>
          <p:cNvPicPr>
            <a:picLocks noGrp="1" noChangeAspect="1"/>
          </p:cNvPicPr>
          <p:nvPr>
            <p:ph type="pic" sz="quarter" idx="10"/>
          </p:nvPr>
        </p:nvPicPr>
        <p:blipFill>
          <a:blip r:embed="rId3"/>
          <a:srcRect/>
          <a:stretch>
            <a:fillRect/>
          </a:stretch>
        </p:blipFill>
        <p:spPr>
          <a:xfrm>
            <a:off x="1065796" y="1304343"/>
            <a:ext cx="1672720" cy="1617064"/>
          </a:xfrm>
        </p:spPr>
      </p:pic>
      <p:pic>
        <p:nvPicPr>
          <p:cNvPr id="15" name="图片占位符 14"/>
          <p:cNvPicPr>
            <a:picLocks noGrp="1" noChangeAspect="1"/>
          </p:cNvPicPr>
          <p:nvPr>
            <p:ph type="pic" sz="quarter" idx="11"/>
          </p:nvPr>
        </p:nvPicPr>
        <p:blipFill>
          <a:blip r:embed="rId4"/>
          <a:srcRect/>
          <a:stretch>
            <a:fillRect/>
          </a:stretch>
        </p:blipFill>
        <p:spPr>
          <a:xfrm>
            <a:off x="3743896" y="1304345"/>
            <a:ext cx="1672720" cy="1617064"/>
          </a:xfrm>
        </p:spPr>
      </p:pic>
      <p:pic>
        <p:nvPicPr>
          <p:cNvPr id="17" name="图片占位符 16"/>
          <p:cNvPicPr>
            <a:picLocks noGrp="1" noChangeAspect="1"/>
          </p:cNvPicPr>
          <p:nvPr>
            <p:ph type="pic" sz="quarter" idx="12"/>
          </p:nvPr>
        </p:nvPicPr>
        <p:blipFill>
          <a:blip r:embed="rId5"/>
          <a:srcRect/>
          <a:stretch>
            <a:fillRect/>
          </a:stretch>
        </p:blipFill>
        <p:spPr>
          <a:xfrm>
            <a:off x="6421996" y="1304345"/>
            <a:ext cx="1672720" cy="1617064"/>
          </a:xfrm>
        </p:spPr>
      </p:pic>
      <p:pic>
        <p:nvPicPr>
          <p:cNvPr id="20" name="图片占位符 19"/>
          <p:cNvPicPr>
            <a:picLocks noGrp="1" noChangeAspect="1"/>
          </p:cNvPicPr>
          <p:nvPr>
            <p:ph type="pic" sz="quarter" idx="13"/>
          </p:nvPr>
        </p:nvPicPr>
        <p:blipFill>
          <a:blip r:embed="rId6"/>
          <a:srcRect/>
          <a:stretch>
            <a:fillRect/>
          </a:stretch>
        </p:blipFill>
        <p:spPr>
          <a:xfrm>
            <a:off x="9103446" y="1304345"/>
            <a:ext cx="1672720" cy="1617064"/>
          </a:xfrm>
        </p:spPr>
      </p:pic>
      <p:sp>
        <p:nvSpPr>
          <p:cNvPr id="24" name="矩形 23"/>
          <p:cNvSpPr/>
          <p:nvPr/>
        </p:nvSpPr>
        <p:spPr>
          <a:xfrm>
            <a:off x="1281246" y="3581530"/>
            <a:ext cx="1241815" cy="523220"/>
          </a:xfrm>
          <a:prstGeom prst="rect">
            <a:avLst/>
          </a:prstGeom>
        </p:spPr>
        <p:txBody>
          <a:bodyPr wrap="none">
            <a:spAutoFit/>
          </a:bodyPr>
          <a:lstStyle/>
          <a:p>
            <a:pPr algn="ctr"/>
            <a:r>
              <a:rPr lang="en-US" altLang="zh-CN" sz="1400" dirty="0" smtClean="0">
                <a:solidFill>
                  <a:srgbClr val="319295"/>
                </a:solidFill>
                <a:latin typeface="Calibri" panose="020F0502020204030204" pitchFamily="34" charset="0"/>
                <a:cs typeface="Calibri" panose="020F0502020204030204" pitchFamily="34" charset="0"/>
              </a:rPr>
              <a:t>Co-Founder &amp; </a:t>
            </a:r>
          </a:p>
          <a:p>
            <a:pPr algn="ctr"/>
            <a:r>
              <a:rPr lang="en-US" altLang="zh-CN" sz="1400" dirty="0" smtClean="0">
                <a:solidFill>
                  <a:srgbClr val="319295"/>
                </a:solidFill>
                <a:latin typeface="Calibri" panose="020F0502020204030204" pitchFamily="34" charset="0"/>
                <a:cs typeface="Calibri" panose="020F0502020204030204" pitchFamily="34" charset="0"/>
              </a:rPr>
              <a:t>CTO</a:t>
            </a:r>
            <a:endParaRPr lang="zh-CN" altLang="en-US" sz="1400" dirty="0">
              <a:solidFill>
                <a:srgbClr val="319295"/>
              </a:solidFill>
              <a:latin typeface="Calibri" panose="020F0502020204030204" pitchFamily="34" charset="0"/>
              <a:cs typeface="Calibri" panose="020F0502020204030204" pitchFamily="34" charset="0"/>
            </a:endParaRPr>
          </a:p>
        </p:txBody>
      </p:sp>
      <p:grpSp>
        <p:nvGrpSpPr>
          <p:cNvPr id="30" name="组合 29"/>
          <p:cNvGrpSpPr/>
          <p:nvPr/>
        </p:nvGrpSpPr>
        <p:grpSpPr>
          <a:xfrm>
            <a:off x="985025" y="3132903"/>
            <a:ext cx="1834261" cy="396000"/>
            <a:chOff x="1161724" y="1738355"/>
            <a:chExt cx="1834261" cy="396000"/>
          </a:xfrm>
        </p:grpSpPr>
        <p:sp>
          <p:nvSpPr>
            <p:cNvPr id="47" name="Freeform: Shape 39"/>
            <p:cNvSpPr/>
            <p:nvPr/>
          </p:nvSpPr>
          <p:spPr>
            <a:xfrm>
              <a:off x="1161724" y="1738355"/>
              <a:ext cx="1834261" cy="396000"/>
            </a:xfrm>
            <a:prstGeom prst="roundRect">
              <a:avLst>
                <a:gd name="adj" fmla="val 50000"/>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t">
              <a:normAutofit fontScale="92500" lnSpcReduction="20000"/>
            </a:bodyPr>
            <a:lstStyle/>
            <a:p>
              <a:pPr algn="ctr"/>
              <a:endParaRPr lang="zh-CN" altLang="en-US" sz="1600" b="1" dirty="0">
                <a:solidFill>
                  <a:schemeClr val="bg1">
                    <a:lumMod val="95000"/>
                  </a:schemeClr>
                </a:solidFill>
                <a:latin typeface="Calibri" panose="020F0502020204030204" pitchFamily="34" charset="0"/>
                <a:cs typeface="Calibri" panose="020F0502020204030204" pitchFamily="34" charset="0"/>
              </a:endParaRPr>
            </a:p>
          </p:txBody>
        </p:sp>
        <p:sp>
          <p:nvSpPr>
            <p:cNvPr id="48" name="TextBox 11"/>
            <p:cNvSpPr txBox="1"/>
            <p:nvPr/>
          </p:nvSpPr>
          <p:spPr>
            <a:xfrm>
              <a:off x="1242502" y="1797855"/>
              <a:ext cx="1672720" cy="246221"/>
            </a:xfrm>
            <a:prstGeom prst="rect">
              <a:avLst/>
            </a:prstGeom>
            <a:noFill/>
          </p:spPr>
          <p:txBody>
            <a:bodyPr wrap="square" lIns="0" tIns="0" rIns="0" bIns="0" rtlCol="0">
              <a:spAutoFit/>
              <a:scene3d>
                <a:camera prst="orthographicFront"/>
                <a:lightRig rig="threePt" dir="t"/>
              </a:scene3d>
              <a:sp3d contourW="12700"/>
            </a:bodyPr>
            <a:lstStyle/>
            <a:p>
              <a:pPr algn="ctr"/>
              <a:r>
                <a:rPr lang="en-US" sz="1600" dirty="0" err="1" smtClean="0">
                  <a:solidFill>
                    <a:schemeClr val="bg1"/>
                  </a:solidFill>
                  <a:latin typeface="Calibri" panose="020F0502020204030204" pitchFamily="34" charset="0"/>
                  <a:cs typeface="Calibri" panose="020F0502020204030204" pitchFamily="34" charset="0"/>
                </a:rPr>
                <a:t>Chuanbo.H</a:t>
              </a:r>
              <a:endParaRPr lang="en-US" sz="1600" dirty="0">
                <a:solidFill>
                  <a:schemeClr val="bg1"/>
                </a:solidFill>
                <a:latin typeface="Calibri" panose="020F0502020204030204" pitchFamily="34" charset="0"/>
                <a:cs typeface="Calibri" panose="020F0502020204030204" pitchFamily="34" charset="0"/>
              </a:endParaRPr>
            </a:p>
          </p:txBody>
        </p:sp>
      </p:grpSp>
      <p:grpSp>
        <p:nvGrpSpPr>
          <p:cNvPr id="49" name="组合 48"/>
          <p:cNvGrpSpPr/>
          <p:nvPr/>
        </p:nvGrpSpPr>
        <p:grpSpPr>
          <a:xfrm>
            <a:off x="3663125" y="3117513"/>
            <a:ext cx="1834261" cy="396000"/>
            <a:chOff x="1161724" y="1738355"/>
            <a:chExt cx="1834261" cy="396000"/>
          </a:xfrm>
        </p:grpSpPr>
        <p:sp>
          <p:nvSpPr>
            <p:cNvPr id="50" name="Freeform: Shape 39"/>
            <p:cNvSpPr/>
            <p:nvPr/>
          </p:nvSpPr>
          <p:spPr>
            <a:xfrm>
              <a:off x="1161724" y="1738355"/>
              <a:ext cx="1834261" cy="396000"/>
            </a:xfrm>
            <a:prstGeom prst="roundRect">
              <a:avLst>
                <a:gd name="adj" fmla="val 50000"/>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t">
              <a:normAutofit fontScale="92500" lnSpcReduction="20000"/>
            </a:bodyPr>
            <a:lstStyle/>
            <a:p>
              <a:pPr algn="ctr"/>
              <a:endParaRPr lang="zh-CN" altLang="en-US" sz="1600" b="1" dirty="0">
                <a:solidFill>
                  <a:schemeClr val="bg1">
                    <a:lumMod val="95000"/>
                  </a:schemeClr>
                </a:solidFill>
                <a:latin typeface="Calibri" panose="020F0502020204030204" pitchFamily="34" charset="0"/>
                <a:cs typeface="Calibri" panose="020F0502020204030204" pitchFamily="34" charset="0"/>
              </a:endParaRPr>
            </a:p>
          </p:txBody>
        </p:sp>
        <p:sp>
          <p:nvSpPr>
            <p:cNvPr id="51" name="TextBox 11"/>
            <p:cNvSpPr txBox="1"/>
            <p:nvPr/>
          </p:nvSpPr>
          <p:spPr>
            <a:xfrm>
              <a:off x="1242502" y="1797855"/>
              <a:ext cx="1672720" cy="246221"/>
            </a:xfrm>
            <a:prstGeom prst="rect">
              <a:avLst/>
            </a:prstGeom>
            <a:noFill/>
          </p:spPr>
          <p:txBody>
            <a:bodyPr wrap="square" lIns="0" tIns="0" rIns="0" bIns="0" rtlCol="0">
              <a:spAutoFit/>
              <a:scene3d>
                <a:camera prst="orthographicFront"/>
                <a:lightRig rig="threePt" dir="t"/>
              </a:scene3d>
              <a:sp3d contourW="12700"/>
            </a:bodyPr>
            <a:lstStyle/>
            <a:p>
              <a:pPr algn="ctr"/>
              <a:r>
                <a:rPr lang="en-US" sz="1600" dirty="0" err="1" smtClean="0">
                  <a:solidFill>
                    <a:schemeClr val="bg1"/>
                  </a:solidFill>
                  <a:latin typeface="Calibri" panose="020F0502020204030204" pitchFamily="34" charset="0"/>
                  <a:cs typeface="Calibri" panose="020F0502020204030204" pitchFamily="34" charset="0"/>
                </a:rPr>
                <a:t>Lei.Tu</a:t>
              </a:r>
              <a:endParaRPr lang="en-US" sz="1600" dirty="0">
                <a:solidFill>
                  <a:schemeClr val="bg1"/>
                </a:solidFill>
                <a:latin typeface="Calibri" panose="020F0502020204030204" pitchFamily="34" charset="0"/>
                <a:cs typeface="Calibri" panose="020F0502020204030204" pitchFamily="34" charset="0"/>
              </a:endParaRPr>
            </a:p>
          </p:txBody>
        </p:sp>
      </p:grpSp>
      <p:sp>
        <p:nvSpPr>
          <p:cNvPr id="52" name="矩形 51"/>
          <p:cNvSpPr/>
          <p:nvPr/>
        </p:nvSpPr>
        <p:spPr>
          <a:xfrm>
            <a:off x="3657439" y="3555728"/>
            <a:ext cx="1767343" cy="523220"/>
          </a:xfrm>
          <a:prstGeom prst="rect">
            <a:avLst/>
          </a:prstGeom>
        </p:spPr>
        <p:txBody>
          <a:bodyPr wrap="none">
            <a:spAutoFit/>
          </a:bodyPr>
          <a:lstStyle/>
          <a:p>
            <a:pPr algn="ctr"/>
            <a:r>
              <a:rPr lang="en-US" altLang="zh-CN" sz="1400" dirty="0" smtClean="0">
                <a:solidFill>
                  <a:srgbClr val="319295"/>
                </a:solidFill>
                <a:latin typeface="Calibri" panose="020F0502020204030204" pitchFamily="34" charset="0"/>
                <a:cs typeface="Calibri" panose="020F0502020204030204" pitchFamily="34" charset="0"/>
              </a:rPr>
              <a:t>Co-Founder &amp; </a:t>
            </a:r>
          </a:p>
          <a:p>
            <a:pPr algn="ctr"/>
            <a:r>
              <a:rPr lang="en-US" altLang="zh-CN" sz="1400" dirty="0" smtClean="0">
                <a:solidFill>
                  <a:srgbClr val="319295"/>
                </a:solidFill>
                <a:latin typeface="Calibri" panose="020F0502020204030204" pitchFamily="34" charset="0"/>
                <a:cs typeface="Calibri" panose="020F0502020204030204" pitchFamily="34" charset="0"/>
              </a:rPr>
              <a:t>Chief Revenue Officer</a:t>
            </a:r>
            <a:endParaRPr lang="zh-CN" altLang="en-US" sz="1400" dirty="0">
              <a:solidFill>
                <a:srgbClr val="319295"/>
              </a:solidFill>
              <a:latin typeface="Calibri" panose="020F0502020204030204" pitchFamily="34" charset="0"/>
              <a:cs typeface="Calibri" panose="020F0502020204030204" pitchFamily="34" charset="0"/>
            </a:endParaRPr>
          </a:p>
        </p:txBody>
      </p:sp>
      <p:grpSp>
        <p:nvGrpSpPr>
          <p:cNvPr id="56" name="组合 55"/>
          <p:cNvGrpSpPr/>
          <p:nvPr/>
        </p:nvGrpSpPr>
        <p:grpSpPr>
          <a:xfrm>
            <a:off x="6341225" y="3117513"/>
            <a:ext cx="1834261" cy="396000"/>
            <a:chOff x="1161724" y="1738355"/>
            <a:chExt cx="1834261" cy="396000"/>
          </a:xfrm>
        </p:grpSpPr>
        <p:sp>
          <p:nvSpPr>
            <p:cNvPr id="57" name="Freeform: Shape 39"/>
            <p:cNvSpPr/>
            <p:nvPr/>
          </p:nvSpPr>
          <p:spPr>
            <a:xfrm>
              <a:off x="1161724" y="1738355"/>
              <a:ext cx="1834261" cy="396000"/>
            </a:xfrm>
            <a:prstGeom prst="roundRect">
              <a:avLst>
                <a:gd name="adj" fmla="val 50000"/>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t">
              <a:normAutofit fontScale="92500" lnSpcReduction="20000"/>
            </a:bodyPr>
            <a:lstStyle/>
            <a:p>
              <a:pPr algn="ctr"/>
              <a:endParaRPr lang="zh-CN" altLang="en-US" sz="1600" b="1" dirty="0">
                <a:solidFill>
                  <a:schemeClr val="bg1">
                    <a:lumMod val="95000"/>
                  </a:schemeClr>
                </a:solidFill>
                <a:latin typeface="Calibri" panose="020F0502020204030204" pitchFamily="34" charset="0"/>
                <a:cs typeface="Calibri" panose="020F0502020204030204" pitchFamily="34" charset="0"/>
              </a:endParaRPr>
            </a:p>
          </p:txBody>
        </p:sp>
        <p:sp>
          <p:nvSpPr>
            <p:cNvPr id="58" name="TextBox 11"/>
            <p:cNvSpPr txBox="1"/>
            <p:nvPr/>
          </p:nvSpPr>
          <p:spPr>
            <a:xfrm>
              <a:off x="1242502" y="1797855"/>
              <a:ext cx="1672720" cy="246221"/>
            </a:xfrm>
            <a:prstGeom prst="rect">
              <a:avLst/>
            </a:prstGeom>
            <a:noFill/>
          </p:spPr>
          <p:txBody>
            <a:bodyPr wrap="square" lIns="0" tIns="0" rIns="0" bIns="0" rtlCol="0">
              <a:spAutoFit/>
              <a:scene3d>
                <a:camera prst="orthographicFront"/>
                <a:lightRig rig="threePt" dir="t"/>
              </a:scene3d>
              <a:sp3d contourW="12700"/>
            </a:bodyPr>
            <a:lstStyle/>
            <a:p>
              <a:pPr algn="ctr"/>
              <a:r>
                <a:rPr lang="en-US" sz="1600" dirty="0" smtClean="0">
                  <a:solidFill>
                    <a:schemeClr val="bg1"/>
                  </a:solidFill>
                  <a:latin typeface="Calibri" panose="020F0502020204030204" pitchFamily="34" charset="0"/>
                  <a:cs typeface="Calibri" panose="020F0502020204030204" pitchFamily="34" charset="0"/>
                </a:rPr>
                <a:t>Peter </a:t>
              </a:r>
              <a:r>
                <a:rPr lang="en-US" sz="1600" dirty="0" err="1" smtClean="0">
                  <a:solidFill>
                    <a:schemeClr val="bg1"/>
                  </a:solidFill>
                  <a:latin typeface="Calibri" panose="020F0502020204030204" pitchFamily="34" charset="0"/>
                  <a:cs typeface="Calibri" panose="020F0502020204030204" pitchFamily="34" charset="0"/>
                </a:rPr>
                <a:t>Xie</a:t>
              </a:r>
              <a:endParaRPr lang="en-US" sz="1600" dirty="0">
                <a:solidFill>
                  <a:schemeClr val="bg1"/>
                </a:solidFill>
                <a:latin typeface="Calibri" panose="020F0502020204030204" pitchFamily="34" charset="0"/>
                <a:cs typeface="Calibri" panose="020F0502020204030204" pitchFamily="34" charset="0"/>
              </a:endParaRPr>
            </a:p>
          </p:txBody>
        </p:sp>
      </p:grpSp>
      <p:grpSp>
        <p:nvGrpSpPr>
          <p:cNvPr id="59" name="组合 58"/>
          <p:cNvGrpSpPr/>
          <p:nvPr/>
        </p:nvGrpSpPr>
        <p:grpSpPr>
          <a:xfrm>
            <a:off x="9019325" y="3120265"/>
            <a:ext cx="1834261" cy="396000"/>
            <a:chOff x="1161724" y="1738355"/>
            <a:chExt cx="1834261" cy="396000"/>
          </a:xfrm>
        </p:grpSpPr>
        <p:sp>
          <p:nvSpPr>
            <p:cNvPr id="60" name="Freeform: Shape 39"/>
            <p:cNvSpPr/>
            <p:nvPr/>
          </p:nvSpPr>
          <p:spPr>
            <a:xfrm>
              <a:off x="1161724" y="1738355"/>
              <a:ext cx="1834261" cy="396000"/>
            </a:xfrm>
            <a:prstGeom prst="roundRect">
              <a:avLst>
                <a:gd name="adj" fmla="val 50000"/>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t">
              <a:normAutofit fontScale="92500" lnSpcReduction="20000"/>
            </a:bodyPr>
            <a:lstStyle/>
            <a:p>
              <a:pPr algn="ctr"/>
              <a:endParaRPr lang="zh-CN" altLang="en-US" sz="1600" b="1" dirty="0">
                <a:solidFill>
                  <a:schemeClr val="bg1">
                    <a:lumMod val="95000"/>
                  </a:schemeClr>
                </a:solidFill>
                <a:latin typeface="Calibri" panose="020F0502020204030204" pitchFamily="34" charset="0"/>
                <a:cs typeface="Calibri" panose="020F0502020204030204" pitchFamily="34" charset="0"/>
              </a:endParaRPr>
            </a:p>
          </p:txBody>
        </p:sp>
        <p:sp>
          <p:nvSpPr>
            <p:cNvPr id="61" name="TextBox 11"/>
            <p:cNvSpPr txBox="1"/>
            <p:nvPr/>
          </p:nvSpPr>
          <p:spPr>
            <a:xfrm>
              <a:off x="1242502" y="1797855"/>
              <a:ext cx="1672720" cy="246221"/>
            </a:xfrm>
            <a:prstGeom prst="rect">
              <a:avLst/>
            </a:prstGeom>
            <a:noFill/>
          </p:spPr>
          <p:txBody>
            <a:bodyPr wrap="square" lIns="0" tIns="0" rIns="0" bIns="0" rtlCol="0">
              <a:spAutoFit/>
              <a:scene3d>
                <a:camera prst="orthographicFront"/>
                <a:lightRig rig="threePt" dir="t"/>
              </a:scene3d>
              <a:sp3d contourW="12700"/>
            </a:bodyPr>
            <a:lstStyle/>
            <a:p>
              <a:pPr algn="ctr"/>
              <a:r>
                <a:rPr lang="en-US" sz="1600" dirty="0" smtClean="0">
                  <a:solidFill>
                    <a:schemeClr val="bg1"/>
                  </a:solidFill>
                  <a:latin typeface="Calibri" panose="020F0502020204030204" pitchFamily="34" charset="0"/>
                  <a:cs typeface="Calibri" panose="020F0502020204030204" pitchFamily="34" charset="0"/>
                </a:rPr>
                <a:t>Well </a:t>
              </a:r>
              <a:r>
                <a:rPr lang="en-US" sz="1600" dirty="0" err="1" smtClean="0">
                  <a:solidFill>
                    <a:schemeClr val="bg1"/>
                  </a:solidFill>
                  <a:latin typeface="Calibri" panose="020F0502020204030204" pitchFamily="34" charset="0"/>
                  <a:cs typeface="Calibri" panose="020F0502020204030204" pitchFamily="34" charset="0"/>
                </a:rPr>
                <a:t>Xie</a:t>
              </a:r>
              <a:endParaRPr lang="en-US" sz="1600" dirty="0">
                <a:solidFill>
                  <a:schemeClr val="bg1"/>
                </a:solidFill>
                <a:latin typeface="Calibri" panose="020F0502020204030204" pitchFamily="34" charset="0"/>
                <a:cs typeface="Calibri" panose="020F0502020204030204" pitchFamily="34" charset="0"/>
              </a:endParaRPr>
            </a:p>
          </p:txBody>
        </p:sp>
      </p:grpSp>
      <p:sp>
        <p:nvSpPr>
          <p:cNvPr id="62" name="矩形 61"/>
          <p:cNvSpPr/>
          <p:nvPr/>
        </p:nvSpPr>
        <p:spPr>
          <a:xfrm>
            <a:off x="6348237" y="3555728"/>
            <a:ext cx="1820242" cy="523220"/>
          </a:xfrm>
          <a:prstGeom prst="rect">
            <a:avLst/>
          </a:prstGeom>
        </p:spPr>
        <p:txBody>
          <a:bodyPr wrap="none">
            <a:spAutoFit/>
          </a:bodyPr>
          <a:lstStyle/>
          <a:p>
            <a:pPr algn="ctr"/>
            <a:r>
              <a:rPr lang="en-US" altLang="zh-CN" sz="1400" dirty="0" smtClean="0">
                <a:solidFill>
                  <a:srgbClr val="319295"/>
                </a:solidFill>
                <a:latin typeface="Calibri" panose="020F0502020204030204" pitchFamily="34" charset="0"/>
                <a:cs typeface="Calibri" panose="020F0502020204030204" pitchFamily="34" charset="0"/>
              </a:rPr>
              <a:t>Co-Founder &amp; </a:t>
            </a:r>
          </a:p>
          <a:p>
            <a:pPr algn="ctr"/>
            <a:r>
              <a:rPr lang="en-US" altLang="zh-CN" sz="1400" dirty="0" smtClean="0">
                <a:solidFill>
                  <a:srgbClr val="319295"/>
                </a:solidFill>
                <a:latin typeface="Calibri" panose="020F0502020204030204" pitchFamily="34" charset="0"/>
                <a:cs typeface="Calibri" panose="020F0502020204030204" pitchFamily="34" charset="0"/>
              </a:rPr>
              <a:t>Chief System Architect</a:t>
            </a:r>
            <a:endParaRPr lang="zh-CN" altLang="en-US" sz="1400" dirty="0">
              <a:solidFill>
                <a:srgbClr val="319295"/>
              </a:solidFill>
              <a:latin typeface="Calibri" panose="020F0502020204030204" pitchFamily="34" charset="0"/>
              <a:cs typeface="Calibri" panose="020F0502020204030204" pitchFamily="34" charset="0"/>
            </a:endParaRPr>
          </a:p>
        </p:txBody>
      </p:sp>
      <p:sp>
        <p:nvSpPr>
          <p:cNvPr id="63" name="矩形 62"/>
          <p:cNvSpPr/>
          <p:nvPr/>
        </p:nvSpPr>
        <p:spPr>
          <a:xfrm>
            <a:off x="9228999" y="3575765"/>
            <a:ext cx="1568443" cy="523220"/>
          </a:xfrm>
          <a:prstGeom prst="rect">
            <a:avLst/>
          </a:prstGeom>
        </p:spPr>
        <p:txBody>
          <a:bodyPr wrap="none">
            <a:spAutoFit/>
          </a:bodyPr>
          <a:lstStyle/>
          <a:p>
            <a:pPr algn="ctr"/>
            <a:r>
              <a:rPr lang="en-US" altLang="zh-CN" sz="1400" dirty="0" smtClean="0">
                <a:solidFill>
                  <a:srgbClr val="319295"/>
                </a:solidFill>
                <a:latin typeface="Calibri" panose="020F0502020204030204" pitchFamily="34" charset="0"/>
                <a:cs typeface="Calibri" panose="020F0502020204030204" pitchFamily="34" charset="0"/>
              </a:rPr>
              <a:t>Co-Founder &amp; </a:t>
            </a:r>
          </a:p>
          <a:p>
            <a:pPr algn="ctr"/>
            <a:r>
              <a:rPr lang="en-US" altLang="zh-CN" sz="1400" dirty="0" smtClean="0">
                <a:solidFill>
                  <a:srgbClr val="319295"/>
                </a:solidFill>
                <a:latin typeface="Calibri" panose="020F0502020204030204" pitchFamily="34" charset="0"/>
                <a:cs typeface="Calibri" panose="020F0502020204030204" pitchFamily="34" charset="0"/>
              </a:rPr>
              <a:t>Marketing Director</a:t>
            </a:r>
            <a:endParaRPr lang="zh-CN" altLang="en-US" sz="1400" dirty="0">
              <a:solidFill>
                <a:srgbClr val="319295"/>
              </a:solidFill>
              <a:latin typeface="Calibri" panose="020F0502020204030204" pitchFamily="34" charset="0"/>
              <a:cs typeface="Calibri" panose="020F0502020204030204" pitchFamily="34" charset="0"/>
            </a:endParaRPr>
          </a:p>
        </p:txBody>
      </p:sp>
      <p:pic>
        <p:nvPicPr>
          <p:cNvPr id="64" name="图片 63">
            <a:hlinkClick r:id="rId7"/>
          </p:cNvPr>
          <p:cNvPicPr>
            <a:picLocks noChangeAspect="1"/>
          </p:cNvPicPr>
          <p:nvPr/>
        </p:nvPicPr>
        <p:blipFill>
          <a:blip r:embed="rId8"/>
          <a:stretch>
            <a:fillRect/>
          </a:stretch>
        </p:blipFill>
        <p:spPr>
          <a:xfrm>
            <a:off x="1531222" y="4154795"/>
            <a:ext cx="250914" cy="225459"/>
          </a:xfrm>
          <a:prstGeom prst="rect">
            <a:avLst/>
          </a:prstGeom>
        </p:spPr>
      </p:pic>
      <p:pic>
        <p:nvPicPr>
          <p:cNvPr id="65" name="图片 64">
            <a:hlinkClick r:id="rId9"/>
          </p:cNvPr>
          <p:cNvPicPr>
            <a:picLocks noChangeAspect="1"/>
          </p:cNvPicPr>
          <p:nvPr/>
        </p:nvPicPr>
        <p:blipFill>
          <a:blip r:embed="rId10"/>
          <a:stretch>
            <a:fillRect/>
          </a:stretch>
        </p:blipFill>
        <p:spPr>
          <a:xfrm>
            <a:off x="2024231" y="4191159"/>
            <a:ext cx="243641" cy="189095"/>
          </a:xfrm>
          <a:prstGeom prst="rect">
            <a:avLst/>
          </a:prstGeom>
        </p:spPr>
      </p:pic>
      <p:pic>
        <p:nvPicPr>
          <p:cNvPr id="66" name="图片 65">
            <a:hlinkClick r:id="rId11"/>
          </p:cNvPr>
          <p:cNvPicPr>
            <a:picLocks noChangeAspect="1"/>
          </p:cNvPicPr>
          <p:nvPr/>
        </p:nvPicPr>
        <p:blipFill>
          <a:blip r:embed="rId8"/>
          <a:stretch>
            <a:fillRect/>
          </a:stretch>
        </p:blipFill>
        <p:spPr>
          <a:xfrm>
            <a:off x="4158718" y="4118431"/>
            <a:ext cx="250914" cy="225459"/>
          </a:xfrm>
          <a:prstGeom prst="rect">
            <a:avLst/>
          </a:prstGeom>
        </p:spPr>
      </p:pic>
      <p:pic>
        <p:nvPicPr>
          <p:cNvPr id="67" name="图片 66">
            <a:hlinkClick r:id="rId12"/>
          </p:cNvPr>
          <p:cNvPicPr>
            <a:picLocks noChangeAspect="1"/>
          </p:cNvPicPr>
          <p:nvPr/>
        </p:nvPicPr>
        <p:blipFill>
          <a:blip r:embed="rId10"/>
          <a:stretch>
            <a:fillRect/>
          </a:stretch>
        </p:blipFill>
        <p:spPr>
          <a:xfrm>
            <a:off x="4651727" y="4154795"/>
            <a:ext cx="243641" cy="189095"/>
          </a:xfrm>
          <a:prstGeom prst="rect">
            <a:avLst/>
          </a:prstGeom>
        </p:spPr>
      </p:pic>
      <p:pic>
        <p:nvPicPr>
          <p:cNvPr id="68" name="图片 67">
            <a:hlinkClick r:id="rId13"/>
          </p:cNvPr>
          <p:cNvPicPr>
            <a:picLocks noChangeAspect="1"/>
          </p:cNvPicPr>
          <p:nvPr/>
        </p:nvPicPr>
        <p:blipFill>
          <a:blip r:embed="rId8"/>
          <a:stretch>
            <a:fillRect/>
          </a:stretch>
        </p:blipFill>
        <p:spPr>
          <a:xfrm>
            <a:off x="6882018" y="4154795"/>
            <a:ext cx="250914" cy="225459"/>
          </a:xfrm>
          <a:prstGeom prst="rect">
            <a:avLst/>
          </a:prstGeom>
        </p:spPr>
      </p:pic>
      <p:pic>
        <p:nvPicPr>
          <p:cNvPr id="69" name="图片 68">
            <a:hlinkClick r:id="rId14"/>
          </p:cNvPr>
          <p:cNvPicPr>
            <a:picLocks noChangeAspect="1"/>
          </p:cNvPicPr>
          <p:nvPr/>
        </p:nvPicPr>
        <p:blipFill>
          <a:blip r:embed="rId10"/>
          <a:stretch>
            <a:fillRect/>
          </a:stretch>
        </p:blipFill>
        <p:spPr>
          <a:xfrm>
            <a:off x="7375027" y="4191159"/>
            <a:ext cx="243641" cy="189095"/>
          </a:xfrm>
          <a:prstGeom prst="rect">
            <a:avLst/>
          </a:prstGeom>
        </p:spPr>
      </p:pic>
      <p:pic>
        <p:nvPicPr>
          <p:cNvPr id="70" name="图片 69">
            <a:hlinkClick r:id="rId15"/>
          </p:cNvPr>
          <p:cNvPicPr>
            <a:picLocks noChangeAspect="1"/>
          </p:cNvPicPr>
          <p:nvPr/>
        </p:nvPicPr>
        <p:blipFill>
          <a:blip r:embed="rId8"/>
          <a:stretch>
            <a:fillRect/>
          </a:stretch>
        </p:blipFill>
        <p:spPr>
          <a:xfrm>
            <a:off x="9605318" y="4156583"/>
            <a:ext cx="250914" cy="225459"/>
          </a:xfrm>
          <a:prstGeom prst="rect">
            <a:avLst/>
          </a:prstGeom>
        </p:spPr>
      </p:pic>
      <p:pic>
        <p:nvPicPr>
          <p:cNvPr id="71" name="图片 70">
            <a:hlinkClick r:id="rId16"/>
          </p:cNvPr>
          <p:cNvPicPr>
            <a:picLocks noChangeAspect="1"/>
          </p:cNvPicPr>
          <p:nvPr/>
        </p:nvPicPr>
        <p:blipFill>
          <a:blip r:embed="rId10"/>
          <a:stretch>
            <a:fillRect/>
          </a:stretch>
        </p:blipFill>
        <p:spPr>
          <a:xfrm>
            <a:off x="10098327" y="4192947"/>
            <a:ext cx="243641" cy="1890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1000" fill="hold"/>
                                        <p:tgtEl>
                                          <p:spTgt spid="35"/>
                                        </p:tgtEl>
                                        <p:attrNameLst>
                                          <p:attrName>ppt_x</p:attrName>
                                        </p:attrNameLst>
                                      </p:cBhvr>
                                      <p:tavLst>
                                        <p:tav tm="0">
                                          <p:val>
                                            <p:strVal val="1+#ppt_w/2"/>
                                          </p:val>
                                        </p:tav>
                                        <p:tav tm="100000">
                                          <p:val>
                                            <p:strVal val="#ppt_x"/>
                                          </p:val>
                                        </p:tav>
                                      </p:tavLst>
                                    </p:anim>
                                    <p:anim calcmode="lin" valueType="num">
                                      <p:cBhvr additive="base">
                                        <p:cTn id="8" dur="1000" fill="hold"/>
                                        <p:tgtEl>
                                          <p:spTgt spid="3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1000" fill="hold"/>
                                        <p:tgtEl>
                                          <p:spTgt spid="40"/>
                                        </p:tgtEl>
                                        <p:attrNameLst>
                                          <p:attrName>ppt_x</p:attrName>
                                        </p:attrNameLst>
                                      </p:cBhvr>
                                      <p:tavLst>
                                        <p:tav tm="0">
                                          <p:val>
                                            <p:strVal val="1+#ppt_w/2"/>
                                          </p:val>
                                        </p:tav>
                                        <p:tav tm="100000">
                                          <p:val>
                                            <p:strVal val="#ppt_x"/>
                                          </p:val>
                                        </p:tav>
                                      </p:tavLst>
                                    </p:anim>
                                    <p:anim calcmode="lin" valueType="num">
                                      <p:cBhvr additive="base">
                                        <p:cTn id="12" dur="1000" fill="hold"/>
                                        <p:tgtEl>
                                          <p:spTgt spid="40"/>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1000" fill="hold"/>
                                        <p:tgtEl>
                                          <p:spTgt spid="41"/>
                                        </p:tgtEl>
                                        <p:attrNameLst>
                                          <p:attrName>ppt_x</p:attrName>
                                        </p:attrNameLst>
                                      </p:cBhvr>
                                      <p:tavLst>
                                        <p:tav tm="0">
                                          <p:val>
                                            <p:strVal val="1+#ppt_w/2"/>
                                          </p:val>
                                        </p:tav>
                                        <p:tav tm="100000">
                                          <p:val>
                                            <p:strVal val="#ppt_x"/>
                                          </p:val>
                                        </p:tav>
                                      </p:tavLst>
                                    </p:anim>
                                    <p:anim calcmode="lin" valueType="num">
                                      <p:cBhvr additive="base">
                                        <p:cTn id="16" dur="1000" fill="hold"/>
                                        <p:tgtEl>
                                          <p:spTgt spid="41"/>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1000" fill="hold"/>
                                        <p:tgtEl>
                                          <p:spTgt spid="42"/>
                                        </p:tgtEl>
                                        <p:attrNameLst>
                                          <p:attrName>ppt_x</p:attrName>
                                        </p:attrNameLst>
                                      </p:cBhvr>
                                      <p:tavLst>
                                        <p:tav tm="0">
                                          <p:val>
                                            <p:strVal val="1+#ppt_w/2"/>
                                          </p:val>
                                        </p:tav>
                                        <p:tav tm="100000">
                                          <p:val>
                                            <p:strVal val="#ppt_x"/>
                                          </p:val>
                                        </p:tav>
                                      </p:tavLst>
                                    </p:anim>
                                    <p:anim calcmode="lin" valueType="num">
                                      <p:cBhvr additive="base">
                                        <p:cTn id="20" dur="10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0" grpId="0"/>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3"/>
          <a:srcRect/>
          <a:stretch>
            <a:fillRect/>
          </a:stretch>
        </p:blipFill>
        <p:spPr/>
      </p:pic>
      <p:sp>
        <p:nvSpPr>
          <p:cNvPr id="20" name="矩形 19"/>
          <p:cNvSpPr/>
          <p:nvPr/>
        </p:nvSpPr>
        <p:spPr>
          <a:xfrm>
            <a:off x="-2872" y="0"/>
            <a:ext cx="12192000" cy="6858000"/>
          </a:xfrm>
          <a:prstGeom prst="rect">
            <a:avLst/>
          </a:prstGeom>
          <a:solidFill>
            <a:schemeClr val="accent6">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p:nvSpPr>
        <p:spPr>
          <a:xfrm>
            <a:off x="438150" y="0"/>
            <a:ext cx="1257300" cy="1050167"/>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0" y="0"/>
            <a:ext cx="3786028" cy="3162300"/>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 y="2343150"/>
            <a:ext cx="3702179" cy="4514850"/>
          </a:xfrm>
          <a:custGeom>
            <a:avLst/>
            <a:gdLst>
              <a:gd name="connsiteX0" fmla="*/ 1625728 w 3702179"/>
              <a:gd name="connsiteY0" fmla="*/ 0 h 4514850"/>
              <a:gd name="connsiteX1" fmla="*/ 3702179 w 3702179"/>
              <a:gd name="connsiteY1" fmla="*/ 0 h 4514850"/>
              <a:gd name="connsiteX2" fmla="*/ 1534011 w 3702179"/>
              <a:gd name="connsiteY2" fmla="*/ 4514850 h 4514850"/>
              <a:gd name="connsiteX3" fmla="*/ 0 w 3702179"/>
              <a:gd name="connsiteY3" fmla="*/ 4514850 h 4514850"/>
              <a:gd name="connsiteX4" fmla="*/ 0 w 3702179"/>
              <a:gd name="connsiteY4" fmla="*/ 3385309 h 451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2179" h="4514850">
                <a:moveTo>
                  <a:pt x="1625728" y="0"/>
                </a:moveTo>
                <a:lnTo>
                  <a:pt x="3702179" y="0"/>
                </a:lnTo>
                <a:lnTo>
                  <a:pt x="1534011" y="4514850"/>
                </a:lnTo>
                <a:lnTo>
                  <a:pt x="0" y="4514850"/>
                </a:lnTo>
                <a:lnTo>
                  <a:pt x="0" y="3385309"/>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任意多边形: 形状 17"/>
          <p:cNvSpPr/>
          <p:nvPr/>
        </p:nvSpPr>
        <p:spPr>
          <a:xfrm>
            <a:off x="11452929" y="5319006"/>
            <a:ext cx="739072" cy="1538994"/>
          </a:xfrm>
          <a:custGeom>
            <a:avLst/>
            <a:gdLst>
              <a:gd name="connsiteX0" fmla="*/ 739072 w 739072"/>
              <a:gd name="connsiteY0" fmla="*/ 0 h 1538994"/>
              <a:gd name="connsiteX1" fmla="*/ 739072 w 739072"/>
              <a:gd name="connsiteY1" fmla="*/ 1538994 h 1538994"/>
              <a:gd name="connsiteX2" fmla="*/ 0 w 739072"/>
              <a:gd name="connsiteY2" fmla="*/ 1538994 h 1538994"/>
            </a:gdLst>
            <a:ahLst/>
            <a:cxnLst>
              <a:cxn ang="0">
                <a:pos x="connsiteX0" y="connsiteY0"/>
              </a:cxn>
              <a:cxn ang="0">
                <a:pos x="connsiteX1" y="connsiteY1"/>
              </a:cxn>
              <a:cxn ang="0">
                <a:pos x="connsiteX2" y="connsiteY2"/>
              </a:cxn>
            </a:cxnLst>
            <a:rect l="l" t="t" r="r" b="b"/>
            <a:pathLst>
              <a:path w="739072" h="1538994">
                <a:moveTo>
                  <a:pt x="739072" y="0"/>
                </a:moveTo>
                <a:lnTo>
                  <a:pt x="739072" y="1538994"/>
                </a:lnTo>
                <a:lnTo>
                  <a:pt x="0" y="1538994"/>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任意多边形: 形状 12"/>
          <p:cNvSpPr/>
          <p:nvPr/>
        </p:nvSpPr>
        <p:spPr>
          <a:xfrm>
            <a:off x="11182350" y="6221536"/>
            <a:ext cx="762000" cy="636464"/>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61485" y="1402140"/>
            <a:ext cx="1553630" cy="1569660"/>
          </a:xfrm>
          <a:prstGeom prst="rect">
            <a:avLst/>
          </a:prstGeom>
          <a:noFill/>
        </p:spPr>
        <p:txBody>
          <a:bodyPr wrap="none" rtlCol="0">
            <a:spAutoFit/>
            <a:scene3d>
              <a:camera prst="orthographicFront"/>
              <a:lightRig rig="threePt" dir="t"/>
            </a:scene3d>
            <a:sp3d contourW="12700"/>
          </a:bodyPr>
          <a:lstStyle/>
          <a:p>
            <a:r>
              <a:rPr lang="en-US" altLang="zh-CN" sz="9600" b="1" i="1" dirty="0" smtClean="0">
                <a:solidFill>
                  <a:schemeClr val="bg1"/>
                </a:solidFill>
              </a:rPr>
              <a:t>02</a:t>
            </a:r>
            <a:endParaRPr lang="zh-CN" altLang="en-US" sz="9600" b="1" i="1" dirty="0">
              <a:solidFill>
                <a:schemeClr val="bg1"/>
              </a:solidFill>
            </a:endParaRPr>
          </a:p>
        </p:txBody>
      </p:sp>
      <p:sp>
        <p:nvSpPr>
          <p:cNvPr id="24" name="文本框 23"/>
          <p:cNvSpPr txBox="1"/>
          <p:nvPr/>
        </p:nvSpPr>
        <p:spPr>
          <a:xfrm>
            <a:off x="4263428" y="2724834"/>
            <a:ext cx="3001847" cy="769441"/>
          </a:xfrm>
          <a:prstGeom prst="rect">
            <a:avLst/>
          </a:prstGeom>
          <a:noFill/>
        </p:spPr>
        <p:txBody>
          <a:bodyPr wrap="none" rtlCol="0">
            <a:spAutoFit/>
            <a:scene3d>
              <a:camera prst="orthographicFront"/>
              <a:lightRig rig="threePt" dir="t"/>
            </a:scene3d>
            <a:sp3d contourW="12700"/>
          </a:bodyPr>
          <a:lstStyle/>
          <a:p>
            <a:r>
              <a:rPr lang="en-US" altLang="zh-CN" sz="4400" b="1" dirty="0" smtClean="0">
                <a:solidFill>
                  <a:schemeClr val="bg1"/>
                </a:solidFill>
                <a:latin typeface="+mn-ea"/>
              </a:rPr>
              <a:t>Milestone</a:t>
            </a:r>
            <a:endParaRPr lang="zh-CN" altLang="en-US" sz="4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3"/>
          <p:cNvGrpSpPr/>
          <p:nvPr/>
        </p:nvGrpSpPr>
        <p:grpSpPr>
          <a:xfrm>
            <a:off x="1524223" y="1970646"/>
            <a:ext cx="5645544" cy="3530918"/>
            <a:chOff x="3068641" y="2329068"/>
            <a:chExt cx="4341812" cy="2708073"/>
          </a:xfrm>
        </p:grpSpPr>
        <p:sp>
          <p:nvSpPr>
            <p:cNvPr id="20" name="Freeform: Shape 6"/>
            <p:cNvSpPr/>
            <p:nvPr/>
          </p:nvSpPr>
          <p:spPr bwMode="auto">
            <a:xfrm>
              <a:off x="3068641" y="4609834"/>
              <a:ext cx="404391" cy="268247"/>
            </a:xfrm>
            <a:custGeom>
              <a:avLst/>
              <a:gdLst>
                <a:gd name="T0" fmla="*/ 300 w 300"/>
                <a:gd name="T1" fmla="*/ 0 h 199"/>
                <a:gd name="T2" fmla="*/ 116 w 300"/>
                <a:gd name="T3" fmla="*/ 0 h 199"/>
                <a:gd name="T4" fmla="*/ 0 w 300"/>
                <a:gd name="T5" fmla="*/ 199 h 199"/>
                <a:gd name="T6" fmla="*/ 193 w 300"/>
                <a:gd name="T7" fmla="*/ 199 h 199"/>
                <a:gd name="T8" fmla="*/ 300 w 300"/>
                <a:gd name="T9" fmla="*/ 0 h 199"/>
              </a:gdLst>
              <a:ahLst/>
              <a:cxnLst>
                <a:cxn ang="0">
                  <a:pos x="T0" y="T1"/>
                </a:cxn>
                <a:cxn ang="0">
                  <a:pos x="T2" y="T3"/>
                </a:cxn>
                <a:cxn ang="0">
                  <a:pos x="T4" y="T5"/>
                </a:cxn>
                <a:cxn ang="0">
                  <a:pos x="T6" y="T7"/>
                </a:cxn>
                <a:cxn ang="0">
                  <a:pos x="T8" y="T9"/>
                </a:cxn>
              </a:cxnLst>
              <a:rect l="0" t="0" r="r" b="b"/>
              <a:pathLst>
                <a:path w="300" h="199">
                  <a:moveTo>
                    <a:pt x="300" y="0"/>
                  </a:moveTo>
                  <a:lnTo>
                    <a:pt x="116" y="0"/>
                  </a:lnTo>
                  <a:lnTo>
                    <a:pt x="0" y="199"/>
                  </a:lnTo>
                  <a:lnTo>
                    <a:pt x="193" y="199"/>
                  </a:lnTo>
                  <a:lnTo>
                    <a:pt x="300" y="0"/>
                  </a:lnTo>
                  <a:close/>
                </a:path>
              </a:pathLst>
            </a:custGeom>
            <a:solidFill>
              <a:srgbClr val="319295"/>
            </a:solidFill>
            <a:ln>
              <a:noFill/>
            </a:ln>
          </p:spPr>
          <p:txBody>
            <a:bodyPr anchor="ctr"/>
            <a:lstStyle/>
            <a:p>
              <a:pPr algn="ctr"/>
              <a:endParaRPr/>
            </a:p>
          </p:txBody>
        </p:sp>
        <p:sp>
          <p:nvSpPr>
            <p:cNvPr id="21" name="Freeform: Shape 7"/>
            <p:cNvSpPr/>
            <p:nvPr/>
          </p:nvSpPr>
          <p:spPr bwMode="auto">
            <a:xfrm>
              <a:off x="3068641" y="4609834"/>
              <a:ext cx="187367" cy="268247"/>
            </a:xfrm>
            <a:custGeom>
              <a:avLst/>
              <a:gdLst>
                <a:gd name="T0" fmla="*/ 21 w 139"/>
                <a:gd name="T1" fmla="*/ 199 h 199"/>
                <a:gd name="T2" fmla="*/ 139 w 139"/>
                <a:gd name="T3" fmla="*/ 0 h 199"/>
                <a:gd name="T4" fmla="*/ 116 w 139"/>
                <a:gd name="T5" fmla="*/ 0 h 199"/>
                <a:gd name="T6" fmla="*/ 0 w 139"/>
                <a:gd name="T7" fmla="*/ 199 h 199"/>
                <a:gd name="T8" fmla="*/ 21 w 139"/>
                <a:gd name="T9" fmla="*/ 199 h 199"/>
              </a:gdLst>
              <a:ahLst/>
              <a:cxnLst>
                <a:cxn ang="0">
                  <a:pos x="T0" y="T1"/>
                </a:cxn>
                <a:cxn ang="0">
                  <a:pos x="T2" y="T3"/>
                </a:cxn>
                <a:cxn ang="0">
                  <a:pos x="T4" y="T5"/>
                </a:cxn>
                <a:cxn ang="0">
                  <a:pos x="T6" y="T7"/>
                </a:cxn>
                <a:cxn ang="0">
                  <a:pos x="T8" y="T9"/>
                </a:cxn>
              </a:cxnLst>
              <a:rect l="0" t="0" r="r" b="b"/>
              <a:pathLst>
                <a:path w="139" h="199">
                  <a:moveTo>
                    <a:pt x="21" y="199"/>
                  </a:moveTo>
                  <a:lnTo>
                    <a:pt x="139" y="0"/>
                  </a:lnTo>
                  <a:lnTo>
                    <a:pt x="116" y="0"/>
                  </a:lnTo>
                  <a:lnTo>
                    <a:pt x="0" y="199"/>
                  </a:lnTo>
                  <a:lnTo>
                    <a:pt x="21" y="199"/>
                  </a:lnTo>
                  <a:close/>
                </a:path>
              </a:pathLst>
            </a:custGeom>
            <a:solidFill>
              <a:srgbClr val="11515A"/>
            </a:solidFill>
            <a:ln>
              <a:noFill/>
            </a:ln>
          </p:spPr>
          <p:txBody>
            <a:bodyPr anchor="ctr"/>
            <a:lstStyle/>
            <a:p>
              <a:pPr algn="ctr"/>
              <a:endParaRPr/>
            </a:p>
          </p:txBody>
        </p:sp>
        <p:sp>
          <p:nvSpPr>
            <p:cNvPr id="22" name="Freeform: Shape 8"/>
            <p:cNvSpPr/>
            <p:nvPr/>
          </p:nvSpPr>
          <p:spPr bwMode="auto">
            <a:xfrm>
              <a:off x="3225006" y="4609834"/>
              <a:ext cx="539188" cy="427307"/>
            </a:xfrm>
            <a:custGeom>
              <a:avLst/>
              <a:gdLst>
                <a:gd name="T0" fmla="*/ 0 w 400"/>
                <a:gd name="T1" fmla="*/ 0 h 317"/>
                <a:gd name="T2" fmla="*/ 184 w 400"/>
                <a:gd name="T3" fmla="*/ 0 h 317"/>
                <a:gd name="T4" fmla="*/ 400 w 400"/>
                <a:gd name="T5" fmla="*/ 317 h 317"/>
                <a:gd name="T6" fmla="*/ 171 w 400"/>
                <a:gd name="T7" fmla="*/ 317 h 317"/>
                <a:gd name="T8" fmla="*/ 0 w 400"/>
                <a:gd name="T9" fmla="*/ 0 h 317"/>
              </a:gdLst>
              <a:ahLst/>
              <a:cxnLst>
                <a:cxn ang="0">
                  <a:pos x="T0" y="T1"/>
                </a:cxn>
                <a:cxn ang="0">
                  <a:pos x="T2" y="T3"/>
                </a:cxn>
                <a:cxn ang="0">
                  <a:pos x="T4" y="T5"/>
                </a:cxn>
                <a:cxn ang="0">
                  <a:pos x="T6" y="T7"/>
                </a:cxn>
                <a:cxn ang="0">
                  <a:pos x="T8" y="T9"/>
                </a:cxn>
              </a:cxnLst>
              <a:rect l="0" t="0" r="r" b="b"/>
              <a:pathLst>
                <a:path w="400" h="317">
                  <a:moveTo>
                    <a:pt x="0" y="0"/>
                  </a:moveTo>
                  <a:lnTo>
                    <a:pt x="184" y="0"/>
                  </a:lnTo>
                  <a:lnTo>
                    <a:pt x="400" y="317"/>
                  </a:lnTo>
                  <a:lnTo>
                    <a:pt x="171" y="317"/>
                  </a:lnTo>
                  <a:lnTo>
                    <a:pt x="0" y="0"/>
                  </a:lnTo>
                  <a:close/>
                </a:path>
              </a:pathLst>
            </a:custGeom>
            <a:solidFill>
              <a:srgbClr val="4AD1CD"/>
            </a:solidFill>
            <a:ln>
              <a:noFill/>
            </a:ln>
          </p:spPr>
          <p:txBody>
            <a:bodyPr anchor="ctr"/>
            <a:lstStyle/>
            <a:p>
              <a:pPr algn="ctr"/>
              <a:endParaRPr/>
            </a:p>
          </p:txBody>
        </p:sp>
        <p:sp>
          <p:nvSpPr>
            <p:cNvPr id="23" name="Freeform: Shape 9"/>
            <p:cNvSpPr/>
            <p:nvPr/>
          </p:nvSpPr>
          <p:spPr bwMode="auto">
            <a:xfrm>
              <a:off x="3225006" y="4609834"/>
              <a:ext cx="241286" cy="427307"/>
            </a:xfrm>
            <a:custGeom>
              <a:avLst/>
              <a:gdLst>
                <a:gd name="T0" fmla="*/ 0 w 179"/>
                <a:gd name="T1" fmla="*/ 0 h 317"/>
                <a:gd name="T2" fmla="*/ 171 w 179"/>
                <a:gd name="T3" fmla="*/ 317 h 317"/>
                <a:gd name="T4" fmla="*/ 179 w 179"/>
                <a:gd name="T5" fmla="*/ 274 h 317"/>
                <a:gd name="T6" fmla="*/ 32 w 179"/>
                <a:gd name="T7" fmla="*/ 0 h 317"/>
                <a:gd name="T8" fmla="*/ 0 w 179"/>
                <a:gd name="T9" fmla="*/ 0 h 317"/>
              </a:gdLst>
              <a:ahLst/>
              <a:cxnLst>
                <a:cxn ang="0">
                  <a:pos x="T0" y="T1"/>
                </a:cxn>
                <a:cxn ang="0">
                  <a:pos x="T2" y="T3"/>
                </a:cxn>
                <a:cxn ang="0">
                  <a:pos x="T4" y="T5"/>
                </a:cxn>
                <a:cxn ang="0">
                  <a:pos x="T6" y="T7"/>
                </a:cxn>
                <a:cxn ang="0">
                  <a:pos x="T8" y="T9"/>
                </a:cxn>
              </a:cxnLst>
              <a:rect l="0" t="0" r="r" b="b"/>
              <a:pathLst>
                <a:path w="179" h="317">
                  <a:moveTo>
                    <a:pt x="0" y="0"/>
                  </a:moveTo>
                  <a:lnTo>
                    <a:pt x="171" y="317"/>
                  </a:lnTo>
                  <a:lnTo>
                    <a:pt x="179" y="274"/>
                  </a:lnTo>
                  <a:lnTo>
                    <a:pt x="32" y="0"/>
                  </a:lnTo>
                  <a:lnTo>
                    <a:pt x="0" y="0"/>
                  </a:lnTo>
                  <a:close/>
                </a:path>
              </a:pathLst>
            </a:custGeom>
            <a:solidFill>
              <a:srgbClr val="11515A"/>
            </a:solidFill>
            <a:ln>
              <a:noFill/>
            </a:ln>
          </p:spPr>
          <p:txBody>
            <a:bodyPr anchor="ctr"/>
            <a:lstStyle/>
            <a:p>
              <a:pPr algn="ctr"/>
              <a:endParaRPr/>
            </a:p>
          </p:txBody>
        </p:sp>
        <p:sp>
          <p:nvSpPr>
            <p:cNvPr id="24" name="Freeform: Shape 10"/>
            <p:cNvSpPr/>
            <p:nvPr/>
          </p:nvSpPr>
          <p:spPr bwMode="auto">
            <a:xfrm>
              <a:off x="3455508" y="4309237"/>
              <a:ext cx="981322" cy="727904"/>
            </a:xfrm>
            <a:custGeom>
              <a:avLst/>
              <a:gdLst>
                <a:gd name="T0" fmla="*/ 0 w 728"/>
                <a:gd name="T1" fmla="*/ 540 h 540"/>
                <a:gd name="T2" fmla="*/ 467 w 728"/>
                <a:gd name="T3" fmla="*/ 0 h 540"/>
                <a:gd name="T4" fmla="*/ 728 w 728"/>
                <a:gd name="T5" fmla="*/ 0 h 540"/>
                <a:gd name="T6" fmla="*/ 229 w 728"/>
                <a:gd name="T7" fmla="*/ 540 h 540"/>
                <a:gd name="T8" fmla="*/ 0 w 728"/>
                <a:gd name="T9" fmla="*/ 540 h 540"/>
              </a:gdLst>
              <a:ahLst/>
              <a:cxnLst>
                <a:cxn ang="0">
                  <a:pos x="T0" y="T1"/>
                </a:cxn>
                <a:cxn ang="0">
                  <a:pos x="T2" y="T3"/>
                </a:cxn>
                <a:cxn ang="0">
                  <a:pos x="T4" y="T5"/>
                </a:cxn>
                <a:cxn ang="0">
                  <a:pos x="T6" y="T7"/>
                </a:cxn>
                <a:cxn ang="0">
                  <a:pos x="T8" y="T9"/>
                </a:cxn>
              </a:cxnLst>
              <a:rect l="0" t="0" r="r" b="b"/>
              <a:pathLst>
                <a:path w="728" h="540">
                  <a:moveTo>
                    <a:pt x="0" y="540"/>
                  </a:moveTo>
                  <a:lnTo>
                    <a:pt x="467" y="0"/>
                  </a:lnTo>
                  <a:lnTo>
                    <a:pt x="728" y="0"/>
                  </a:lnTo>
                  <a:lnTo>
                    <a:pt x="229" y="540"/>
                  </a:lnTo>
                  <a:lnTo>
                    <a:pt x="0" y="540"/>
                  </a:lnTo>
                  <a:close/>
                </a:path>
              </a:pathLst>
            </a:custGeom>
            <a:solidFill>
              <a:srgbClr val="319295"/>
            </a:solidFill>
            <a:ln>
              <a:noFill/>
            </a:ln>
          </p:spPr>
          <p:txBody>
            <a:bodyPr anchor="ctr"/>
            <a:lstStyle/>
            <a:p>
              <a:pPr algn="ctr"/>
              <a:endParaRPr/>
            </a:p>
          </p:txBody>
        </p:sp>
        <p:sp>
          <p:nvSpPr>
            <p:cNvPr id="25" name="Freeform: Shape 11"/>
            <p:cNvSpPr/>
            <p:nvPr/>
          </p:nvSpPr>
          <p:spPr bwMode="auto">
            <a:xfrm>
              <a:off x="3455508" y="4309237"/>
              <a:ext cx="603891" cy="727904"/>
            </a:xfrm>
            <a:custGeom>
              <a:avLst/>
              <a:gdLst>
                <a:gd name="T0" fmla="*/ 0 w 448"/>
                <a:gd name="T1" fmla="*/ 540 h 540"/>
                <a:gd name="T2" fmla="*/ 8 w 448"/>
                <a:gd name="T3" fmla="*/ 497 h 540"/>
                <a:gd name="T4" fmla="*/ 430 w 448"/>
                <a:gd name="T5" fmla="*/ 0 h 540"/>
                <a:gd name="T6" fmla="*/ 448 w 448"/>
                <a:gd name="T7" fmla="*/ 23 h 540"/>
                <a:gd name="T8" fmla="*/ 0 w 448"/>
                <a:gd name="T9" fmla="*/ 540 h 540"/>
              </a:gdLst>
              <a:ahLst/>
              <a:cxnLst>
                <a:cxn ang="0">
                  <a:pos x="T0" y="T1"/>
                </a:cxn>
                <a:cxn ang="0">
                  <a:pos x="T2" y="T3"/>
                </a:cxn>
                <a:cxn ang="0">
                  <a:pos x="T4" y="T5"/>
                </a:cxn>
                <a:cxn ang="0">
                  <a:pos x="T6" y="T7"/>
                </a:cxn>
                <a:cxn ang="0">
                  <a:pos x="T8" y="T9"/>
                </a:cxn>
              </a:cxnLst>
              <a:rect l="0" t="0" r="r" b="b"/>
              <a:pathLst>
                <a:path w="448" h="540">
                  <a:moveTo>
                    <a:pt x="0" y="540"/>
                  </a:moveTo>
                  <a:lnTo>
                    <a:pt x="8" y="497"/>
                  </a:lnTo>
                  <a:lnTo>
                    <a:pt x="430" y="0"/>
                  </a:lnTo>
                  <a:lnTo>
                    <a:pt x="448" y="23"/>
                  </a:lnTo>
                  <a:lnTo>
                    <a:pt x="0" y="540"/>
                  </a:lnTo>
                  <a:close/>
                </a:path>
              </a:pathLst>
            </a:custGeom>
            <a:solidFill>
              <a:srgbClr val="11515A"/>
            </a:solidFill>
            <a:ln>
              <a:noFill/>
            </a:ln>
          </p:spPr>
          <p:txBody>
            <a:bodyPr anchor="ctr"/>
            <a:lstStyle/>
            <a:p>
              <a:pPr algn="ctr"/>
              <a:endParaRPr/>
            </a:p>
          </p:txBody>
        </p:sp>
        <p:sp>
          <p:nvSpPr>
            <p:cNvPr id="26" name="Freeform: Shape 12"/>
            <p:cNvSpPr/>
            <p:nvPr/>
          </p:nvSpPr>
          <p:spPr bwMode="auto">
            <a:xfrm>
              <a:off x="4035135" y="4309237"/>
              <a:ext cx="717120" cy="435395"/>
            </a:xfrm>
            <a:custGeom>
              <a:avLst/>
              <a:gdLst>
                <a:gd name="T0" fmla="*/ 0 w 532"/>
                <a:gd name="T1" fmla="*/ 0 h 323"/>
                <a:gd name="T2" fmla="*/ 240 w 532"/>
                <a:gd name="T3" fmla="*/ 323 h 323"/>
                <a:gd name="T4" fmla="*/ 532 w 532"/>
                <a:gd name="T5" fmla="*/ 323 h 323"/>
                <a:gd name="T6" fmla="*/ 298 w 532"/>
                <a:gd name="T7" fmla="*/ 0 h 323"/>
                <a:gd name="T8" fmla="*/ 0 w 532"/>
                <a:gd name="T9" fmla="*/ 0 h 323"/>
              </a:gdLst>
              <a:ahLst/>
              <a:cxnLst>
                <a:cxn ang="0">
                  <a:pos x="T0" y="T1"/>
                </a:cxn>
                <a:cxn ang="0">
                  <a:pos x="T2" y="T3"/>
                </a:cxn>
                <a:cxn ang="0">
                  <a:pos x="T4" y="T5"/>
                </a:cxn>
                <a:cxn ang="0">
                  <a:pos x="T6" y="T7"/>
                </a:cxn>
                <a:cxn ang="0">
                  <a:pos x="T8" y="T9"/>
                </a:cxn>
              </a:cxnLst>
              <a:rect l="0" t="0" r="r" b="b"/>
              <a:pathLst>
                <a:path w="532" h="323">
                  <a:moveTo>
                    <a:pt x="0" y="0"/>
                  </a:moveTo>
                  <a:lnTo>
                    <a:pt x="240" y="323"/>
                  </a:lnTo>
                  <a:lnTo>
                    <a:pt x="532" y="323"/>
                  </a:lnTo>
                  <a:lnTo>
                    <a:pt x="298" y="0"/>
                  </a:lnTo>
                  <a:lnTo>
                    <a:pt x="0" y="0"/>
                  </a:lnTo>
                  <a:close/>
                </a:path>
              </a:pathLst>
            </a:custGeom>
            <a:solidFill>
              <a:srgbClr val="4AD1CD"/>
            </a:solidFill>
            <a:ln>
              <a:noFill/>
            </a:ln>
          </p:spPr>
          <p:txBody>
            <a:bodyPr anchor="ctr"/>
            <a:lstStyle/>
            <a:p>
              <a:pPr algn="ctr"/>
              <a:endParaRPr/>
            </a:p>
          </p:txBody>
        </p:sp>
        <p:sp>
          <p:nvSpPr>
            <p:cNvPr id="27" name="Freeform: Shape 13"/>
            <p:cNvSpPr/>
            <p:nvPr/>
          </p:nvSpPr>
          <p:spPr bwMode="auto">
            <a:xfrm>
              <a:off x="4358648" y="3491019"/>
              <a:ext cx="758907" cy="1253612"/>
            </a:xfrm>
            <a:custGeom>
              <a:avLst/>
              <a:gdLst>
                <a:gd name="T0" fmla="*/ 0 w 563"/>
                <a:gd name="T1" fmla="*/ 930 h 930"/>
                <a:gd name="T2" fmla="*/ 5 w 563"/>
                <a:gd name="T3" fmla="*/ 877 h 930"/>
                <a:gd name="T4" fmla="*/ 544 w 563"/>
                <a:gd name="T5" fmla="*/ 0 h 930"/>
                <a:gd name="T6" fmla="*/ 563 w 563"/>
                <a:gd name="T7" fmla="*/ 43 h 930"/>
                <a:gd name="T8" fmla="*/ 0 w 563"/>
                <a:gd name="T9" fmla="*/ 930 h 930"/>
              </a:gdLst>
              <a:ahLst/>
              <a:cxnLst>
                <a:cxn ang="0">
                  <a:pos x="T0" y="T1"/>
                </a:cxn>
                <a:cxn ang="0">
                  <a:pos x="T2" y="T3"/>
                </a:cxn>
                <a:cxn ang="0">
                  <a:pos x="T4" y="T5"/>
                </a:cxn>
                <a:cxn ang="0">
                  <a:pos x="T6" y="T7"/>
                </a:cxn>
                <a:cxn ang="0">
                  <a:pos x="T8" y="T9"/>
                </a:cxn>
              </a:cxnLst>
              <a:rect l="0" t="0" r="r" b="b"/>
              <a:pathLst>
                <a:path w="563" h="930">
                  <a:moveTo>
                    <a:pt x="0" y="930"/>
                  </a:moveTo>
                  <a:lnTo>
                    <a:pt x="5" y="877"/>
                  </a:lnTo>
                  <a:lnTo>
                    <a:pt x="544" y="0"/>
                  </a:lnTo>
                  <a:lnTo>
                    <a:pt x="563" y="43"/>
                  </a:lnTo>
                  <a:lnTo>
                    <a:pt x="0" y="930"/>
                  </a:lnTo>
                  <a:close/>
                </a:path>
              </a:pathLst>
            </a:custGeom>
            <a:solidFill>
              <a:srgbClr val="11515A"/>
            </a:solidFill>
            <a:ln>
              <a:noFill/>
            </a:ln>
          </p:spPr>
          <p:txBody>
            <a:bodyPr anchor="ctr"/>
            <a:lstStyle/>
            <a:p>
              <a:pPr algn="ctr"/>
              <a:endParaRPr/>
            </a:p>
          </p:txBody>
        </p:sp>
        <p:sp>
          <p:nvSpPr>
            <p:cNvPr id="28" name="Freeform: Shape 14"/>
            <p:cNvSpPr/>
            <p:nvPr/>
          </p:nvSpPr>
          <p:spPr bwMode="auto">
            <a:xfrm>
              <a:off x="4035135" y="4309237"/>
              <a:ext cx="330252" cy="435395"/>
            </a:xfrm>
            <a:custGeom>
              <a:avLst/>
              <a:gdLst>
                <a:gd name="T0" fmla="*/ 0 w 245"/>
                <a:gd name="T1" fmla="*/ 0 h 323"/>
                <a:gd name="T2" fmla="*/ 240 w 245"/>
                <a:gd name="T3" fmla="*/ 323 h 323"/>
                <a:gd name="T4" fmla="*/ 245 w 245"/>
                <a:gd name="T5" fmla="*/ 270 h 323"/>
                <a:gd name="T6" fmla="*/ 37 w 245"/>
                <a:gd name="T7" fmla="*/ 0 h 323"/>
                <a:gd name="T8" fmla="*/ 0 w 245"/>
                <a:gd name="T9" fmla="*/ 0 h 323"/>
              </a:gdLst>
              <a:ahLst/>
              <a:cxnLst>
                <a:cxn ang="0">
                  <a:pos x="T0" y="T1"/>
                </a:cxn>
                <a:cxn ang="0">
                  <a:pos x="T2" y="T3"/>
                </a:cxn>
                <a:cxn ang="0">
                  <a:pos x="T4" y="T5"/>
                </a:cxn>
                <a:cxn ang="0">
                  <a:pos x="T6" y="T7"/>
                </a:cxn>
                <a:cxn ang="0">
                  <a:pos x="T8" y="T9"/>
                </a:cxn>
              </a:cxnLst>
              <a:rect l="0" t="0" r="r" b="b"/>
              <a:pathLst>
                <a:path w="245" h="323">
                  <a:moveTo>
                    <a:pt x="0" y="0"/>
                  </a:moveTo>
                  <a:lnTo>
                    <a:pt x="240" y="323"/>
                  </a:lnTo>
                  <a:lnTo>
                    <a:pt x="245" y="270"/>
                  </a:lnTo>
                  <a:lnTo>
                    <a:pt x="37" y="0"/>
                  </a:lnTo>
                  <a:lnTo>
                    <a:pt x="0" y="0"/>
                  </a:lnTo>
                  <a:close/>
                </a:path>
              </a:pathLst>
            </a:custGeom>
            <a:solidFill>
              <a:srgbClr val="11515A"/>
            </a:solidFill>
            <a:ln>
              <a:noFill/>
            </a:ln>
          </p:spPr>
          <p:txBody>
            <a:bodyPr anchor="ctr"/>
            <a:lstStyle/>
            <a:p>
              <a:pPr algn="ctr"/>
              <a:endParaRPr/>
            </a:p>
          </p:txBody>
        </p:sp>
        <p:sp>
          <p:nvSpPr>
            <p:cNvPr id="29" name="Freeform: Shape 15"/>
            <p:cNvSpPr/>
            <p:nvPr/>
          </p:nvSpPr>
          <p:spPr bwMode="auto">
            <a:xfrm>
              <a:off x="4358648" y="3493714"/>
              <a:ext cx="1160602" cy="1250917"/>
            </a:xfrm>
            <a:custGeom>
              <a:avLst/>
              <a:gdLst>
                <a:gd name="T0" fmla="*/ 0 w 861"/>
                <a:gd name="T1" fmla="*/ 928 h 928"/>
                <a:gd name="T2" fmla="*/ 583 w 861"/>
                <a:gd name="T3" fmla="*/ 0 h 928"/>
                <a:gd name="T4" fmla="*/ 861 w 861"/>
                <a:gd name="T5" fmla="*/ 15 h 928"/>
                <a:gd name="T6" fmla="*/ 292 w 861"/>
                <a:gd name="T7" fmla="*/ 928 h 928"/>
                <a:gd name="T8" fmla="*/ 0 w 861"/>
                <a:gd name="T9" fmla="*/ 928 h 928"/>
              </a:gdLst>
              <a:ahLst/>
              <a:cxnLst>
                <a:cxn ang="0">
                  <a:pos x="T0" y="T1"/>
                </a:cxn>
                <a:cxn ang="0">
                  <a:pos x="T2" y="T3"/>
                </a:cxn>
                <a:cxn ang="0">
                  <a:pos x="T4" y="T5"/>
                </a:cxn>
                <a:cxn ang="0">
                  <a:pos x="T6" y="T7"/>
                </a:cxn>
                <a:cxn ang="0">
                  <a:pos x="T8" y="T9"/>
                </a:cxn>
              </a:cxnLst>
              <a:rect l="0" t="0" r="r" b="b"/>
              <a:pathLst>
                <a:path w="861" h="928">
                  <a:moveTo>
                    <a:pt x="0" y="928"/>
                  </a:moveTo>
                  <a:lnTo>
                    <a:pt x="583" y="0"/>
                  </a:lnTo>
                  <a:lnTo>
                    <a:pt x="861" y="15"/>
                  </a:lnTo>
                  <a:lnTo>
                    <a:pt x="292" y="928"/>
                  </a:lnTo>
                  <a:lnTo>
                    <a:pt x="0" y="928"/>
                  </a:lnTo>
                  <a:close/>
                </a:path>
              </a:pathLst>
            </a:custGeom>
            <a:solidFill>
              <a:srgbClr val="319295"/>
            </a:solidFill>
            <a:ln>
              <a:noFill/>
            </a:ln>
          </p:spPr>
          <p:txBody>
            <a:bodyPr anchor="ctr"/>
            <a:lstStyle/>
            <a:p>
              <a:pPr algn="ctr"/>
              <a:endParaRPr/>
            </a:p>
          </p:txBody>
        </p:sp>
        <p:sp>
          <p:nvSpPr>
            <p:cNvPr id="30" name="Freeform: Shape 16"/>
            <p:cNvSpPr/>
            <p:nvPr/>
          </p:nvSpPr>
          <p:spPr bwMode="auto">
            <a:xfrm>
              <a:off x="5091944" y="3491019"/>
              <a:ext cx="687465" cy="750820"/>
            </a:xfrm>
            <a:custGeom>
              <a:avLst/>
              <a:gdLst>
                <a:gd name="T0" fmla="*/ 0 w 510"/>
                <a:gd name="T1" fmla="*/ 0 h 557"/>
                <a:gd name="T2" fmla="*/ 212 w 510"/>
                <a:gd name="T3" fmla="*/ 534 h 557"/>
                <a:gd name="T4" fmla="*/ 510 w 510"/>
                <a:gd name="T5" fmla="*/ 557 h 557"/>
                <a:gd name="T6" fmla="*/ 317 w 510"/>
                <a:gd name="T7" fmla="*/ 17 h 557"/>
                <a:gd name="T8" fmla="*/ 0 w 510"/>
                <a:gd name="T9" fmla="*/ 0 h 557"/>
              </a:gdLst>
              <a:ahLst/>
              <a:cxnLst>
                <a:cxn ang="0">
                  <a:pos x="T0" y="T1"/>
                </a:cxn>
                <a:cxn ang="0">
                  <a:pos x="T2" y="T3"/>
                </a:cxn>
                <a:cxn ang="0">
                  <a:pos x="T4" y="T5"/>
                </a:cxn>
                <a:cxn ang="0">
                  <a:pos x="T6" y="T7"/>
                </a:cxn>
                <a:cxn ang="0">
                  <a:pos x="T8" y="T9"/>
                </a:cxn>
              </a:cxnLst>
              <a:rect l="0" t="0" r="r" b="b"/>
              <a:pathLst>
                <a:path w="510" h="557">
                  <a:moveTo>
                    <a:pt x="0" y="0"/>
                  </a:moveTo>
                  <a:lnTo>
                    <a:pt x="212" y="534"/>
                  </a:lnTo>
                  <a:lnTo>
                    <a:pt x="510" y="557"/>
                  </a:lnTo>
                  <a:lnTo>
                    <a:pt x="317" y="17"/>
                  </a:lnTo>
                  <a:lnTo>
                    <a:pt x="0" y="0"/>
                  </a:lnTo>
                  <a:close/>
                </a:path>
              </a:pathLst>
            </a:custGeom>
            <a:solidFill>
              <a:srgbClr val="4AD1CD"/>
            </a:solidFill>
            <a:ln>
              <a:noFill/>
            </a:ln>
          </p:spPr>
          <p:txBody>
            <a:bodyPr anchor="ctr"/>
            <a:lstStyle/>
            <a:p>
              <a:pPr algn="ctr"/>
              <a:endParaRPr/>
            </a:p>
          </p:txBody>
        </p:sp>
        <p:sp>
          <p:nvSpPr>
            <p:cNvPr id="31" name="Freeform: Shape 17"/>
            <p:cNvSpPr/>
            <p:nvPr/>
          </p:nvSpPr>
          <p:spPr bwMode="auto">
            <a:xfrm>
              <a:off x="5091944" y="3491019"/>
              <a:ext cx="312729" cy="719816"/>
            </a:xfrm>
            <a:custGeom>
              <a:avLst/>
              <a:gdLst>
                <a:gd name="T0" fmla="*/ 0 w 232"/>
                <a:gd name="T1" fmla="*/ 0 h 534"/>
                <a:gd name="T2" fmla="*/ 47 w 232"/>
                <a:gd name="T3" fmla="*/ 2 h 534"/>
                <a:gd name="T4" fmla="*/ 232 w 232"/>
                <a:gd name="T5" fmla="*/ 457 h 534"/>
                <a:gd name="T6" fmla="*/ 212 w 232"/>
                <a:gd name="T7" fmla="*/ 534 h 534"/>
                <a:gd name="T8" fmla="*/ 0 w 232"/>
                <a:gd name="T9" fmla="*/ 0 h 534"/>
              </a:gdLst>
              <a:ahLst/>
              <a:cxnLst>
                <a:cxn ang="0">
                  <a:pos x="T0" y="T1"/>
                </a:cxn>
                <a:cxn ang="0">
                  <a:pos x="T2" y="T3"/>
                </a:cxn>
                <a:cxn ang="0">
                  <a:pos x="T4" y="T5"/>
                </a:cxn>
                <a:cxn ang="0">
                  <a:pos x="T6" y="T7"/>
                </a:cxn>
                <a:cxn ang="0">
                  <a:pos x="T8" y="T9"/>
                </a:cxn>
              </a:cxnLst>
              <a:rect l="0" t="0" r="r" b="b"/>
              <a:pathLst>
                <a:path w="232" h="534">
                  <a:moveTo>
                    <a:pt x="0" y="0"/>
                  </a:moveTo>
                  <a:lnTo>
                    <a:pt x="47" y="2"/>
                  </a:lnTo>
                  <a:lnTo>
                    <a:pt x="232" y="457"/>
                  </a:lnTo>
                  <a:lnTo>
                    <a:pt x="212" y="534"/>
                  </a:lnTo>
                  <a:lnTo>
                    <a:pt x="0" y="0"/>
                  </a:lnTo>
                  <a:close/>
                </a:path>
              </a:pathLst>
            </a:custGeom>
            <a:solidFill>
              <a:srgbClr val="11515A"/>
            </a:solidFill>
            <a:ln>
              <a:noFill/>
            </a:ln>
          </p:spPr>
          <p:txBody>
            <a:bodyPr anchor="ctr"/>
            <a:lstStyle/>
            <a:p>
              <a:pPr algn="ctr"/>
              <a:endParaRPr/>
            </a:p>
          </p:txBody>
        </p:sp>
        <p:sp>
          <p:nvSpPr>
            <p:cNvPr id="32" name="Freeform: Shape 18"/>
            <p:cNvSpPr/>
            <p:nvPr/>
          </p:nvSpPr>
          <p:spPr bwMode="auto">
            <a:xfrm>
              <a:off x="5377714" y="2955875"/>
              <a:ext cx="1165994" cy="1254961"/>
            </a:xfrm>
            <a:custGeom>
              <a:avLst/>
              <a:gdLst>
                <a:gd name="T0" fmla="*/ 0 w 865"/>
                <a:gd name="T1" fmla="*/ 931 h 931"/>
                <a:gd name="T2" fmla="*/ 20 w 865"/>
                <a:gd name="T3" fmla="*/ 854 h 931"/>
                <a:gd name="T4" fmla="*/ 820 w 865"/>
                <a:gd name="T5" fmla="*/ 0 h 931"/>
                <a:gd name="T6" fmla="*/ 865 w 865"/>
                <a:gd name="T7" fmla="*/ 11 h 931"/>
                <a:gd name="T8" fmla="*/ 0 w 865"/>
                <a:gd name="T9" fmla="*/ 931 h 931"/>
              </a:gdLst>
              <a:ahLst/>
              <a:cxnLst>
                <a:cxn ang="0">
                  <a:pos x="T0" y="T1"/>
                </a:cxn>
                <a:cxn ang="0">
                  <a:pos x="T2" y="T3"/>
                </a:cxn>
                <a:cxn ang="0">
                  <a:pos x="T4" y="T5"/>
                </a:cxn>
                <a:cxn ang="0">
                  <a:pos x="T6" y="T7"/>
                </a:cxn>
                <a:cxn ang="0">
                  <a:pos x="T8" y="T9"/>
                </a:cxn>
              </a:cxnLst>
              <a:rect l="0" t="0" r="r" b="b"/>
              <a:pathLst>
                <a:path w="865" h="931">
                  <a:moveTo>
                    <a:pt x="0" y="931"/>
                  </a:moveTo>
                  <a:lnTo>
                    <a:pt x="20" y="854"/>
                  </a:lnTo>
                  <a:lnTo>
                    <a:pt x="820" y="0"/>
                  </a:lnTo>
                  <a:lnTo>
                    <a:pt x="865" y="11"/>
                  </a:lnTo>
                  <a:lnTo>
                    <a:pt x="0" y="931"/>
                  </a:lnTo>
                  <a:close/>
                </a:path>
              </a:pathLst>
            </a:custGeom>
            <a:solidFill>
              <a:srgbClr val="11515A"/>
            </a:solidFill>
            <a:ln>
              <a:noFill/>
            </a:ln>
          </p:spPr>
          <p:txBody>
            <a:bodyPr anchor="ctr"/>
            <a:lstStyle/>
            <a:p>
              <a:pPr algn="ctr"/>
              <a:endParaRPr/>
            </a:p>
          </p:txBody>
        </p:sp>
        <p:sp>
          <p:nvSpPr>
            <p:cNvPr id="33" name="Freeform: Shape 19"/>
            <p:cNvSpPr/>
            <p:nvPr/>
          </p:nvSpPr>
          <p:spPr bwMode="auto">
            <a:xfrm>
              <a:off x="5377714" y="2357376"/>
              <a:ext cx="2032739" cy="1884463"/>
            </a:xfrm>
            <a:custGeom>
              <a:avLst/>
              <a:gdLst>
                <a:gd name="T0" fmla="*/ 0 w 1508"/>
                <a:gd name="T1" fmla="*/ 1375 h 1398"/>
                <a:gd name="T2" fmla="*/ 298 w 1508"/>
                <a:gd name="T3" fmla="*/ 1398 h 1398"/>
                <a:gd name="T4" fmla="*/ 1236 w 1508"/>
                <a:gd name="T5" fmla="*/ 532 h 1398"/>
                <a:gd name="T6" fmla="*/ 1508 w 1508"/>
                <a:gd name="T7" fmla="*/ 605 h 1398"/>
                <a:gd name="T8" fmla="*/ 1444 w 1508"/>
                <a:gd name="T9" fmla="*/ 0 h 1398"/>
                <a:gd name="T10" fmla="*/ 553 w 1508"/>
                <a:gd name="T11" fmla="*/ 382 h 1398"/>
                <a:gd name="T12" fmla="*/ 865 w 1508"/>
                <a:gd name="T13" fmla="*/ 457 h 1398"/>
                <a:gd name="T14" fmla="*/ 0 w 1508"/>
                <a:gd name="T15" fmla="*/ 1375 h 13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8" h="1398">
                  <a:moveTo>
                    <a:pt x="0" y="1375"/>
                  </a:moveTo>
                  <a:lnTo>
                    <a:pt x="298" y="1398"/>
                  </a:lnTo>
                  <a:lnTo>
                    <a:pt x="1236" y="532"/>
                  </a:lnTo>
                  <a:lnTo>
                    <a:pt x="1508" y="605"/>
                  </a:lnTo>
                  <a:lnTo>
                    <a:pt x="1444" y="0"/>
                  </a:lnTo>
                  <a:lnTo>
                    <a:pt x="553" y="382"/>
                  </a:lnTo>
                  <a:lnTo>
                    <a:pt x="865" y="457"/>
                  </a:lnTo>
                  <a:lnTo>
                    <a:pt x="0" y="1375"/>
                  </a:lnTo>
                  <a:close/>
                </a:path>
              </a:pathLst>
            </a:custGeom>
            <a:solidFill>
              <a:srgbClr val="319295"/>
            </a:solidFill>
            <a:ln>
              <a:noFill/>
            </a:ln>
          </p:spPr>
          <p:txBody>
            <a:bodyPr anchor="ctr"/>
            <a:lstStyle/>
            <a:p>
              <a:pPr algn="ctr"/>
              <a:endParaRPr/>
            </a:p>
          </p:txBody>
        </p:sp>
        <p:sp>
          <p:nvSpPr>
            <p:cNvPr id="34" name="Freeform: Shape 20"/>
            <p:cNvSpPr/>
            <p:nvPr/>
          </p:nvSpPr>
          <p:spPr bwMode="auto">
            <a:xfrm>
              <a:off x="6105618" y="2329068"/>
              <a:ext cx="1218565" cy="543233"/>
            </a:xfrm>
            <a:custGeom>
              <a:avLst/>
              <a:gdLst>
                <a:gd name="T0" fmla="*/ 13 w 904"/>
                <a:gd name="T1" fmla="*/ 403 h 403"/>
                <a:gd name="T2" fmla="*/ 0 w 904"/>
                <a:gd name="T3" fmla="*/ 360 h 403"/>
                <a:gd name="T4" fmla="*/ 820 w 904"/>
                <a:gd name="T5" fmla="*/ 0 h 403"/>
                <a:gd name="T6" fmla="*/ 904 w 904"/>
                <a:gd name="T7" fmla="*/ 21 h 403"/>
                <a:gd name="T8" fmla="*/ 13 w 904"/>
                <a:gd name="T9" fmla="*/ 403 h 403"/>
              </a:gdLst>
              <a:ahLst/>
              <a:cxnLst>
                <a:cxn ang="0">
                  <a:pos x="T0" y="T1"/>
                </a:cxn>
                <a:cxn ang="0">
                  <a:pos x="T2" y="T3"/>
                </a:cxn>
                <a:cxn ang="0">
                  <a:pos x="T4" y="T5"/>
                </a:cxn>
                <a:cxn ang="0">
                  <a:pos x="T6" y="T7"/>
                </a:cxn>
                <a:cxn ang="0">
                  <a:pos x="T8" y="T9"/>
                </a:cxn>
              </a:cxnLst>
              <a:rect l="0" t="0" r="r" b="b"/>
              <a:pathLst>
                <a:path w="904" h="403">
                  <a:moveTo>
                    <a:pt x="13" y="403"/>
                  </a:moveTo>
                  <a:lnTo>
                    <a:pt x="0" y="360"/>
                  </a:lnTo>
                  <a:lnTo>
                    <a:pt x="820" y="0"/>
                  </a:lnTo>
                  <a:lnTo>
                    <a:pt x="904" y="21"/>
                  </a:lnTo>
                  <a:lnTo>
                    <a:pt x="13" y="403"/>
                  </a:lnTo>
                  <a:close/>
                </a:path>
              </a:pathLst>
            </a:custGeom>
            <a:solidFill>
              <a:srgbClr val="11515A"/>
            </a:solidFill>
            <a:ln>
              <a:noFill/>
            </a:ln>
          </p:spPr>
          <p:txBody>
            <a:bodyPr anchor="ctr"/>
            <a:lstStyle/>
            <a:p>
              <a:pPr algn="ctr"/>
              <a:endParaRPr/>
            </a:p>
          </p:txBody>
        </p:sp>
      </p:grpSp>
      <p:grpSp>
        <p:nvGrpSpPr>
          <p:cNvPr id="35" name="组合 34"/>
          <p:cNvGrpSpPr/>
          <p:nvPr/>
        </p:nvGrpSpPr>
        <p:grpSpPr>
          <a:xfrm>
            <a:off x="848848" y="255002"/>
            <a:ext cx="6783400" cy="721330"/>
            <a:chOff x="1561776" y="234890"/>
            <a:chExt cx="6783400" cy="721330"/>
          </a:xfrm>
        </p:grpSpPr>
        <p:sp>
          <p:nvSpPr>
            <p:cNvPr id="36" name="文本框 35"/>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Our History</a:t>
              </a:r>
              <a:endParaRPr lang="zh-CN" altLang="en-US" sz="2800" b="1" dirty="0">
                <a:solidFill>
                  <a:schemeClr val="accent2"/>
                </a:solidFill>
                <a:latin typeface="+mn-ea"/>
              </a:endParaRPr>
            </a:p>
          </p:txBody>
        </p:sp>
        <p:sp>
          <p:nvSpPr>
            <p:cNvPr id="37" name="文本框 36"/>
            <p:cNvSpPr txBox="1"/>
            <p:nvPr/>
          </p:nvSpPr>
          <p:spPr>
            <a:xfrm>
              <a:off x="1561776" y="694610"/>
              <a:ext cx="6783400" cy="261610"/>
            </a:xfrm>
            <a:prstGeom prst="rect">
              <a:avLst/>
            </a:prstGeom>
            <a:noFill/>
          </p:spPr>
          <p:txBody>
            <a:bodyPr wrap="square" rtlCol="0">
              <a:spAutoFit/>
              <a:scene3d>
                <a:camera prst="orthographicFront"/>
                <a:lightRig rig="threePt" dir="t"/>
              </a:scene3d>
              <a:sp3d contourW="12700"/>
            </a:bodyPr>
            <a:lstStyle/>
            <a:p>
              <a:r>
                <a:rPr lang="en-US" altLang="zh-CN" sz="1100" dirty="0" smtClean="0">
                  <a:solidFill>
                    <a:schemeClr val="bg1">
                      <a:lumMod val="65000"/>
                    </a:schemeClr>
                  </a:solidFill>
                </a:rPr>
                <a:t>VINCHIN WAS BORN IN CHINA, AIMS TO SERVE THE WORLD</a:t>
              </a:r>
              <a:r>
                <a:rPr lang="en-US" altLang="zh-CN" sz="1100" dirty="0">
                  <a:solidFill>
                    <a:schemeClr val="bg1">
                      <a:lumMod val="65000"/>
                    </a:schemeClr>
                  </a:solidFill>
                </a:rPr>
                <a:t>.</a:t>
              </a:r>
              <a:endParaRPr lang="en-US" altLang="zh-CN" sz="1100" dirty="0" smtClean="0">
                <a:solidFill>
                  <a:schemeClr val="bg1">
                    <a:lumMod val="65000"/>
                  </a:schemeClr>
                </a:solidFill>
              </a:endParaRPr>
            </a:p>
          </p:txBody>
        </p:sp>
      </p:grpSp>
      <p:sp>
        <p:nvSpPr>
          <p:cNvPr id="38" name="任意多边形: 形状 37"/>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p:cNvGrpSpPr/>
          <p:nvPr/>
        </p:nvGrpSpPr>
        <p:grpSpPr>
          <a:xfrm>
            <a:off x="7733657" y="1646487"/>
            <a:ext cx="3537776" cy="1237792"/>
            <a:chOff x="6736921" y="2180774"/>
            <a:chExt cx="3331027" cy="1237792"/>
          </a:xfrm>
        </p:grpSpPr>
        <p:sp>
          <p:nvSpPr>
            <p:cNvPr id="41" name="TextBox 11"/>
            <p:cNvSpPr txBox="1"/>
            <p:nvPr/>
          </p:nvSpPr>
          <p:spPr>
            <a:xfrm>
              <a:off x="6736921" y="2520884"/>
              <a:ext cx="3331027" cy="897682"/>
            </a:xfrm>
            <a:prstGeom prst="rect">
              <a:avLst/>
            </a:prstGeom>
            <a:noFill/>
          </p:spPr>
          <p:txBody>
            <a:bodyPr wrap="square" lIns="0" tIns="0" rIns="0" bIns="0" rtlCol="0">
              <a:spAutoFit/>
              <a:scene3d>
                <a:camera prst="orthographicFront"/>
                <a:lightRig rig="threePt" dir="t"/>
              </a:scene3d>
              <a:sp3d contourW="12700"/>
            </a:bodyPr>
            <a:lstStyle/>
            <a:p>
              <a:pPr>
                <a:lnSpc>
                  <a:spcPts val="1400"/>
                </a:lnSpc>
              </a:pPr>
              <a:r>
                <a:rPr lang="en-US" sz="1200" dirty="0">
                  <a:solidFill>
                    <a:schemeClr val="bg1">
                      <a:lumMod val="65000"/>
                    </a:schemeClr>
                  </a:solidFill>
                  <a:latin typeface="Calibri" panose="020F0502020204030204" pitchFamily="34" charset="0"/>
                  <a:cs typeface="Calibri" panose="020F0502020204030204" pitchFamily="34" charset="0"/>
                </a:rPr>
                <a:t>5 IT guys gathered together </a:t>
              </a:r>
              <a:r>
                <a:rPr lang="en-US" altLang="zh-CN" sz="1200" dirty="0" smtClean="0">
                  <a:solidFill>
                    <a:schemeClr val="bg1">
                      <a:lumMod val="65000"/>
                    </a:schemeClr>
                  </a:solidFill>
                  <a:latin typeface="Calibri" panose="020F0502020204030204" pitchFamily="34" charset="0"/>
                  <a:cs typeface="Calibri" panose="020F0502020204030204" pitchFamily="34" charset="0"/>
                </a:rPr>
                <a:t>and founded </a:t>
              </a:r>
              <a:r>
                <a:rPr lang="en-US" sz="1200" dirty="0" smtClean="0">
                  <a:solidFill>
                    <a:schemeClr val="bg1">
                      <a:lumMod val="65000"/>
                    </a:schemeClr>
                  </a:solidFill>
                  <a:latin typeface="Calibri" panose="020F0502020204030204" pitchFamily="34" charset="0"/>
                  <a:cs typeface="Calibri" panose="020F0502020204030204" pitchFamily="34" charset="0"/>
                </a:rPr>
                <a:t>a company and named it “</a:t>
              </a:r>
              <a:r>
                <a:rPr lang="en-US" sz="1200" dirty="0" err="1" smtClean="0">
                  <a:solidFill>
                    <a:schemeClr val="bg1">
                      <a:lumMod val="65000"/>
                    </a:schemeClr>
                  </a:solidFill>
                  <a:latin typeface="Calibri" panose="020F0502020204030204" pitchFamily="34" charset="0"/>
                  <a:cs typeface="Calibri" panose="020F0502020204030204" pitchFamily="34" charset="0"/>
                </a:rPr>
                <a:t>Vinchin</a:t>
              </a:r>
              <a:r>
                <a:rPr lang="en-US" sz="1200" dirty="0" smtClean="0">
                  <a:solidFill>
                    <a:schemeClr val="bg1">
                      <a:lumMod val="65000"/>
                    </a:schemeClr>
                  </a:solidFill>
                  <a:latin typeface="Calibri" panose="020F0502020204030204" pitchFamily="34" charset="0"/>
                  <a:cs typeface="Calibri" panose="020F0502020204030204" pitchFamily="34" charset="0"/>
                </a:rPr>
                <a:t>”, focusing on backup and disaster recovery technology development. </a:t>
              </a:r>
              <a:r>
                <a:rPr lang="en-US" sz="1200" dirty="0" err="1" smtClean="0">
                  <a:solidFill>
                    <a:schemeClr val="bg1">
                      <a:lumMod val="65000"/>
                    </a:schemeClr>
                  </a:solidFill>
                  <a:latin typeface="Calibri" panose="020F0502020204030204" pitchFamily="34" charset="0"/>
                  <a:cs typeface="Calibri" panose="020F0502020204030204" pitchFamily="34" charset="0"/>
                </a:rPr>
                <a:t>Vinchin</a:t>
              </a:r>
              <a:r>
                <a:rPr lang="en-US" sz="1200" dirty="0" smtClean="0">
                  <a:solidFill>
                    <a:schemeClr val="bg1">
                      <a:lumMod val="65000"/>
                    </a:schemeClr>
                  </a:solidFill>
                  <a:latin typeface="Calibri" panose="020F0502020204030204" pitchFamily="34" charset="0"/>
                  <a:cs typeface="Calibri" panose="020F0502020204030204" pitchFamily="34" charset="0"/>
                </a:rPr>
                <a:t> </a:t>
              </a:r>
              <a:r>
                <a:rPr lang="en-US" altLang="zh-CN" sz="1200" dirty="0" smtClean="0">
                  <a:solidFill>
                    <a:schemeClr val="bg1">
                      <a:lumMod val="65000"/>
                    </a:schemeClr>
                  </a:solidFill>
                  <a:latin typeface="Calibri" panose="020F0502020204030204" pitchFamily="34" charset="0"/>
                  <a:cs typeface="Calibri" panose="020F0502020204030204" pitchFamily="34" charset="0"/>
                </a:rPr>
                <a:t>in Chinese </a:t>
              </a:r>
              <a:r>
                <a:rPr lang="en-US" sz="1200" dirty="0" smtClean="0">
                  <a:solidFill>
                    <a:schemeClr val="bg1">
                      <a:lumMod val="65000"/>
                    </a:schemeClr>
                  </a:solidFill>
                  <a:latin typeface="Calibri" panose="020F0502020204030204" pitchFamily="34" charset="0"/>
                  <a:cs typeface="Calibri" panose="020F0502020204030204" pitchFamily="34" charset="0"/>
                </a:rPr>
                <a:t>means </a:t>
              </a:r>
              <a:r>
                <a:rPr lang="en-US" altLang="zh-CN" sz="1200" dirty="0" smtClean="0">
                  <a:solidFill>
                    <a:schemeClr val="bg1">
                      <a:lumMod val="65000"/>
                    </a:schemeClr>
                  </a:solidFill>
                  <a:latin typeface="Calibri" panose="020F0502020204030204" pitchFamily="34" charset="0"/>
                  <a:cs typeface="Calibri" panose="020F0502020204030204" pitchFamily="34" charset="0"/>
                </a:rPr>
                <a:t>cloud + </a:t>
              </a:r>
              <a:r>
                <a:rPr lang="en-US" sz="1200" dirty="0" smtClean="0">
                  <a:solidFill>
                    <a:schemeClr val="bg1">
                      <a:lumMod val="65000"/>
                    </a:schemeClr>
                  </a:solidFill>
                  <a:latin typeface="Calibri" panose="020F0502020204030204" pitchFamily="34" charset="0"/>
                  <a:cs typeface="Calibri" panose="020F0502020204030204" pitchFamily="34" charset="0"/>
                </a:rPr>
                <a:t>good fortune, in English “</a:t>
              </a:r>
              <a:r>
                <a:rPr lang="en-US" altLang="zh-CN" sz="1200" dirty="0" smtClean="0">
                  <a:solidFill>
                    <a:schemeClr val="bg1">
                      <a:lumMod val="65000"/>
                    </a:schemeClr>
                  </a:solidFill>
                  <a:latin typeface="Calibri" panose="020F0502020204030204" pitchFamily="34" charset="0"/>
                  <a:cs typeface="Calibri" panose="020F0502020204030204" pitchFamily="34" charset="0"/>
                </a:rPr>
                <a:t>chin” </a:t>
              </a:r>
              <a:r>
                <a:rPr lang="en-US" sz="1200" dirty="0" smtClean="0">
                  <a:solidFill>
                    <a:schemeClr val="bg1">
                      <a:lumMod val="65000"/>
                    </a:schemeClr>
                  </a:solidFill>
                  <a:latin typeface="Calibri" panose="020F0502020204030204" pitchFamily="34" charset="0"/>
                  <a:cs typeface="Calibri" panose="020F0502020204030204" pitchFamily="34" charset="0"/>
                </a:rPr>
                <a:t>means China.</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42" name="TextBox 11"/>
            <p:cNvSpPr txBox="1"/>
            <p:nvPr/>
          </p:nvSpPr>
          <p:spPr>
            <a:xfrm>
              <a:off x="6736921" y="2180774"/>
              <a:ext cx="2449035" cy="276999"/>
            </a:xfrm>
            <a:prstGeom prst="rect">
              <a:avLst/>
            </a:prstGeom>
            <a:noFill/>
          </p:spPr>
          <p:txBody>
            <a:bodyPr wrap="square" lIns="0" tIns="0" rIns="0" bIns="0" rtlCol="0">
              <a:spAutoFit/>
              <a:scene3d>
                <a:camera prst="orthographicFront"/>
                <a:lightRig rig="threePt" dir="t"/>
              </a:scene3d>
              <a:sp3d contourW="12700"/>
            </a:bodyPr>
            <a:lstStyle/>
            <a:p>
              <a:r>
                <a:rPr lang="en-US" b="1" dirty="0" smtClean="0">
                  <a:solidFill>
                    <a:schemeClr val="tx1">
                      <a:lumMod val="75000"/>
                      <a:lumOff val="25000"/>
                    </a:schemeClr>
                  </a:solidFill>
                  <a:latin typeface="Calibri" panose="020F0502020204030204" pitchFamily="34" charset="0"/>
                  <a:cs typeface="Calibri" panose="020F0502020204030204" pitchFamily="34" charset="0"/>
                </a:rPr>
                <a:t>2015</a:t>
              </a:r>
              <a:endParaRPr lang="en-US" b="1" dirty="0">
                <a:solidFill>
                  <a:schemeClr val="tx1">
                    <a:lumMod val="75000"/>
                    <a:lumOff val="25000"/>
                  </a:schemeClr>
                </a:solidFill>
                <a:latin typeface="Calibri" panose="020F0502020204030204" pitchFamily="34" charset="0"/>
                <a:cs typeface="Calibri" panose="020F0502020204030204" pitchFamily="34" charset="0"/>
              </a:endParaRPr>
            </a:p>
          </p:txBody>
        </p:sp>
      </p:grpSp>
      <p:grpSp>
        <p:nvGrpSpPr>
          <p:cNvPr id="43" name="组合 42"/>
          <p:cNvGrpSpPr/>
          <p:nvPr/>
        </p:nvGrpSpPr>
        <p:grpSpPr>
          <a:xfrm>
            <a:off x="7733657" y="3043739"/>
            <a:ext cx="3537776" cy="1058255"/>
            <a:chOff x="6736921" y="2180774"/>
            <a:chExt cx="3331027" cy="1058255"/>
          </a:xfrm>
        </p:grpSpPr>
        <p:sp>
          <p:nvSpPr>
            <p:cNvPr id="44" name="TextBox 11"/>
            <p:cNvSpPr txBox="1"/>
            <p:nvPr/>
          </p:nvSpPr>
          <p:spPr>
            <a:xfrm>
              <a:off x="6736921" y="2520884"/>
              <a:ext cx="3331027" cy="718145"/>
            </a:xfrm>
            <a:prstGeom prst="rect">
              <a:avLst/>
            </a:prstGeom>
            <a:noFill/>
          </p:spPr>
          <p:txBody>
            <a:bodyPr wrap="square" lIns="0" tIns="0" rIns="0" bIns="0" rtlCol="0">
              <a:spAutoFit/>
              <a:scene3d>
                <a:camera prst="orthographicFront"/>
                <a:lightRig rig="threePt" dir="t"/>
              </a:scene3d>
              <a:sp3d contourW="12700"/>
            </a:bodyPr>
            <a:lstStyle/>
            <a:p>
              <a:pPr>
                <a:lnSpc>
                  <a:spcPts val="1400"/>
                </a:lnSpc>
              </a:pPr>
              <a:r>
                <a:rPr lang="en-US" sz="1200" dirty="0" err="1" smtClean="0">
                  <a:solidFill>
                    <a:schemeClr val="bg1">
                      <a:lumMod val="65000"/>
                    </a:schemeClr>
                  </a:solidFill>
                  <a:latin typeface="Calibri" panose="020F0502020204030204" pitchFamily="34" charset="0"/>
                  <a:cs typeface="Calibri" panose="020F0502020204030204" pitchFamily="34" charset="0"/>
                </a:rPr>
                <a:t>Vinchin</a:t>
              </a:r>
              <a:r>
                <a:rPr lang="en-US" sz="1200" dirty="0" smtClean="0">
                  <a:solidFill>
                    <a:schemeClr val="bg1">
                      <a:lumMod val="65000"/>
                    </a:schemeClr>
                  </a:solidFill>
                  <a:latin typeface="Calibri" panose="020F0502020204030204" pitchFamily="34" charset="0"/>
                  <a:cs typeface="Calibri" panose="020F0502020204030204" pitchFamily="34" charset="0"/>
                </a:rPr>
                <a:t> established oversea sales department and </a:t>
              </a:r>
              <a:r>
                <a:rPr lang="en-US" altLang="zh-CN" sz="1200" dirty="0" smtClean="0">
                  <a:solidFill>
                    <a:schemeClr val="bg1">
                      <a:lumMod val="65000"/>
                    </a:schemeClr>
                  </a:solidFill>
                  <a:latin typeface="Calibri" panose="020F0502020204030204" pitchFamily="34" charset="0"/>
                  <a:cs typeface="Calibri" panose="020F0502020204030204" pitchFamily="34" charset="0"/>
                </a:rPr>
                <a:t>start the preparation of the product and marketing. The same year March,</a:t>
              </a:r>
              <a:r>
                <a:rPr lang="en-US" sz="1200" dirty="0" smtClean="0">
                  <a:solidFill>
                    <a:schemeClr val="bg1">
                      <a:lumMod val="65000"/>
                    </a:schemeClr>
                  </a:solidFill>
                  <a:latin typeface="Calibri" panose="020F0502020204030204" pitchFamily="34" charset="0"/>
                  <a:cs typeface="Calibri" panose="020F0502020204030204" pitchFamily="34" charset="0"/>
                </a:rPr>
                <a:t> </a:t>
              </a:r>
              <a:r>
                <a:rPr lang="en-US" altLang="zh-CN" sz="1200" dirty="0" err="1" smtClean="0">
                  <a:solidFill>
                    <a:schemeClr val="bg1">
                      <a:lumMod val="65000"/>
                    </a:schemeClr>
                  </a:solidFill>
                  <a:latin typeface="Calibri" panose="020F0502020204030204" pitchFamily="34" charset="0"/>
                  <a:cs typeface="Calibri" panose="020F0502020204030204" pitchFamily="34" charset="0"/>
                </a:rPr>
                <a:t>Vinchin</a:t>
              </a:r>
              <a:r>
                <a:rPr lang="en-US" altLang="zh-CN" sz="1200" dirty="0" smtClean="0">
                  <a:solidFill>
                    <a:schemeClr val="bg1">
                      <a:lumMod val="65000"/>
                    </a:schemeClr>
                  </a:solidFill>
                  <a:latin typeface="Calibri" panose="020F0502020204030204" pitchFamily="34" charset="0"/>
                  <a:cs typeface="Calibri" panose="020F0502020204030204" pitchFamily="34" charset="0"/>
                </a:rPr>
                <a:t> Backup &amp; Recovery v4.0 was released globally.</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45" name="TextBox 11"/>
            <p:cNvSpPr txBox="1"/>
            <p:nvPr/>
          </p:nvSpPr>
          <p:spPr>
            <a:xfrm>
              <a:off x="6736921" y="2180774"/>
              <a:ext cx="2449035" cy="276999"/>
            </a:xfrm>
            <a:prstGeom prst="rect">
              <a:avLst/>
            </a:prstGeom>
            <a:noFill/>
          </p:spPr>
          <p:txBody>
            <a:bodyPr wrap="square" lIns="0" tIns="0" rIns="0" bIns="0" rtlCol="0">
              <a:spAutoFit/>
              <a:scene3d>
                <a:camera prst="orthographicFront"/>
                <a:lightRig rig="threePt" dir="t"/>
              </a:scene3d>
              <a:sp3d contourW="12700"/>
            </a:bodyPr>
            <a:lstStyle/>
            <a:p>
              <a:r>
                <a:rPr lang="en-US" b="1" dirty="0" smtClean="0">
                  <a:solidFill>
                    <a:schemeClr val="tx1">
                      <a:lumMod val="75000"/>
                      <a:lumOff val="25000"/>
                    </a:schemeClr>
                  </a:solidFill>
                  <a:latin typeface="Calibri" panose="020F0502020204030204" pitchFamily="34" charset="0"/>
                  <a:cs typeface="Calibri" panose="020F0502020204030204" pitchFamily="34" charset="0"/>
                </a:rPr>
                <a:t>2018</a:t>
              </a:r>
              <a:endParaRPr lang="en-US" b="1" dirty="0">
                <a:solidFill>
                  <a:schemeClr val="tx1">
                    <a:lumMod val="75000"/>
                    <a:lumOff val="25000"/>
                  </a:schemeClr>
                </a:solidFill>
                <a:latin typeface="Calibri" panose="020F0502020204030204" pitchFamily="34" charset="0"/>
                <a:cs typeface="Calibri" panose="020F0502020204030204" pitchFamily="34" charset="0"/>
              </a:endParaRPr>
            </a:p>
          </p:txBody>
        </p:sp>
      </p:grpSp>
      <p:grpSp>
        <p:nvGrpSpPr>
          <p:cNvPr id="46" name="组合 45"/>
          <p:cNvGrpSpPr/>
          <p:nvPr/>
        </p:nvGrpSpPr>
        <p:grpSpPr>
          <a:xfrm>
            <a:off x="7733657" y="4279625"/>
            <a:ext cx="3537776" cy="1058255"/>
            <a:chOff x="6736921" y="2180774"/>
            <a:chExt cx="3331027" cy="1058255"/>
          </a:xfrm>
        </p:grpSpPr>
        <p:sp>
          <p:nvSpPr>
            <p:cNvPr id="47" name="TextBox 11"/>
            <p:cNvSpPr txBox="1"/>
            <p:nvPr/>
          </p:nvSpPr>
          <p:spPr>
            <a:xfrm>
              <a:off x="6736921" y="2520884"/>
              <a:ext cx="3331027" cy="718145"/>
            </a:xfrm>
            <a:prstGeom prst="rect">
              <a:avLst/>
            </a:prstGeom>
            <a:noFill/>
          </p:spPr>
          <p:txBody>
            <a:bodyPr wrap="square" lIns="0" tIns="0" rIns="0" bIns="0" rtlCol="0">
              <a:spAutoFit/>
              <a:scene3d>
                <a:camera prst="orthographicFront"/>
                <a:lightRig rig="threePt" dir="t"/>
              </a:scene3d>
              <a:sp3d contourW="12700"/>
            </a:bodyPr>
            <a:lstStyle/>
            <a:p>
              <a:pPr>
                <a:lnSpc>
                  <a:spcPts val="1400"/>
                </a:lnSpc>
              </a:pPr>
              <a:r>
                <a:rPr lang="en-US" sz="1200" dirty="0" smtClean="0">
                  <a:solidFill>
                    <a:schemeClr val="bg1">
                      <a:lumMod val="65000"/>
                    </a:schemeClr>
                  </a:solidFill>
                  <a:latin typeface="Calibri" panose="020F0502020204030204" pitchFamily="34" charset="0"/>
                  <a:cs typeface="Calibri" panose="020F0502020204030204" pitchFamily="34" charset="0"/>
                </a:rPr>
                <a:t>After years exploring in the market, </a:t>
              </a:r>
              <a:r>
                <a:rPr lang="en-US" sz="1200" dirty="0" err="1" smtClean="0">
                  <a:solidFill>
                    <a:schemeClr val="bg1">
                      <a:lumMod val="65000"/>
                    </a:schemeClr>
                  </a:solidFill>
                  <a:latin typeface="Calibri" panose="020F0502020204030204" pitchFamily="34" charset="0"/>
                  <a:cs typeface="Calibri" panose="020F0502020204030204" pitchFamily="34" charset="0"/>
                </a:rPr>
                <a:t>Vinchin</a:t>
              </a:r>
              <a:r>
                <a:rPr lang="en-US" sz="1200" dirty="0" smtClean="0">
                  <a:solidFill>
                    <a:schemeClr val="bg1">
                      <a:lumMod val="65000"/>
                    </a:schemeClr>
                  </a:solidFill>
                  <a:latin typeface="Calibri" panose="020F0502020204030204" pitchFamily="34" charset="0"/>
                  <a:cs typeface="Calibri" panose="020F0502020204030204" pitchFamily="34" charset="0"/>
                </a:rPr>
                <a:t> </a:t>
              </a:r>
              <a:r>
                <a:rPr lang="en-US" altLang="zh-CN" sz="1200" dirty="0" smtClean="0">
                  <a:solidFill>
                    <a:schemeClr val="bg1">
                      <a:lumMod val="65000"/>
                    </a:schemeClr>
                  </a:solidFill>
                  <a:latin typeface="Calibri" panose="020F0502020204030204" pitchFamily="34" charset="0"/>
                  <a:cs typeface="Calibri" panose="020F0502020204030204" pitchFamily="34" charset="0"/>
                </a:rPr>
                <a:t>has </a:t>
              </a:r>
              <a:r>
                <a:rPr lang="en-US" sz="1200" dirty="0" smtClean="0">
                  <a:solidFill>
                    <a:schemeClr val="bg1">
                      <a:lumMod val="65000"/>
                    </a:schemeClr>
                  </a:solidFill>
                  <a:latin typeface="Calibri" panose="020F0502020204030204" pitchFamily="34" charset="0"/>
                  <a:cs typeface="Calibri" panose="020F0502020204030204" pitchFamily="34" charset="0"/>
                </a:rPr>
                <a:t>gained 300% sales increase both in China and oversea market in 2020 </a:t>
              </a:r>
              <a:r>
                <a:rPr lang="en-US" altLang="zh-CN" sz="1200" dirty="0" smtClean="0">
                  <a:solidFill>
                    <a:schemeClr val="bg1">
                      <a:lumMod val="65000"/>
                    </a:schemeClr>
                  </a:solidFill>
                  <a:latin typeface="Calibri" panose="020F0502020204030204" pitchFamily="34" charset="0"/>
                  <a:cs typeface="Calibri" panose="020F0502020204030204" pitchFamily="34" charset="0"/>
                </a:rPr>
                <a:t>with 10000+ Customers and 1.6M+ VMs under protection all over the world.</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48" name="TextBox 11"/>
            <p:cNvSpPr txBox="1"/>
            <p:nvPr/>
          </p:nvSpPr>
          <p:spPr>
            <a:xfrm>
              <a:off x="6736921" y="2180774"/>
              <a:ext cx="2449035" cy="276999"/>
            </a:xfrm>
            <a:prstGeom prst="rect">
              <a:avLst/>
            </a:prstGeom>
            <a:noFill/>
          </p:spPr>
          <p:txBody>
            <a:bodyPr wrap="square" lIns="0" tIns="0" rIns="0" bIns="0" rtlCol="0">
              <a:spAutoFit/>
              <a:scene3d>
                <a:camera prst="orthographicFront"/>
                <a:lightRig rig="threePt" dir="t"/>
              </a:scene3d>
              <a:sp3d contourW="12700"/>
            </a:bodyPr>
            <a:lstStyle/>
            <a:p>
              <a:r>
                <a:rPr lang="en-US" altLang="zh-CN" b="1" dirty="0" smtClean="0">
                  <a:solidFill>
                    <a:schemeClr val="tx1">
                      <a:lumMod val="75000"/>
                      <a:lumOff val="25000"/>
                    </a:schemeClr>
                  </a:solidFill>
                  <a:latin typeface="Calibri" panose="020F0502020204030204" pitchFamily="34" charset="0"/>
                  <a:cs typeface="Calibri" panose="020F0502020204030204" pitchFamily="34" charset="0"/>
                </a:rPr>
                <a:t>2020</a:t>
              </a:r>
              <a:endParaRPr lang="en-US" b="1" dirty="0">
                <a:solidFill>
                  <a:schemeClr val="tx1">
                    <a:lumMod val="75000"/>
                    <a:lumOff val="25000"/>
                  </a:schemeClr>
                </a:solidFill>
                <a:latin typeface="Calibri" panose="020F0502020204030204" pitchFamily="34" charset="0"/>
                <a:cs typeface="Calibri" panose="020F0502020204030204" pitchFamily="34" charset="0"/>
              </a:endParaRPr>
            </a:p>
          </p:txBody>
        </p:sp>
      </p:grpSp>
      <p:sp>
        <p:nvSpPr>
          <p:cNvPr id="49" name="TextBox 11"/>
          <p:cNvSpPr txBox="1"/>
          <p:nvPr/>
        </p:nvSpPr>
        <p:spPr>
          <a:xfrm>
            <a:off x="1510398" y="4521365"/>
            <a:ext cx="748022" cy="369332"/>
          </a:xfrm>
          <a:prstGeom prst="rect">
            <a:avLst/>
          </a:prstGeom>
          <a:noFill/>
        </p:spPr>
        <p:txBody>
          <a:bodyPr wrap="square" lIns="0" tIns="0" rIns="0" bIns="0" rtlCol="0">
            <a:spAutoFit/>
            <a:scene3d>
              <a:camera prst="orthographicFront"/>
              <a:lightRig rig="threePt" dir="t"/>
            </a:scene3d>
            <a:sp3d contourW="12700"/>
          </a:bodyPr>
          <a:lstStyle/>
          <a:p>
            <a:r>
              <a:rPr lang="en-US" altLang="zh-CN" sz="2400" b="1" dirty="0" smtClean="0">
                <a:solidFill>
                  <a:schemeClr val="tx1">
                    <a:lumMod val="75000"/>
                    <a:lumOff val="25000"/>
                  </a:schemeClr>
                </a:solidFill>
              </a:rPr>
              <a:t>2015</a:t>
            </a:r>
            <a:endParaRPr lang="en-US" sz="2400" b="1" dirty="0">
              <a:solidFill>
                <a:schemeClr val="tx1">
                  <a:lumMod val="75000"/>
                  <a:lumOff val="25000"/>
                </a:schemeClr>
              </a:solidFill>
            </a:endParaRPr>
          </a:p>
        </p:txBody>
      </p:sp>
      <p:sp>
        <p:nvSpPr>
          <p:cNvPr id="50" name="TextBox 11"/>
          <p:cNvSpPr txBox="1"/>
          <p:nvPr/>
        </p:nvSpPr>
        <p:spPr>
          <a:xfrm>
            <a:off x="2709791" y="4054854"/>
            <a:ext cx="748022" cy="369332"/>
          </a:xfrm>
          <a:prstGeom prst="rect">
            <a:avLst/>
          </a:prstGeom>
          <a:noFill/>
        </p:spPr>
        <p:txBody>
          <a:bodyPr wrap="square" lIns="0" tIns="0" rIns="0" bIns="0" rtlCol="0">
            <a:spAutoFit/>
            <a:scene3d>
              <a:camera prst="orthographicFront"/>
              <a:lightRig rig="threePt" dir="t"/>
            </a:scene3d>
            <a:sp3d contourW="12700"/>
          </a:bodyPr>
          <a:lstStyle/>
          <a:p>
            <a:r>
              <a:rPr lang="en-US" altLang="zh-CN" sz="2400" b="1" dirty="0" smtClean="0">
                <a:solidFill>
                  <a:schemeClr val="tx1">
                    <a:lumMod val="75000"/>
                    <a:lumOff val="25000"/>
                  </a:schemeClr>
                </a:solidFill>
              </a:rPr>
              <a:t>2018</a:t>
            </a:r>
            <a:endParaRPr lang="en-US" sz="2400" b="1" dirty="0">
              <a:solidFill>
                <a:schemeClr val="tx1">
                  <a:lumMod val="75000"/>
                  <a:lumOff val="25000"/>
                </a:schemeClr>
              </a:solidFill>
            </a:endParaRPr>
          </a:p>
        </p:txBody>
      </p:sp>
      <p:sp>
        <p:nvSpPr>
          <p:cNvPr id="51" name="TextBox 11"/>
          <p:cNvSpPr txBox="1"/>
          <p:nvPr/>
        </p:nvSpPr>
        <p:spPr>
          <a:xfrm>
            <a:off x="4064169" y="2974912"/>
            <a:ext cx="748022" cy="369332"/>
          </a:xfrm>
          <a:prstGeom prst="rect">
            <a:avLst/>
          </a:prstGeom>
          <a:noFill/>
        </p:spPr>
        <p:txBody>
          <a:bodyPr wrap="square" lIns="0" tIns="0" rIns="0" bIns="0" rtlCol="0">
            <a:spAutoFit/>
            <a:scene3d>
              <a:camera prst="orthographicFront"/>
              <a:lightRig rig="threePt" dir="t"/>
            </a:scene3d>
            <a:sp3d contourW="12700"/>
          </a:bodyPr>
          <a:lstStyle/>
          <a:p>
            <a:r>
              <a:rPr lang="en-US" altLang="zh-CN" sz="2400" b="1" dirty="0" smtClean="0">
                <a:solidFill>
                  <a:schemeClr val="tx1">
                    <a:lumMod val="75000"/>
                    <a:lumOff val="25000"/>
                  </a:schemeClr>
                </a:solidFill>
              </a:rPr>
              <a:t>2020</a:t>
            </a:r>
            <a:endParaRPr lang="en-US" sz="2400" b="1" dirty="0">
              <a:solidFill>
                <a:schemeClr val="tx1">
                  <a:lumMod val="75000"/>
                  <a:lumOff val="25000"/>
                </a:schemeClr>
              </a:solidFill>
            </a:endParaRPr>
          </a:p>
        </p:txBody>
      </p:sp>
      <p:sp>
        <p:nvSpPr>
          <p:cNvPr id="52" name="TextBox 11"/>
          <p:cNvSpPr txBox="1"/>
          <p:nvPr/>
        </p:nvSpPr>
        <p:spPr>
          <a:xfrm>
            <a:off x="6037014" y="1597801"/>
            <a:ext cx="1020578" cy="369332"/>
          </a:xfrm>
          <a:prstGeom prst="rect">
            <a:avLst/>
          </a:prstGeom>
          <a:noFill/>
        </p:spPr>
        <p:txBody>
          <a:bodyPr wrap="square" lIns="0" tIns="0" rIns="0" bIns="0" rtlCol="0">
            <a:spAutoFit/>
            <a:scene3d>
              <a:camera prst="orthographicFront"/>
              <a:lightRig rig="threePt" dir="t"/>
            </a:scene3d>
            <a:sp3d contourW="12700"/>
          </a:bodyPr>
          <a:lstStyle/>
          <a:p>
            <a:r>
              <a:rPr lang="en-US" altLang="zh-CN" sz="2400" b="1" dirty="0" smtClean="0">
                <a:solidFill>
                  <a:schemeClr val="tx1">
                    <a:lumMod val="75000"/>
                    <a:lumOff val="25000"/>
                  </a:schemeClr>
                </a:solidFill>
              </a:rPr>
              <a:t>2022…</a:t>
            </a:r>
            <a:endParaRPr lang="en-US" sz="2400" b="1" dirty="0">
              <a:solidFill>
                <a:schemeClr val="tx1">
                  <a:lumMod val="75000"/>
                  <a:lumOff val="25000"/>
                </a:schemeClr>
              </a:solidFill>
            </a:endParaRPr>
          </a:p>
        </p:txBody>
      </p:sp>
      <p:grpSp>
        <p:nvGrpSpPr>
          <p:cNvPr id="53" name="组合 52"/>
          <p:cNvGrpSpPr/>
          <p:nvPr/>
        </p:nvGrpSpPr>
        <p:grpSpPr>
          <a:xfrm>
            <a:off x="7733657" y="5514332"/>
            <a:ext cx="3537776" cy="519646"/>
            <a:chOff x="6736921" y="2180774"/>
            <a:chExt cx="3331027" cy="519646"/>
          </a:xfrm>
        </p:grpSpPr>
        <p:sp>
          <p:nvSpPr>
            <p:cNvPr id="54" name="TextBox 11"/>
            <p:cNvSpPr txBox="1"/>
            <p:nvPr/>
          </p:nvSpPr>
          <p:spPr>
            <a:xfrm>
              <a:off x="6736921" y="2520884"/>
              <a:ext cx="3331027" cy="179536"/>
            </a:xfrm>
            <a:prstGeom prst="rect">
              <a:avLst/>
            </a:prstGeom>
            <a:noFill/>
          </p:spPr>
          <p:txBody>
            <a:bodyPr wrap="square" lIns="0" tIns="0" rIns="0" bIns="0" rtlCol="0">
              <a:spAutoFit/>
              <a:scene3d>
                <a:camera prst="orthographicFront"/>
                <a:lightRig rig="threePt" dir="t"/>
              </a:scene3d>
              <a:sp3d contourW="12700"/>
            </a:bodyPr>
            <a:lstStyle/>
            <a:p>
              <a:pPr>
                <a:lnSpc>
                  <a:spcPts val="1400"/>
                </a:lnSpc>
              </a:pPr>
              <a:r>
                <a:rPr lang="en-US" sz="1200" dirty="0" smtClean="0">
                  <a:solidFill>
                    <a:schemeClr val="bg1">
                      <a:lumMod val="65000"/>
                    </a:schemeClr>
                  </a:solidFill>
                  <a:latin typeface="Calibri" panose="020F0502020204030204" pitchFamily="34" charset="0"/>
                  <a:cs typeface="Calibri" panose="020F0502020204030204" pitchFamily="34" charset="0"/>
                </a:rPr>
                <a:t>We are expecting your join-in…</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55" name="TextBox 11"/>
            <p:cNvSpPr txBox="1"/>
            <p:nvPr/>
          </p:nvSpPr>
          <p:spPr>
            <a:xfrm>
              <a:off x="6736921" y="2180774"/>
              <a:ext cx="2449035" cy="276999"/>
            </a:xfrm>
            <a:prstGeom prst="rect">
              <a:avLst/>
            </a:prstGeom>
            <a:noFill/>
          </p:spPr>
          <p:txBody>
            <a:bodyPr wrap="square" lIns="0" tIns="0" rIns="0" bIns="0" rtlCol="0">
              <a:spAutoFit/>
              <a:scene3d>
                <a:camera prst="orthographicFront"/>
                <a:lightRig rig="threePt" dir="t"/>
              </a:scene3d>
              <a:sp3d contourW="12700"/>
            </a:bodyPr>
            <a:lstStyle/>
            <a:p>
              <a:r>
                <a:rPr lang="en-US" altLang="zh-CN" b="1" dirty="0" smtClean="0">
                  <a:solidFill>
                    <a:schemeClr val="tx1">
                      <a:lumMod val="75000"/>
                      <a:lumOff val="25000"/>
                    </a:schemeClr>
                  </a:solidFill>
                  <a:latin typeface="Calibri" panose="020F0502020204030204" pitchFamily="34" charset="0"/>
                  <a:cs typeface="Calibri" panose="020F0502020204030204" pitchFamily="34" charset="0"/>
                </a:rPr>
                <a:t>2022…</a:t>
              </a:r>
              <a:endParaRPr lang="en-US" b="1" dirty="0">
                <a:solidFill>
                  <a:schemeClr val="tx1">
                    <a:lumMod val="75000"/>
                    <a:lumOff val="25000"/>
                  </a:schemeClr>
                </a:solidFill>
                <a:latin typeface="Calibri" panose="020F0502020204030204" pitchFamily="34" charset="0"/>
                <a:cs typeface="Calibri" panose="020F050202020403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p:tgtEl>
                                          <p:spTgt spid="40"/>
                                        </p:tgtEl>
                                        <p:attrNameLst>
                                          <p:attrName>ppt_x</p:attrName>
                                        </p:attrNameLst>
                                      </p:cBhvr>
                                      <p:tavLst>
                                        <p:tav tm="0">
                                          <p:val>
                                            <p:strVal val="#ppt_x-#ppt_w*1.125000"/>
                                          </p:val>
                                        </p:tav>
                                        <p:tav tm="100000">
                                          <p:val>
                                            <p:strVal val="#ppt_x"/>
                                          </p:val>
                                        </p:tav>
                                      </p:tavLst>
                                    </p:anim>
                                    <p:animEffect transition="in" filter="wipe(right)">
                                      <p:cBhvr>
                                        <p:cTn id="8" dur="500"/>
                                        <p:tgtEl>
                                          <p:spTgt spid="40"/>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p:tgtEl>
                                          <p:spTgt spid="43"/>
                                        </p:tgtEl>
                                        <p:attrNameLst>
                                          <p:attrName>ppt_x</p:attrName>
                                        </p:attrNameLst>
                                      </p:cBhvr>
                                      <p:tavLst>
                                        <p:tav tm="0">
                                          <p:val>
                                            <p:strVal val="#ppt_x-#ppt_w*1.125000"/>
                                          </p:val>
                                        </p:tav>
                                        <p:tav tm="100000">
                                          <p:val>
                                            <p:strVal val="#ppt_x"/>
                                          </p:val>
                                        </p:tav>
                                      </p:tavLst>
                                    </p:anim>
                                    <p:animEffect transition="in" filter="wipe(right)">
                                      <p:cBhvr>
                                        <p:cTn id="13" dur="500"/>
                                        <p:tgtEl>
                                          <p:spTgt spid="43"/>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46"/>
                                        </p:tgtEl>
                                        <p:attrNameLst>
                                          <p:attrName>style.visibility</p:attrName>
                                        </p:attrNameLst>
                                      </p:cBhvr>
                                      <p:to>
                                        <p:strVal val="visible"/>
                                      </p:to>
                                    </p:set>
                                    <p:anim calcmode="lin" valueType="num">
                                      <p:cBhvr additive="base">
                                        <p:cTn id="17" dur="500"/>
                                        <p:tgtEl>
                                          <p:spTgt spid="46"/>
                                        </p:tgtEl>
                                        <p:attrNameLst>
                                          <p:attrName>ppt_x</p:attrName>
                                        </p:attrNameLst>
                                      </p:cBhvr>
                                      <p:tavLst>
                                        <p:tav tm="0">
                                          <p:val>
                                            <p:strVal val="#ppt_x-#ppt_w*1.125000"/>
                                          </p:val>
                                        </p:tav>
                                        <p:tav tm="100000">
                                          <p:val>
                                            <p:strVal val="#ppt_x"/>
                                          </p:val>
                                        </p:tav>
                                      </p:tavLst>
                                    </p:anim>
                                    <p:animEffect transition="in" filter="wipe(right)">
                                      <p:cBhvr>
                                        <p:cTn id="18" dur="500"/>
                                        <p:tgtEl>
                                          <p:spTgt spid="46"/>
                                        </p:tgtEl>
                                      </p:cBhvr>
                                    </p:animEffect>
                                  </p:childTnLst>
                                </p:cTn>
                              </p:par>
                            </p:childTnLst>
                          </p:cTn>
                        </p:par>
                        <p:par>
                          <p:cTn id="19" fill="hold">
                            <p:stCondLst>
                              <p:cond delay="1500"/>
                            </p:stCondLst>
                            <p:childTnLst>
                              <p:par>
                                <p:cTn id="20" presetID="12" presetClass="entr" presetSubtype="8" fill="hold" nodeType="after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additive="base">
                                        <p:cTn id="22" dur="500"/>
                                        <p:tgtEl>
                                          <p:spTgt spid="53"/>
                                        </p:tgtEl>
                                        <p:attrNameLst>
                                          <p:attrName>ppt_x</p:attrName>
                                        </p:attrNameLst>
                                      </p:cBhvr>
                                      <p:tavLst>
                                        <p:tav tm="0">
                                          <p:val>
                                            <p:strVal val="#ppt_x-#ppt_w*1.125000"/>
                                          </p:val>
                                        </p:tav>
                                        <p:tav tm="100000">
                                          <p:val>
                                            <p:strVal val="#ppt_x"/>
                                          </p:val>
                                        </p:tav>
                                      </p:tavLst>
                                    </p:anim>
                                    <p:animEffect transition="in" filter="wipe(right)">
                                      <p:cBhvr>
                                        <p:cTn id="2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e7d0d1c4-1f7c-4f31-8933-4127faacf014"/>
          <p:cNvGrpSpPr>
            <a:grpSpLocks noChangeAspect="1"/>
          </p:cNvGrpSpPr>
          <p:nvPr/>
        </p:nvGrpSpPr>
        <p:grpSpPr>
          <a:xfrm>
            <a:off x="642374" y="2078507"/>
            <a:ext cx="10983568" cy="2430991"/>
            <a:chOff x="1524000" y="1984377"/>
            <a:chExt cx="10983572" cy="2430992"/>
          </a:xfrm>
        </p:grpSpPr>
        <p:sp>
          <p:nvSpPr>
            <p:cNvPr id="4" name="弧形 3"/>
            <p:cNvSpPr/>
            <p:nvPr/>
          </p:nvSpPr>
          <p:spPr>
            <a:xfrm>
              <a:off x="1524000" y="2567765"/>
              <a:ext cx="1828800" cy="1828800"/>
            </a:xfrm>
            <a:prstGeom prst="arc">
              <a:avLst>
                <a:gd name="adj1" fmla="val 10763432"/>
                <a:gd name="adj2" fmla="val 0"/>
              </a:avLst>
            </a:prstGeom>
            <a:noFill/>
            <a:ln w="63500" cap="rnd">
              <a:solidFill>
                <a:schemeClr val="bg1">
                  <a:lumMod val="85000"/>
                </a:schemeClr>
              </a:solidFill>
              <a:headEnd type="oval"/>
            </a:ln>
            <a:effectLst>
              <a:outerShdw blurRad="228600" dist="101600" dir="2700000" algn="tl"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 name="弧形 4"/>
            <p:cNvSpPr/>
            <p:nvPr/>
          </p:nvSpPr>
          <p:spPr>
            <a:xfrm>
              <a:off x="3352800" y="2567765"/>
              <a:ext cx="1828800" cy="1828800"/>
            </a:xfrm>
            <a:prstGeom prst="arc">
              <a:avLst>
                <a:gd name="adj1" fmla="val 10922726"/>
                <a:gd name="adj2" fmla="val 0"/>
              </a:avLst>
            </a:prstGeom>
            <a:noFill/>
            <a:ln w="63500" cap="rnd">
              <a:solidFill>
                <a:schemeClr val="bg1">
                  <a:lumMod val="85000"/>
                </a:schemeClr>
              </a:solidFill>
            </a:ln>
            <a:effectLst>
              <a:outerShdw blurRad="228600" dist="101600" dir="2700000" algn="tl"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 name="弧形 5"/>
            <p:cNvSpPr/>
            <p:nvPr/>
          </p:nvSpPr>
          <p:spPr>
            <a:xfrm>
              <a:off x="5181600" y="2567765"/>
              <a:ext cx="1828800" cy="1828800"/>
            </a:xfrm>
            <a:prstGeom prst="arc">
              <a:avLst>
                <a:gd name="adj1" fmla="val 10881839"/>
                <a:gd name="adj2" fmla="val 0"/>
              </a:avLst>
            </a:prstGeom>
            <a:noFill/>
            <a:ln w="63500" cap="rnd">
              <a:solidFill>
                <a:schemeClr val="bg1">
                  <a:lumMod val="85000"/>
                </a:schemeClr>
              </a:solidFill>
            </a:ln>
            <a:effectLst>
              <a:outerShdw blurRad="228600" dist="101600" dir="2700000" algn="tl"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弧形 6"/>
            <p:cNvSpPr/>
            <p:nvPr/>
          </p:nvSpPr>
          <p:spPr>
            <a:xfrm>
              <a:off x="7010400" y="2567765"/>
              <a:ext cx="1828800" cy="1828800"/>
            </a:xfrm>
            <a:prstGeom prst="arc">
              <a:avLst>
                <a:gd name="adj1" fmla="val 10839970"/>
                <a:gd name="adj2" fmla="val 0"/>
              </a:avLst>
            </a:prstGeom>
            <a:noFill/>
            <a:ln w="63500" cap="rnd">
              <a:solidFill>
                <a:schemeClr val="bg1">
                  <a:lumMod val="85000"/>
                </a:schemeClr>
              </a:solidFill>
            </a:ln>
            <a:effectLst>
              <a:outerShdw blurRad="228600" dist="101600" dir="2700000" algn="tl"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 name="弧形 7"/>
            <p:cNvSpPr/>
            <p:nvPr/>
          </p:nvSpPr>
          <p:spPr>
            <a:xfrm>
              <a:off x="10678772" y="2586569"/>
              <a:ext cx="1828800" cy="1828800"/>
            </a:xfrm>
            <a:prstGeom prst="arc">
              <a:avLst>
                <a:gd name="adj1" fmla="val 10800000"/>
                <a:gd name="adj2" fmla="val 0"/>
              </a:avLst>
            </a:prstGeom>
            <a:noFill/>
            <a:ln w="63500" cap="rnd">
              <a:solidFill>
                <a:schemeClr val="bg1">
                  <a:lumMod val="85000"/>
                </a:schemeClr>
              </a:solidFill>
              <a:tailEnd type="triangle"/>
            </a:ln>
            <a:effectLst>
              <a:outerShdw blurRad="228600" dist="101600" dir="2700000" algn="tl"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 name="文本框 7"/>
            <p:cNvSpPr txBox="1"/>
            <p:nvPr/>
          </p:nvSpPr>
          <p:spPr>
            <a:xfrm>
              <a:off x="2089586" y="1984377"/>
              <a:ext cx="697627" cy="369332"/>
            </a:xfrm>
            <a:prstGeom prst="rect">
              <a:avLst/>
            </a:prstGeom>
            <a:noFill/>
          </p:spPr>
          <p:txBody>
            <a:bodyPr wrap="none">
              <a:normAutofit fontScale="92500" lnSpcReduction="20000"/>
            </a:bodyPr>
            <a:lstStyle/>
            <a:p>
              <a:pPr algn="ctr"/>
              <a:r>
                <a:rPr lang="en-US" sz="2400" dirty="0">
                  <a:solidFill>
                    <a:schemeClr val="tx1">
                      <a:lumMod val="65000"/>
                      <a:lumOff val="35000"/>
                    </a:schemeClr>
                  </a:solidFill>
                  <a:latin typeface="Impact" panose="020B0806030902050204" pitchFamily="34" charset="0"/>
                </a:rPr>
                <a:t>2015</a:t>
              </a:r>
            </a:p>
          </p:txBody>
        </p:sp>
        <p:sp>
          <p:nvSpPr>
            <p:cNvPr id="10" name="文本框 8"/>
            <p:cNvSpPr txBox="1"/>
            <p:nvPr/>
          </p:nvSpPr>
          <p:spPr>
            <a:xfrm>
              <a:off x="3918386" y="1984377"/>
              <a:ext cx="697627" cy="369332"/>
            </a:xfrm>
            <a:prstGeom prst="rect">
              <a:avLst/>
            </a:prstGeom>
            <a:noFill/>
          </p:spPr>
          <p:txBody>
            <a:bodyPr wrap="none">
              <a:normAutofit fontScale="92500" lnSpcReduction="20000"/>
            </a:bodyPr>
            <a:lstStyle/>
            <a:p>
              <a:pPr algn="ctr"/>
              <a:r>
                <a:rPr lang="en-US" sz="2400" dirty="0" smtClean="0">
                  <a:solidFill>
                    <a:schemeClr val="tx1">
                      <a:lumMod val="65000"/>
                      <a:lumOff val="35000"/>
                    </a:schemeClr>
                  </a:solidFill>
                  <a:latin typeface="Impact" panose="020B0806030902050204" pitchFamily="34" charset="0"/>
                </a:rPr>
                <a:t>2016</a:t>
              </a:r>
              <a:endParaRPr lang="en-US" sz="2400" dirty="0">
                <a:solidFill>
                  <a:schemeClr val="tx1">
                    <a:lumMod val="65000"/>
                    <a:lumOff val="35000"/>
                  </a:schemeClr>
                </a:solidFill>
                <a:latin typeface="Impact" panose="020B0806030902050204" pitchFamily="34" charset="0"/>
              </a:endParaRPr>
            </a:p>
          </p:txBody>
        </p:sp>
        <p:sp>
          <p:nvSpPr>
            <p:cNvPr id="11" name="文本框 9"/>
            <p:cNvSpPr txBox="1"/>
            <p:nvPr/>
          </p:nvSpPr>
          <p:spPr>
            <a:xfrm>
              <a:off x="5747186" y="1984377"/>
              <a:ext cx="697627" cy="369332"/>
            </a:xfrm>
            <a:prstGeom prst="rect">
              <a:avLst/>
            </a:prstGeom>
            <a:noFill/>
          </p:spPr>
          <p:txBody>
            <a:bodyPr wrap="none">
              <a:normAutofit fontScale="92500" lnSpcReduction="20000"/>
            </a:bodyPr>
            <a:lstStyle/>
            <a:p>
              <a:pPr algn="ctr"/>
              <a:r>
                <a:rPr lang="en-US" sz="2400" dirty="0" smtClean="0">
                  <a:solidFill>
                    <a:schemeClr val="tx1">
                      <a:lumMod val="65000"/>
                      <a:lumOff val="35000"/>
                    </a:schemeClr>
                  </a:solidFill>
                  <a:latin typeface="Impact" panose="020B0806030902050204" pitchFamily="34" charset="0"/>
                </a:rPr>
                <a:t>2018</a:t>
              </a:r>
              <a:endParaRPr lang="en-US" sz="2400" dirty="0">
                <a:solidFill>
                  <a:schemeClr val="tx1">
                    <a:lumMod val="65000"/>
                    <a:lumOff val="35000"/>
                  </a:schemeClr>
                </a:solidFill>
                <a:latin typeface="Impact" panose="020B0806030902050204" pitchFamily="34" charset="0"/>
              </a:endParaRPr>
            </a:p>
          </p:txBody>
        </p:sp>
        <p:sp>
          <p:nvSpPr>
            <p:cNvPr id="12" name="文本框 10"/>
            <p:cNvSpPr txBox="1"/>
            <p:nvPr/>
          </p:nvSpPr>
          <p:spPr>
            <a:xfrm>
              <a:off x="7575986" y="1996416"/>
              <a:ext cx="697627" cy="369332"/>
            </a:xfrm>
            <a:prstGeom prst="rect">
              <a:avLst/>
            </a:prstGeom>
            <a:noFill/>
          </p:spPr>
          <p:txBody>
            <a:bodyPr wrap="none">
              <a:normAutofit fontScale="92500" lnSpcReduction="20000"/>
            </a:bodyPr>
            <a:lstStyle/>
            <a:p>
              <a:pPr algn="ctr"/>
              <a:r>
                <a:rPr lang="en-US" sz="2400" dirty="0" smtClean="0">
                  <a:solidFill>
                    <a:schemeClr val="tx1">
                      <a:lumMod val="65000"/>
                      <a:lumOff val="35000"/>
                    </a:schemeClr>
                  </a:solidFill>
                  <a:latin typeface="Impact" panose="020B0806030902050204" pitchFamily="34" charset="0"/>
                </a:rPr>
                <a:t>2019</a:t>
              </a:r>
              <a:endParaRPr lang="en-US" sz="2400" dirty="0">
                <a:solidFill>
                  <a:schemeClr val="tx1">
                    <a:lumMod val="65000"/>
                    <a:lumOff val="35000"/>
                  </a:schemeClr>
                </a:solidFill>
                <a:latin typeface="Impact" panose="020B0806030902050204" pitchFamily="34" charset="0"/>
              </a:endParaRPr>
            </a:p>
          </p:txBody>
        </p:sp>
        <p:sp>
          <p:nvSpPr>
            <p:cNvPr id="13" name="文本框 11"/>
            <p:cNvSpPr txBox="1"/>
            <p:nvPr/>
          </p:nvSpPr>
          <p:spPr>
            <a:xfrm>
              <a:off x="9404786" y="1996416"/>
              <a:ext cx="697627" cy="369332"/>
            </a:xfrm>
            <a:prstGeom prst="rect">
              <a:avLst/>
            </a:prstGeom>
            <a:noFill/>
          </p:spPr>
          <p:txBody>
            <a:bodyPr wrap="none">
              <a:normAutofit fontScale="92500" lnSpcReduction="20000"/>
            </a:bodyPr>
            <a:lstStyle/>
            <a:p>
              <a:pPr algn="ctr"/>
              <a:r>
                <a:rPr lang="en-US" sz="2400" dirty="0" smtClean="0">
                  <a:solidFill>
                    <a:schemeClr val="tx1">
                      <a:lumMod val="65000"/>
                      <a:lumOff val="35000"/>
                    </a:schemeClr>
                  </a:solidFill>
                  <a:latin typeface="Impact" panose="020B0806030902050204" pitchFamily="34" charset="0"/>
                </a:rPr>
                <a:t>2020</a:t>
              </a:r>
              <a:endParaRPr lang="en-US" sz="2400" dirty="0">
                <a:solidFill>
                  <a:schemeClr val="tx1">
                    <a:lumMod val="65000"/>
                    <a:lumOff val="35000"/>
                  </a:schemeClr>
                </a:solidFill>
                <a:latin typeface="Impact" panose="020B0806030902050204" pitchFamily="34" charset="0"/>
              </a:endParaRPr>
            </a:p>
          </p:txBody>
        </p:sp>
        <p:sp>
          <p:nvSpPr>
            <p:cNvPr id="19" name="任意多边形: 形状 18"/>
            <p:cNvSpPr/>
            <p:nvPr/>
          </p:nvSpPr>
          <p:spPr>
            <a:xfrm>
              <a:off x="5961737" y="3307124"/>
              <a:ext cx="279328" cy="279326"/>
            </a:xfrm>
            <a:custGeom>
              <a:avLst/>
              <a:gdLst/>
              <a:ahLst/>
              <a:cxnLst>
                <a:cxn ang="0">
                  <a:pos x="wd2" y="hd2"/>
                </a:cxn>
                <a:cxn ang="5400000">
                  <a:pos x="wd2" y="hd2"/>
                </a:cxn>
                <a:cxn ang="10800000">
                  <a:pos x="wd2" y="hd2"/>
                </a:cxn>
                <a:cxn ang="16200000">
                  <a:pos x="wd2" y="hd2"/>
                </a:cxn>
              </a:cxnLst>
              <a:rect l="0" t="0" r="r" b="b"/>
              <a:pathLst>
                <a:path w="21600" h="21583" extrusionOk="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solidFill>
              <a:schemeClr val="bg1"/>
            </a:solidFill>
            <a:ln w="12700">
              <a:miter lim="400000"/>
            </a:ln>
          </p:spPr>
          <p:txBody>
            <a:bodyPr anchor="ctr"/>
            <a:lstStyle/>
            <a:p>
              <a:pPr algn="ctr"/>
              <a:endParaRPr/>
            </a:p>
          </p:txBody>
        </p:sp>
      </p:grpSp>
      <p:grpSp>
        <p:nvGrpSpPr>
          <p:cNvPr id="40" name="组合 39"/>
          <p:cNvGrpSpPr/>
          <p:nvPr/>
        </p:nvGrpSpPr>
        <p:grpSpPr>
          <a:xfrm>
            <a:off x="848848" y="255002"/>
            <a:ext cx="5040964" cy="713636"/>
            <a:chOff x="1561776" y="234890"/>
            <a:chExt cx="5040964" cy="713636"/>
          </a:xfrm>
        </p:grpSpPr>
        <p:sp>
          <p:nvSpPr>
            <p:cNvPr id="41" name="文本框 40"/>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Our Releases</a:t>
              </a:r>
              <a:endParaRPr lang="zh-CN" altLang="en-US" sz="2800" b="1" dirty="0">
                <a:solidFill>
                  <a:schemeClr val="accent2"/>
                </a:solidFill>
                <a:latin typeface="+mn-ea"/>
              </a:endParaRPr>
            </a:p>
          </p:txBody>
        </p:sp>
        <p:sp>
          <p:nvSpPr>
            <p:cNvPr id="42" name="文本框 41"/>
            <p:cNvSpPr txBox="1"/>
            <p:nvPr/>
          </p:nvSpPr>
          <p:spPr>
            <a:xfrm>
              <a:off x="1561776" y="694610"/>
              <a:ext cx="5040964" cy="253916"/>
            </a:xfrm>
            <a:prstGeom prst="rect">
              <a:avLst/>
            </a:prstGeom>
            <a:noFill/>
          </p:spPr>
          <p:txBody>
            <a:bodyPr wrap="square" rtlCol="0">
              <a:spAutoFit/>
              <a:scene3d>
                <a:camera prst="orthographicFront"/>
                <a:lightRig rig="threePt" dir="t"/>
              </a:scene3d>
              <a:sp3d contourW="12700"/>
            </a:bodyPr>
            <a:lstStyle/>
            <a:p>
              <a:r>
                <a:rPr lang="en-US" altLang="zh-CN" sz="1050" dirty="0" smtClean="0">
                  <a:solidFill>
                    <a:schemeClr val="bg1">
                      <a:lumMod val="65000"/>
                    </a:schemeClr>
                  </a:solidFill>
                  <a:latin typeface="+mj-lt"/>
                </a:rPr>
                <a:t>TO LET THE WORLD USE VINCHIN BACKUP SOFTWARE IS OUR VISION.</a:t>
              </a:r>
              <a:endParaRPr lang="en-US" altLang="zh-CN" sz="1050" dirty="0">
                <a:solidFill>
                  <a:schemeClr val="bg1">
                    <a:lumMod val="65000"/>
                  </a:schemeClr>
                </a:solidFill>
                <a:latin typeface="+mj-lt"/>
              </a:endParaRPr>
            </a:p>
          </p:txBody>
        </p:sp>
      </p:grpSp>
      <p:sp>
        <p:nvSpPr>
          <p:cNvPr id="43" name="任意多边形: 形状 42"/>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11"/>
          <p:cNvSpPr txBox="1"/>
          <p:nvPr/>
        </p:nvSpPr>
        <p:spPr>
          <a:xfrm>
            <a:off x="766198" y="4233704"/>
            <a:ext cx="1581152" cy="179536"/>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sz="1200" dirty="0" err="1" smtClean="0">
                <a:solidFill>
                  <a:schemeClr val="bg1">
                    <a:lumMod val="65000"/>
                  </a:schemeClr>
                </a:solidFill>
                <a:latin typeface="Calibri" panose="020F0502020204030204" pitchFamily="34" charset="0"/>
                <a:cs typeface="Calibri" panose="020F0502020204030204" pitchFamily="34" charset="0"/>
              </a:rPr>
              <a:t>Vinchin</a:t>
            </a:r>
            <a:r>
              <a:rPr lang="en-US" sz="1200" dirty="0" smtClean="0">
                <a:solidFill>
                  <a:schemeClr val="bg1">
                    <a:lumMod val="65000"/>
                  </a:schemeClr>
                </a:solidFill>
                <a:latin typeface="Calibri" panose="020F0502020204030204" pitchFamily="34" charset="0"/>
                <a:cs typeface="Calibri" panose="020F0502020204030204" pitchFamily="34" charset="0"/>
              </a:rPr>
              <a:t> was founded</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48" name="TextBox 11"/>
          <p:cNvSpPr txBox="1"/>
          <p:nvPr/>
        </p:nvSpPr>
        <p:spPr>
          <a:xfrm>
            <a:off x="2594927" y="4233704"/>
            <a:ext cx="1581152" cy="1256754"/>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sz="1200" dirty="0" err="1" smtClean="0">
                <a:solidFill>
                  <a:schemeClr val="bg1">
                    <a:lumMod val="65000"/>
                  </a:schemeClr>
                </a:solidFill>
                <a:latin typeface="Calibri" panose="020F0502020204030204" pitchFamily="34" charset="0"/>
                <a:cs typeface="Calibri" panose="020F0502020204030204" pitchFamily="34" charset="0"/>
              </a:rPr>
              <a:t>Vinchin</a:t>
            </a:r>
            <a:r>
              <a:rPr lang="en-US" sz="1200" dirty="0" smtClean="0">
                <a:solidFill>
                  <a:schemeClr val="bg1">
                    <a:lumMod val="65000"/>
                  </a:schemeClr>
                </a:solidFill>
                <a:latin typeface="Calibri" panose="020F0502020204030204" pitchFamily="34" charset="0"/>
                <a:cs typeface="Calibri" panose="020F0502020204030204" pitchFamily="34" charset="0"/>
              </a:rPr>
              <a:t> Backup &amp; Recovery v3.5 was released, support </a:t>
            </a:r>
            <a:r>
              <a:rPr lang="en-US" sz="1200" dirty="0" err="1" smtClean="0">
                <a:solidFill>
                  <a:schemeClr val="bg1">
                    <a:lumMod val="65000"/>
                  </a:schemeClr>
                </a:solidFill>
                <a:latin typeface="Calibri" panose="020F0502020204030204" pitchFamily="34" charset="0"/>
                <a:cs typeface="Calibri" panose="020F0502020204030204" pitchFamily="34" charset="0"/>
              </a:rPr>
              <a:t>Vmware</a:t>
            </a:r>
            <a:r>
              <a:rPr lang="en-US" sz="1200" dirty="0" smtClean="0">
                <a:solidFill>
                  <a:schemeClr val="bg1">
                    <a:lumMod val="65000"/>
                  </a:schemeClr>
                </a:solidFill>
                <a:latin typeface="Calibri" panose="020F0502020204030204" pitchFamily="34" charset="0"/>
                <a:cs typeface="Calibri" panose="020F0502020204030204" pitchFamily="34" charset="0"/>
              </a:rPr>
              <a:t>, </a:t>
            </a:r>
            <a:r>
              <a:rPr lang="en-US" sz="1200" dirty="0" err="1" smtClean="0">
                <a:solidFill>
                  <a:schemeClr val="bg1">
                    <a:lumMod val="65000"/>
                  </a:schemeClr>
                </a:solidFill>
                <a:latin typeface="Calibri" panose="020F0502020204030204" pitchFamily="34" charset="0"/>
                <a:cs typeface="Calibri" panose="020F0502020204030204" pitchFamily="34" charset="0"/>
              </a:rPr>
              <a:t>XenServer</a:t>
            </a:r>
            <a:r>
              <a:rPr lang="en-US" sz="1200" dirty="0" smtClean="0">
                <a:solidFill>
                  <a:schemeClr val="bg1">
                    <a:lumMod val="65000"/>
                  </a:schemeClr>
                </a:solidFill>
                <a:latin typeface="Calibri" panose="020F0502020204030204" pitchFamily="34" charset="0"/>
                <a:cs typeface="Calibri" panose="020F0502020204030204" pitchFamily="34" charset="0"/>
              </a:rPr>
              <a:t> and other </a:t>
            </a:r>
            <a:r>
              <a:rPr lang="en-US" altLang="zh-CN" sz="1200" dirty="0" smtClean="0">
                <a:solidFill>
                  <a:schemeClr val="bg1">
                    <a:lumMod val="65000"/>
                  </a:schemeClr>
                </a:solidFill>
                <a:latin typeface="Calibri" panose="020F0502020204030204" pitchFamily="34" charset="0"/>
                <a:cs typeface="Calibri" panose="020F0502020204030204" pitchFamily="34" charset="0"/>
              </a:rPr>
              <a:t>native</a:t>
            </a:r>
            <a:r>
              <a:rPr lang="en-US" sz="1200" dirty="0" smtClean="0">
                <a:solidFill>
                  <a:schemeClr val="bg1">
                    <a:lumMod val="65000"/>
                  </a:schemeClr>
                </a:solidFill>
                <a:latin typeface="Calibri" panose="020F0502020204030204" pitchFamily="34" charset="0"/>
                <a:cs typeface="Calibri" panose="020F0502020204030204" pitchFamily="34" charset="0"/>
              </a:rPr>
              <a:t> </a:t>
            </a:r>
            <a:r>
              <a:rPr lang="en-US" altLang="zh-CN" sz="1200" dirty="0" smtClean="0">
                <a:solidFill>
                  <a:schemeClr val="bg1">
                    <a:lumMod val="65000"/>
                  </a:schemeClr>
                </a:solidFill>
                <a:latin typeface="Calibri" panose="020F0502020204030204" pitchFamily="34" charset="0"/>
                <a:cs typeface="Calibri" panose="020F0502020204030204" pitchFamily="34" charset="0"/>
              </a:rPr>
              <a:t>virtual platform</a:t>
            </a:r>
            <a:r>
              <a:rPr lang="en-US" sz="1200" dirty="0" smtClean="0">
                <a:solidFill>
                  <a:schemeClr val="bg1">
                    <a:lumMod val="65000"/>
                  </a:schemeClr>
                </a:solidFill>
                <a:latin typeface="Calibri" panose="020F0502020204030204" pitchFamily="34" charset="0"/>
                <a:cs typeface="Calibri" panose="020F0502020204030204" pitchFamily="34" charset="0"/>
              </a:rPr>
              <a:t> agentless backup</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49" name="TextBox 11"/>
          <p:cNvSpPr txBox="1"/>
          <p:nvPr/>
        </p:nvSpPr>
        <p:spPr>
          <a:xfrm>
            <a:off x="4423798" y="4233704"/>
            <a:ext cx="1581152" cy="1615827"/>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Backup &amp; Recovery </a:t>
            </a:r>
            <a:r>
              <a:rPr lang="en-US" altLang="zh-CN" sz="1200" dirty="0" smtClean="0">
                <a:solidFill>
                  <a:schemeClr val="bg1">
                    <a:lumMod val="65000"/>
                  </a:schemeClr>
                </a:solidFill>
                <a:latin typeface="Calibri" panose="020F0502020204030204" pitchFamily="34" charset="0"/>
                <a:cs typeface="Calibri" panose="020F0502020204030204" pitchFamily="34" charset="0"/>
              </a:rPr>
              <a:t>v4.0 </a:t>
            </a:r>
            <a:r>
              <a:rPr lang="en-US" altLang="zh-CN" sz="1200" dirty="0">
                <a:solidFill>
                  <a:schemeClr val="bg1">
                    <a:lumMod val="65000"/>
                  </a:schemeClr>
                </a:solidFill>
                <a:latin typeface="Calibri" panose="020F0502020204030204" pitchFamily="34" charset="0"/>
                <a:cs typeface="Calibri" panose="020F0502020204030204" pitchFamily="34" charset="0"/>
              </a:rPr>
              <a:t>was </a:t>
            </a:r>
            <a:r>
              <a:rPr lang="en-US" altLang="zh-CN" sz="1200" dirty="0" smtClean="0">
                <a:solidFill>
                  <a:schemeClr val="bg1">
                    <a:lumMod val="65000"/>
                  </a:schemeClr>
                </a:solidFill>
                <a:latin typeface="Calibri" panose="020F0502020204030204" pitchFamily="34" charset="0"/>
                <a:cs typeface="Calibri" panose="020F0502020204030204" pitchFamily="34" charset="0"/>
              </a:rPr>
              <a:t>released, </a:t>
            </a:r>
            <a:r>
              <a:rPr lang="en-US" altLang="zh-CN" sz="1200" dirty="0">
                <a:solidFill>
                  <a:schemeClr val="bg1">
                    <a:lumMod val="65000"/>
                  </a:schemeClr>
                </a:solidFill>
                <a:latin typeface="Calibri" panose="020F0502020204030204" pitchFamily="34" charset="0"/>
                <a:cs typeface="Calibri" panose="020F0502020204030204" pitchFamily="34" charset="0"/>
              </a:rPr>
              <a:t>support Hyper-V, </a:t>
            </a:r>
            <a:r>
              <a:rPr lang="en-US" altLang="zh-CN" sz="1200" dirty="0" err="1">
                <a:solidFill>
                  <a:schemeClr val="bg1">
                    <a:lumMod val="65000"/>
                  </a:schemeClr>
                </a:solidFill>
                <a:latin typeface="Calibri" panose="020F0502020204030204" pitchFamily="34" charset="0"/>
                <a:cs typeface="Calibri" panose="020F0502020204030204" pitchFamily="34" charset="0"/>
              </a:rPr>
              <a:t>oVirt</a:t>
            </a:r>
            <a:r>
              <a:rPr lang="en-US" altLang="zh-CN" sz="1200" dirty="0">
                <a:solidFill>
                  <a:schemeClr val="bg1">
                    <a:lumMod val="65000"/>
                  </a:schemeClr>
                </a:solidFill>
                <a:latin typeface="Calibri" panose="020F0502020204030204" pitchFamily="34" charset="0"/>
                <a:cs typeface="Calibri" panose="020F0502020204030204" pitchFamily="34" charset="0"/>
              </a:rPr>
              <a:t>/RHV, </a:t>
            </a:r>
            <a:r>
              <a:rPr lang="en-US" altLang="zh-CN" sz="1200" dirty="0" err="1">
                <a:solidFill>
                  <a:schemeClr val="bg1">
                    <a:lumMod val="65000"/>
                  </a:schemeClr>
                </a:solidFill>
                <a:latin typeface="Calibri" panose="020F0502020204030204" pitchFamily="34" charset="0"/>
                <a:cs typeface="Calibri" panose="020F0502020204030204" pitchFamily="34" charset="0"/>
              </a:rPr>
              <a:t>Sangfor</a:t>
            </a:r>
            <a:r>
              <a:rPr lang="en-US" altLang="zh-CN" sz="1200" dirty="0">
                <a:solidFill>
                  <a:schemeClr val="bg1">
                    <a:lumMod val="65000"/>
                  </a:schemeClr>
                </a:solidFill>
                <a:latin typeface="Calibri" panose="020F0502020204030204" pitchFamily="34" charset="0"/>
                <a:cs typeface="Calibri" panose="020F0502020204030204" pitchFamily="34" charset="0"/>
              </a:rPr>
              <a:t> HCI and OpenStack backup. </a:t>
            </a:r>
            <a:r>
              <a:rPr lang="en-US" altLang="zh-CN" sz="1200" dirty="0" smtClean="0">
                <a:solidFill>
                  <a:schemeClr val="bg1">
                    <a:lumMod val="65000"/>
                  </a:schemeClr>
                </a:solidFill>
                <a:latin typeface="Calibri" panose="020F0502020204030204" pitchFamily="34" charset="0"/>
                <a:cs typeface="Calibri" panose="020F0502020204030204" pitchFamily="34" charset="0"/>
              </a:rPr>
              <a:t>In the same year, got </a:t>
            </a:r>
            <a:r>
              <a:rPr lang="en-US" altLang="zh-CN" sz="1200" dirty="0">
                <a:solidFill>
                  <a:schemeClr val="bg1">
                    <a:lumMod val="65000"/>
                  </a:schemeClr>
                </a:solidFill>
                <a:latin typeface="Calibri" panose="020F0502020204030204" pitchFamily="34" charset="0"/>
                <a:cs typeface="Calibri" panose="020F0502020204030204" pitchFamily="34" charset="0"/>
              </a:rPr>
              <a:t>the first patent for instant recovery technology in </a:t>
            </a:r>
            <a:r>
              <a:rPr lang="en-US" altLang="zh-CN" sz="1200" dirty="0" smtClean="0">
                <a:solidFill>
                  <a:schemeClr val="bg1">
                    <a:lumMod val="65000"/>
                  </a:schemeClr>
                </a:solidFill>
                <a:latin typeface="Calibri" panose="020F0502020204030204" pitchFamily="34" charset="0"/>
                <a:cs typeface="Calibri" panose="020F0502020204030204" pitchFamily="34" charset="0"/>
              </a:rPr>
              <a:t>China. </a:t>
            </a:r>
            <a:endParaRPr lang="en-US" altLang="zh-CN" sz="1200" dirty="0">
              <a:solidFill>
                <a:schemeClr val="bg1">
                  <a:lumMod val="65000"/>
                </a:schemeClr>
              </a:solidFill>
              <a:latin typeface="Calibri" panose="020F0502020204030204" pitchFamily="34" charset="0"/>
              <a:cs typeface="Calibri" panose="020F0502020204030204" pitchFamily="34" charset="0"/>
            </a:endParaRPr>
          </a:p>
        </p:txBody>
      </p:sp>
      <p:sp>
        <p:nvSpPr>
          <p:cNvPr id="50" name="TextBox 11"/>
          <p:cNvSpPr txBox="1"/>
          <p:nvPr/>
        </p:nvSpPr>
        <p:spPr>
          <a:xfrm>
            <a:off x="6252595" y="4233704"/>
            <a:ext cx="1581152" cy="1795363"/>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Backup &amp; Recovery </a:t>
            </a:r>
            <a:r>
              <a:rPr lang="en-US" altLang="zh-CN" sz="1200" dirty="0" smtClean="0">
                <a:solidFill>
                  <a:schemeClr val="bg1">
                    <a:lumMod val="65000"/>
                  </a:schemeClr>
                </a:solidFill>
                <a:latin typeface="Calibri" panose="020F0502020204030204" pitchFamily="34" charset="0"/>
                <a:cs typeface="Calibri" panose="020F0502020204030204" pitchFamily="34" charset="0"/>
              </a:rPr>
              <a:t>v5.0 </a:t>
            </a:r>
            <a:r>
              <a:rPr lang="en-US" altLang="zh-CN" sz="1200" dirty="0">
                <a:solidFill>
                  <a:schemeClr val="bg1">
                    <a:lumMod val="65000"/>
                  </a:schemeClr>
                </a:solidFill>
                <a:latin typeface="Calibri" panose="020F0502020204030204" pitchFamily="34" charset="0"/>
                <a:cs typeface="Calibri" panose="020F0502020204030204" pitchFamily="34" charset="0"/>
              </a:rPr>
              <a:t>was </a:t>
            </a:r>
            <a:r>
              <a:rPr lang="en-US" altLang="zh-CN" sz="1200" dirty="0" smtClean="0">
                <a:solidFill>
                  <a:schemeClr val="bg1">
                    <a:lumMod val="65000"/>
                  </a:schemeClr>
                </a:solidFill>
                <a:latin typeface="Calibri" panose="020F0502020204030204" pitchFamily="34" charset="0"/>
                <a:cs typeface="Calibri" panose="020F0502020204030204" pitchFamily="34" charset="0"/>
              </a:rPr>
              <a:t>released, newly support backup </a:t>
            </a:r>
            <a:r>
              <a:rPr lang="en-US" altLang="zh-CN" sz="1200" dirty="0">
                <a:solidFill>
                  <a:schemeClr val="bg1">
                    <a:lumMod val="65000"/>
                  </a:schemeClr>
                </a:solidFill>
                <a:latin typeface="Calibri" panose="020F0502020204030204" pitchFamily="34" charset="0"/>
                <a:cs typeface="Calibri" panose="020F0502020204030204" pitchFamily="34" charset="0"/>
              </a:rPr>
              <a:t>c</a:t>
            </a:r>
            <a:r>
              <a:rPr lang="en-US" altLang="zh-CN" sz="1200" dirty="0" smtClean="0">
                <a:solidFill>
                  <a:schemeClr val="bg1">
                    <a:lumMod val="65000"/>
                  </a:schemeClr>
                </a:solidFill>
                <a:latin typeface="Calibri" panose="020F0502020204030204" pitchFamily="34" charset="0"/>
                <a:cs typeface="Calibri" panose="020F0502020204030204" pitchFamily="34" charset="0"/>
              </a:rPr>
              <a:t>opy to offsite for DR, file-level restore, also self-developed unique functions like </a:t>
            </a:r>
            <a:r>
              <a:rPr lang="en-US" altLang="zh-CN" sz="1200" dirty="0" err="1" smtClean="0">
                <a:solidFill>
                  <a:schemeClr val="bg1">
                    <a:lumMod val="65000"/>
                  </a:schemeClr>
                </a:solidFill>
                <a:latin typeface="Calibri" panose="020F0502020204030204" pitchFamily="34" charset="0"/>
                <a:cs typeface="Calibri" panose="020F0502020204030204" pitchFamily="34" charset="0"/>
              </a:rPr>
              <a:t>BitDetector</a:t>
            </a:r>
            <a:r>
              <a:rPr lang="en-US" altLang="zh-CN" sz="1000" baseline="30000" dirty="0" err="1" smtClean="0">
                <a:solidFill>
                  <a:schemeClr val="bg1">
                    <a:lumMod val="65000"/>
                  </a:schemeClr>
                </a:solidFill>
                <a:latin typeface="Calibri" panose="020F0502020204030204" pitchFamily="34" charset="0"/>
                <a:cs typeface="Calibri" panose="020F0502020204030204" pitchFamily="34" charset="0"/>
              </a:rPr>
              <a:t>TM</a:t>
            </a:r>
            <a:r>
              <a:rPr lang="en-US" altLang="zh-CN" sz="1200" dirty="0" smtClean="0">
                <a:solidFill>
                  <a:schemeClr val="bg1">
                    <a:lumMod val="65000"/>
                  </a:schemeClr>
                </a:solidFill>
                <a:latin typeface="Calibri" panose="020F0502020204030204" pitchFamily="34" charset="0"/>
                <a:cs typeface="Calibri" panose="020F0502020204030204" pitchFamily="34" charset="0"/>
              </a:rPr>
              <a:t> </a:t>
            </a:r>
            <a:r>
              <a:rPr lang="en-US" altLang="zh-CN" sz="1200" dirty="0">
                <a:solidFill>
                  <a:schemeClr val="bg1">
                    <a:lumMod val="65000"/>
                  </a:schemeClr>
                </a:solidFill>
                <a:latin typeface="Calibri" panose="020F0502020204030204" pitchFamily="34" charset="0"/>
                <a:cs typeface="Calibri" panose="020F0502020204030204" pitchFamily="34" charset="0"/>
              </a:rPr>
              <a:t>and </a:t>
            </a:r>
            <a:r>
              <a:rPr lang="en-US" altLang="zh-CN" sz="1200" dirty="0" err="1">
                <a:solidFill>
                  <a:schemeClr val="bg1">
                    <a:lumMod val="65000"/>
                  </a:schemeClr>
                </a:solidFill>
                <a:latin typeface="Calibri" panose="020F0502020204030204" pitchFamily="34" charset="0"/>
                <a:cs typeface="Calibri" panose="020F0502020204030204" pitchFamily="34" charset="0"/>
              </a:rPr>
              <a:t>SpeedKit</a:t>
            </a:r>
            <a:r>
              <a:rPr lang="en-US" altLang="zh-CN" sz="1200" baseline="30000" dirty="0" err="1">
                <a:solidFill>
                  <a:schemeClr val="bg1">
                    <a:lumMod val="65000"/>
                  </a:schemeClr>
                </a:solidFill>
                <a:latin typeface="Calibri" panose="020F0502020204030204" pitchFamily="34" charset="0"/>
                <a:cs typeface="Calibri" panose="020F0502020204030204" pitchFamily="34" charset="0"/>
              </a:rPr>
              <a:t>TM</a:t>
            </a:r>
            <a:r>
              <a:rPr lang="en-US" altLang="zh-CN" sz="1200" dirty="0">
                <a:solidFill>
                  <a:schemeClr val="bg1">
                    <a:lumMod val="65000"/>
                  </a:schemeClr>
                </a:solidFill>
                <a:latin typeface="Calibri" panose="020F0502020204030204" pitchFamily="34" charset="0"/>
                <a:cs typeface="Calibri" panose="020F0502020204030204" pitchFamily="34" charset="0"/>
              </a:rPr>
              <a:t> </a:t>
            </a:r>
          </a:p>
          <a:p>
            <a:pPr algn="ctr">
              <a:lnSpc>
                <a:spcPts val="1400"/>
              </a:lnSpc>
            </a:pPr>
            <a:endParaRPr lang="en-US" altLang="zh-CN" sz="1200" dirty="0">
              <a:solidFill>
                <a:schemeClr val="bg1">
                  <a:lumMod val="65000"/>
                </a:schemeClr>
              </a:solidFill>
              <a:latin typeface="Calibri" panose="020F0502020204030204" pitchFamily="34" charset="0"/>
              <a:cs typeface="Calibri" panose="020F0502020204030204" pitchFamily="34" charset="0"/>
            </a:endParaRPr>
          </a:p>
        </p:txBody>
      </p:sp>
      <p:sp>
        <p:nvSpPr>
          <p:cNvPr id="51" name="TextBox 11"/>
          <p:cNvSpPr txBox="1"/>
          <p:nvPr/>
        </p:nvSpPr>
        <p:spPr>
          <a:xfrm>
            <a:off x="8081394" y="4233704"/>
            <a:ext cx="1581152" cy="2154436"/>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altLang="zh-CN" sz="1200" dirty="0" err="1">
                <a:solidFill>
                  <a:schemeClr val="bg1">
                    <a:lumMod val="65000"/>
                  </a:schemeClr>
                </a:solidFill>
                <a:latin typeface="Calibri" panose="020F0502020204030204" pitchFamily="34" charset="0"/>
                <a:cs typeface="Calibri" panose="020F0502020204030204" pitchFamily="34" charset="0"/>
              </a:rPr>
              <a:t>Vinchin</a:t>
            </a:r>
            <a:r>
              <a:rPr lang="en-US" altLang="zh-CN" sz="1200" dirty="0">
                <a:solidFill>
                  <a:schemeClr val="bg1">
                    <a:lumMod val="65000"/>
                  </a:schemeClr>
                </a:solidFill>
                <a:latin typeface="Calibri" panose="020F0502020204030204" pitchFamily="34" charset="0"/>
                <a:cs typeface="Calibri" panose="020F0502020204030204" pitchFamily="34" charset="0"/>
              </a:rPr>
              <a:t> Backup &amp; Recovery </a:t>
            </a:r>
            <a:r>
              <a:rPr lang="en-US" altLang="zh-CN" sz="1200" dirty="0" smtClean="0">
                <a:solidFill>
                  <a:schemeClr val="bg1">
                    <a:lumMod val="65000"/>
                  </a:schemeClr>
                </a:solidFill>
                <a:latin typeface="Calibri" panose="020F0502020204030204" pitchFamily="34" charset="0"/>
                <a:cs typeface="Calibri" panose="020F0502020204030204" pitchFamily="34" charset="0"/>
              </a:rPr>
              <a:t>v6.0 </a:t>
            </a:r>
            <a:r>
              <a:rPr lang="en-US" altLang="zh-CN" sz="1200" dirty="0">
                <a:solidFill>
                  <a:schemeClr val="bg1">
                    <a:lumMod val="65000"/>
                  </a:schemeClr>
                </a:solidFill>
                <a:latin typeface="Calibri" panose="020F0502020204030204" pitchFamily="34" charset="0"/>
                <a:cs typeface="Calibri" panose="020F0502020204030204" pitchFamily="34" charset="0"/>
              </a:rPr>
              <a:t>was </a:t>
            </a:r>
            <a:r>
              <a:rPr lang="en-US" altLang="zh-CN" sz="1200" dirty="0" smtClean="0">
                <a:solidFill>
                  <a:schemeClr val="bg1">
                    <a:lumMod val="65000"/>
                  </a:schemeClr>
                </a:solidFill>
                <a:latin typeface="Calibri" panose="020F0502020204030204" pitchFamily="34" charset="0"/>
                <a:cs typeface="Calibri" panose="020F0502020204030204" pitchFamily="34" charset="0"/>
              </a:rPr>
              <a:t>released, highly increased backup and recovery performance with more advanced features, support OLVM and XCP-ng backup, newly support archive backups to AWS and Alibaba Cloud</a:t>
            </a:r>
            <a:endParaRPr lang="en-US" altLang="zh-CN" sz="1200" dirty="0">
              <a:solidFill>
                <a:schemeClr val="bg1">
                  <a:lumMod val="65000"/>
                </a:schemeClr>
              </a:solidFill>
              <a:latin typeface="Calibri" panose="020F0502020204030204" pitchFamily="34" charset="0"/>
              <a:cs typeface="Calibri" panose="020F0502020204030204" pitchFamily="34" charset="0"/>
            </a:endParaRPr>
          </a:p>
          <a:p>
            <a:pPr algn="ctr">
              <a:lnSpc>
                <a:spcPts val="1400"/>
              </a:lnSpc>
            </a:pPr>
            <a:r>
              <a:rPr lang="en-US" sz="1200" dirty="0" smtClean="0">
                <a:solidFill>
                  <a:schemeClr val="bg1">
                    <a:lumMod val="65000"/>
                  </a:schemeClr>
                </a:solidFill>
                <a:latin typeface="Calibri" panose="020F0502020204030204" pitchFamily="34" charset="0"/>
                <a:cs typeface="Calibri" panose="020F0502020204030204" pitchFamily="34" charset="0"/>
              </a:rPr>
              <a:t>.</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2" name="上凸带形 1"/>
          <p:cNvSpPr/>
          <p:nvPr/>
        </p:nvSpPr>
        <p:spPr>
          <a:xfrm>
            <a:off x="908498" y="3216061"/>
            <a:ext cx="1240738" cy="638214"/>
          </a:xfrm>
          <a:prstGeom prst="ribbon2">
            <a:avLst/>
          </a:prstGeom>
          <a:solidFill>
            <a:srgbClr val="31929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34" name="上凸带形 33"/>
          <p:cNvSpPr/>
          <p:nvPr/>
        </p:nvSpPr>
        <p:spPr>
          <a:xfrm>
            <a:off x="2765203" y="3216061"/>
            <a:ext cx="1240738" cy="638214"/>
          </a:xfrm>
          <a:prstGeom prst="ribbon2">
            <a:avLst/>
          </a:prstGeom>
          <a:solidFill>
            <a:srgbClr val="31929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3.5</a:t>
            </a:r>
            <a:endParaRPr lang="zh-CN" altLang="en-US" dirty="0"/>
          </a:p>
        </p:txBody>
      </p:sp>
      <p:sp>
        <p:nvSpPr>
          <p:cNvPr id="35" name="上凸带形 34"/>
          <p:cNvSpPr/>
          <p:nvPr/>
        </p:nvSpPr>
        <p:spPr>
          <a:xfrm>
            <a:off x="4594003" y="3216061"/>
            <a:ext cx="1240738" cy="638214"/>
          </a:xfrm>
          <a:prstGeom prst="ribbon2">
            <a:avLst/>
          </a:prstGeom>
          <a:solidFill>
            <a:srgbClr val="31929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4.0</a:t>
            </a:r>
            <a:endParaRPr lang="zh-CN" altLang="en-US" dirty="0"/>
          </a:p>
        </p:txBody>
      </p:sp>
      <p:sp>
        <p:nvSpPr>
          <p:cNvPr id="37" name="上凸带形 36"/>
          <p:cNvSpPr/>
          <p:nvPr/>
        </p:nvSpPr>
        <p:spPr>
          <a:xfrm>
            <a:off x="6422802" y="3216061"/>
            <a:ext cx="1240738" cy="638214"/>
          </a:xfrm>
          <a:prstGeom prst="ribbon2">
            <a:avLst/>
          </a:prstGeom>
          <a:solidFill>
            <a:srgbClr val="31929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r>
              <a:rPr lang="en-US" altLang="zh-CN" dirty="0" smtClean="0"/>
              <a:t>.0</a:t>
            </a:r>
            <a:endParaRPr lang="zh-CN" altLang="en-US" dirty="0"/>
          </a:p>
        </p:txBody>
      </p:sp>
      <p:sp>
        <p:nvSpPr>
          <p:cNvPr id="38" name="上凸带形 37"/>
          <p:cNvSpPr/>
          <p:nvPr/>
        </p:nvSpPr>
        <p:spPr>
          <a:xfrm>
            <a:off x="8251601" y="3216061"/>
            <a:ext cx="1240738" cy="638214"/>
          </a:xfrm>
          <a:prstGeom prst="ribbon2">
            <a:avLst/>
          </a:prstGeom>
          <a:solidFill>
            <a:srgbClr val="31929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6.0</a:t>
            </a:r>
            <a:endParaRPr lang="zh-CN" altLang="en-US" dirty="0"/>
          </a:p>
        </p:txBody>
      </p:sp>
      <p:sp>
        <p:nvSpPr>
          <p:cNvPr id="39" name="弧形 38"/>
          <p:cNvSpPr/>
          <p:nvPr/>
        </p:nvSpPr>
        <p:spPr>
          <a:xfrm>
            <a:off x="7966533" y="2670859"/>
            <a:ext cx="1828799" cy="1828799"/>
          </a:xfrm>
          <a:prstGeom prst="arc">
            <a:avLst>
              <a:gd name="adj1" fmla="val 10839970"/>
              <a:gd name="adj2" fmla="val 0"/>
            </a:avLst>
          </a:prstGeom>
          <a:noFill/>
          <a:ln w="63500" cap="rnd">
            <a:solidFill>
              <a:schemeClr val="bg1">
                <a:lumMod val="85000"/>
              </a:schemeClr>
            </a:solidFill>
          </a:ln>
          <a:effectLst>
            <a:outerShdw blurRad="228600" dist="101600" dir="2700000" algn="tl"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5" name="上凸带形 44"/>
          <p:cNvSpPr/>
          <p:nvPr/>
        </p:nvSpPr>
        <p:spPr>
          <a:xfrm>
            <a:off x="10091173" y="3216061"/>
            <a:ext cx="1240738" cy="638214"/>
          </a:xfrm>
          <a:prstGeom prst="ribbon2">
            <a:avLst/>
          </a:prstGeom>
          <a:solidFill>
            <a:srgbClr val="31929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6.7</a:t>
            </a:r>
            <a:endParaRPr lang="zh-CN" altLang="en-US" dirty="0"/>
          </a:p>
        </p:txBody>
      </p:sp>
      <p:sp>
        <p:nvSpPr>
          <p:cNvPr id="47" name="文本框 11"/>
          <p:cNvSpPr txBox="1"/>
          <p:nvPr/>
        </p:nvSpPr>
        <p:spPr>
          <a:xfrm>
            <a:off x="10369072" y="2078507"/>
            <a:ext cx="697627" cy="369332"/>
          </a:xfrm>
          <a:prstGeom prst="rect">
            <a:avLst/>
          </a:prstGeom>
          <a:noFill/>
        </p:spPr>
        <p:txBody>
          <a:bodyPr wrap="none">
            <a:normAutofit fontScale="92500" lnSpcReduction="20000"/>
          </a:bodyPr>
          <a:lstStyle/>
          <a:p>
            <a:pPr algn="ctr"/>
            <a:r>
              <a:rPr lang="en-US" sz="2400" dirty="0" smtClean="0">
                <a:solidFill>
                  <a:schemeClr val="tx1">
                    <a:lumMod val="65000"/>
                    <a:lumOff val="35000"/>
                  </a:schemeClr>
                </a:solidFill>
                <a:latin typeface="Impact" panose="020B0806030902050204" pitchFamily="34" charset="0"/>
              </a:rPr>
              <a:t>2022</a:t>
            </a:r>
            <a:endParaRPr lang="en-US" sz="2400" dirty="0">
              <a:solidFill>
                <a:schemeClr val="tx1">
                  <a:lumMod val="65000"/>
                  <a:lumOff val="35000"/>
                </a:schemeClr>
              </a:solidFill>
              <a:latin typeface="Impact" panose="020B0806030902050204" pitchFamily="34" charset="0"/>
            </a:endParaRPr>
          </a:p>
        </p:txBody>
      </p:sp>
      <p:sp>
        <p:nvSpPr>
          <p:cNvPr id="52" name="TextBox 11"/>
          <p:cNvSpPr txBox="1"/>
          <p:nvPr/>
        </p:nvSpPr>
        <p:spPr>
          <a:xfrm>
            <a:off x="9965430" y="4233704"/>
            <a:ext cx="1581152" cy="1256754"/>
          </a:xfrm>
          <a:prstGeom prst="rect">
            <a:avLst/>
          </a:prstGeom>
          <a:noFill/>
        </p:spPr>
        <p:txBody>
          <a:bodyPr wrap="square" lIns="0" tIns="0" rIns="0" bIns="0" rtlCol="0">
            <a:spAutoFit/>
            <a:scene3d>
              <a:camera prst="orthographicFront"/>
              <a:lightRig rig="threePt" dir="t"/>
            </a:scene3d>
            <a:sp3d contourW="12700"/>
          </a:bodyPr>
          <a:lstStyle/>
          <a:p>
            <a:pPr algn="ctr">
              <a:lnSpc>
                <a:spcPts val="1400"/>
              </a:lnSpc>
            </a:pPr>
            <a:r>
              <a:rPr lang="en-US" altLang="zh-CN" sz="1200" dirty="0" err="1">
                <a:solidFill>
                  <a:srgbClr val="319295"/>
                </a:solidFill>
                <a:latin typeface="Calibri" panose="020F0502020204030204" pitchFamily="34" charset="0"/>
                <a:cs typeface="Calibri" panose="020F0502020204030204" pitchFamily="34" charset="0"/>
              </a:rPr>
              <a:t>Vinchin</a:t>
            </a:r>
            <a:r>
              <a:rPr lang="en-US" altLang="zh-CN" sz="1200" dirty="0">
                <a:solidFill>
                  <a:srgbClr val="319295"/>
                </a:solidFill>
                <a:latin typeface="Calibri" panose="020F0502020204030204" pitchFamily="34" charset="0"/>
                <a:cs typeface="Calibri" panose="020F0502020204030204" pitchFamily="34" charset="0"/>
              </a:rPr>
              <a:t> Backup &amp; Recovery </a:t>
            </a:r>
            <a:r>
              <a:rPr lang="en-US" altLang="zh-CN" sz="1200" dirty="0" smtClean="0">
                <a:solidFill>
                  <a:srgbClr val="319295"/>
                </a:solidFill>
                <a:latin typeface="Calibri" panose="020F0502020204030204" pitchFamily="34" charset="0"/>
                <a:cs typeface="Calibri" panose="020F0502020204030204" pitchFamily="34" charset="0"/>
              </a:rPr>
              <a:t>v6.7 </a:t>
            </a:r>
            <a:r>
              <a:rPr lang="en-US" altLang="zh-CN" sz="1200" dirty="0" smtClean="0">
                <a:solidFill>
                  <a:srgbClr val="319295"/>
                </a:solidFill>
                <a:latin typeface="Calibri" panose="020F0502020204030204" pitchFamily="34" charset="0"/>
                <a:cs typeface="Calibri" panose="020F0502020204030204" pitchFamily="34" charset="0"/>
              </a:rPr>
              <a:t>release!</a:t>
            </a:r>
          </a:p>
          <a:p>
            <a:pPr algn="ctr">
              <a:lnSpc>
                <a:spcPts val="1400"/>
              </a:lnSpc>
            </a:pPr>
            <a:r>
              <a:rPr lang="en-US" altLang="zh-CN" sz="1200" dirty="0" smtClean="0">
                <a:solidFill>
                  <a:srgbClr val="319295"/>
                </a:solidFill>
                <a:latin typeface="Calibri" panose="020F0502020204030204" pitchFamily="34" charset="0"/>
                <a:cs typeface="Calibri" panose="020F0502020204030204" pitchFamily="34" charset="0"/>
              </a:rPr>
              <a:t>V2v</a:t>
            </a:r>
          </a:p>
          <a:p>
            <a:pPr algn="ctr">
              <a:lnSpc>
                <a:spcPts val="1400"/>
              </a:lnSpc>
            </a:pPr>
            <a:r>
              <a:rPr lang="en-US" altLang="zh-CN" sz="1200" dirty="0" smtClean="0">
                <a:solidFill>
                  <a:srgbClr val="319295"/>
                </a:solidFill>
                <a:latin typeface="Calibri" panose="020F0502020204030204" pitchFamily="34" charset="0"/>
                <a:cs typeface="Calibri" panose="020F0502020204030204" pitchFamily="34" charset="0"/>
              </a:rPr>
              <a:t>MSP</a:t>
            </a:r>
          </a:p>
          <a:p>
            <a:pPr algn="ctr">
              <a:lnSpc>
                <a:spcPts val="1400"/>
              </a:lnSpc>
            </a:pPr>
            <a:r>
              <a:rPr lang="en-US" altLang="zh-CN" sz="1200" dirty="0" smtClean="0">
                <a:solidFill>
                  <a:srgbClr val="319295"/>
                </a:solidFill>
                <a:latin typeface="Calibri" panose="020F0502020204030204" pitchFamily="34" charset="0"/>
                <a:cs typeface="Calibri" panose="020F0502020204030204" pitchFamily="34" charset="0"/>
              </a:rPr>
              <a:t>Database </a:t>
            </a:r>
            <a:r>
              <a:rPr lang="en-US" altLang="zh-CN" sz="1200" dirty="0" smtClean="0">
                <a:solidFill>
                  <a:srgbClr val="319295"/>
                </a:solidFill>
                <a:latin typeface="Calibri" panose="020F0502020204030204" pitchFamily="34" charset="0"/>
                <a:cs typeface="Calibri" panose="020F0502020204030204" pitchFamily="34" charset="0"/>
              </a:rPr>
              <a:t>Backup</a:t>
            </a:r>
          </a:p>
          <a:p>
            <a:pPr algn="ctr">
              <a:lnSpc>
                <a:spcPts val="1400"/>
              </a:lnSpc>
            </a:pPr>
            <a:r>
              <a:rPr lang="en-US" altLang="zh-CN" sz="1200" dirty="0" smtClean="0">
                <a:solidFill>
                  <a:srgbClr val="319295"/>
                </a:solidFill>
                <a:latin typeface="Calibri" panose="020F0502020204030204" pitchFamily="34" charset="0"/>
                <a:cs typeface="Calibri" panose="020F0502020204030204" pitchFamily="34" charset="0"/>
              </a:rPr>
              <a:t>GFS etc.</a:t>
            </a:r>
            <a:endParaRPr lang="en-US" altLang="zh-CN" sz="1200" dirty="0">
              <a:solidFill>
                <a:srgbClr val="319295"/>
              </a:solidFill>
              <a:latin typeface="Calibri" panose="020F0502020204030204" pitchFamily="34" charset="0"/>
              <a:cs typeface="Calibri" panose="020F0502020204030204" pitchFamily="34" charset="0"/>
            </a:endParaRPr>
          </a:p>
          <a:p>
            <a:pPr algn="ctr">
              <a:lnSpc>
                <a:spcPts val="1400"/>
              </a:lnSpc>
            </a:pPr>
            <a:r>
              <a:rPr lang="en-US" sz="1200" dirty="0" smtClean="0">
                <a:solidFill>
                  <a:schemeClr val="bg1">
                    <a:lumMod val="65000"/>
                  </a:schemeClr>
                </a:solidFill>
                <a:latin typeface="Calibri" panose="020F0502020204030204" pitchFamily="34" charset="0"/>
                <a:cs typeface="Calibri" panose="020F0502020204030204" pitchFamily="34" charset="0"/>
              </a:rPr>
              <a:t>.</a:t>
            </a:r>
            <a:endParaRPr lang="en-US" sz="12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7" presetClass="entr" presetSubtype="0" fill="hold" grpId="0" nodeType="after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1000"/>
                                        <p:tgtEl>
                                          <p:spTgt spid="46"/>
                                        </p:tgtEl>
                                      </p:cBhvr>
                                    </p:animEffect>
                                    <p:anim calcmode="lin" valueType="num">
                                      <p:cBhvr>
                                        <p:cTn id="14" dur="1000" fill="hold"/>
                                        <p:tgtEl>
                                          <p:spTgt spid="46"/>
                                        </p:tgtEl>
                                        <p:attrNameLst>
                                          <p:attrName>ppt_x</p:attrName>
                                        </p:attrNameLst>
                                      </p:cBhvr>
                                      <p:tavLst>
                                        <p:tav tm="0">
                                          <p:val>
                                            <p:strVal val="#ppt_x"/>
                                          </p:val>
                                        </p:tav>
                                        <p:tav tm="100000">
                                          <p:val>
                                            <p:strVal val="#ppt_x"/>
                                          </p:val>
                                        </p:tav>
                                      </p:tavLst>
                                    </p:anim>
                                    <p:anim calcmode="lin" valueType="num">
                                      <p:cBhvr>
                                        <p:cTn id="15" dur="900" decel="100000" fill="hold"/>
                                        <p:tgtEl>
                                          <p:spTgt spid="46"/>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46"/>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25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1000"/>
                                        <p:tgtEl>
                                          <p:spTgt spid="48"/>
                                        </p:tgtEl>
                                      </p:cBhvr>
                                    </p:animEffect>
                                    <p:anim calcmode="lin" valueType="num">
                                      <p:cBhvr>
                                        <p:cTn id="20" dur="1000" fill="hold"/>
                                        <p:tgtEl>
                                          <p:spTgt spid="48"/>
                                        </p:tgtEl>
                                        <p:attrNameLst>
                                          <p:attrName>ppt_x</p:attrName>
                                        </p:attrNameLst>
                                      </p:cBhvr>
                                      <p:tavLst>
                                        <p:tav tm="0">
                                          <p:val>
                                            <p:strVal val="#ppt_x"/>
                                          </p:val>
                                        </p:tav>
                                        <p:tav tm="100000">
                                          <p:val>
                                            <p:strVal val="#ppt_x"/>
                                          </p:val>
                                        </p:tav>
                                      </p:tavLst>
                                    </p:anim>
                                    <p:anim calcmode="lin" valueType="num">
                                      <p:cBhvr>
                                        <p:cTn id="21" dur="900" decel="100000" fill="hold"/>
                                        <p:tgtEl>
                                          <p:spTgt spid="48"/>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48"/>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5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1000"/>
                                        <p:tgtEl>
                                          <p:spTgt spid="49"/>
                                        </p:tgtEl>
                                      </p:cBhvr>
                                    </p:animEffect>
                                    <p:anim calcmode="lin" valueType="num">
                                      <p:cBhvr>
                                        <p:cTn id="26" dur="1000" fill="hold"/>
                                        <p:tgtEl>
                                          <p:spTgt spid="49"/>
                                        </p:tgtEl>
                                        <p:attrNameLst>
                                          <p:attrName>ppt_x</p:attrName>
                                        </p:attrNameLst>
                                      </p:cBhvr>
                                      <p:tavLst>
                                        <p:tav tm="0">
                                          <p:val>
                                            <p:strVal val="#ppt_x"/>
                                          </p:val>
                                        </p:tav>
                                        <p:tav tm="100000">
                                          <p:val>
                                            <p:strVal val="#ppt_x"/>
                                          </p:val>
                                        </p:tav>
                                      </p:tavLst>
                                    </p:anim>
                                    <p:anim calcmode="lin" valueType="num">
                                      <p:cBhvr>
                                        <p:cTn id="27" dur="900" decel="100000" fill="hold"/>
                                        <p:tgtEl>
                                          <p:spTgt spid="49"/>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49"/>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75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1000"/>
                                        <p:tgtEl>
                                          <p:spTgt spid="50"/>
                                        </p:tgtEl>
                                      </p:cBhvr>
                                    </p:animEffect>
                                    <p:anim calcmode="lin" valueType="num">
                                      <p:cBhvr>
                                        <p:cTn id="32" dur="1000" fill="hold"/>
                                        <p:tgtEl>
                                          <p:spTgt spid="50"/>
                                        </p:tgtEl>
                                        <p:attrNameLst>
                                          <p:attrName>ppt_x</p:attrName>
                                        </p:attrNameLst>
                                      </p:cBhvr>
                                      <p:tavLst>
                                        <p:tav tm="0">
                                          <p:val>
                                            <p:strVal val="#ppt_x"/>
                                          </p:val>
                                        </p:tav>
                                        <p:tav tm="100000">
                                          <p:val>
                                            <p:strVal val="#ppt_x"/>
                                          </p:val>
                                        </p:tav>
                                      </p:tavLst>
                                    </p:anim>
                                    <p:anim calcmode="lin" valueType="num">
                                      <p:cBhvr>
                                        <p:cTn id="33" dur="900" decel="100000" fill="hold"/>
                                        <p:tgtEl>
                                          <p:spTgt spid="50"/>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50"/>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100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1000"/>
                                        <p:tgtEl>
                                          <p:spTgt spid="51"/>
                                        </p:tgtEl>
                                      </p:cBhvr>
                                    </p:animEffect>
                                    <p:anim calcmode="lin" valueType="num">
                                      <p:cBhvr>
                                        <p:cTn id="38" dur="1000" fill="hold"/>
                                        <p:tgtEl>
                                          <p:spTgt spid="51"/>
                                        </p:tgtEl>
                                        <p:attrNameLst>
                                          <p:attrName>ppt_x</p:attrName>
                                        </p:attrNameLst>
                                      </p:cBhvr>
                                      <p:tavLst>
                                        <p:tav tm="0">
                                          <p:val>
                                            <p:strVal val="#ppt_x"/>
                                          </p:val>
                                        </p:tav>
                                        <p:tav tm="100000">
                                          <p:val>
                                            <p:strVal val="#ppt_x"/>
                                          </p:val>
                                        </p:tav>
                                      </p:tavLst>
                                    </p:anim>
                                    <p:anim calcmode="lin" valueType="num">
                                      <p:cBhvr>
                                        <p:cTn id="39" dur="900" decel="100000" fill="hold"/>
                                        <p:tgtEl>
                                          <p:spTgt spid="51"/>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51"/>
                                        </p:tgtEl>
                                        <p:attrNameLst>
                                          <p:attrName>ppt_y</p:attrName>
                                        </p:attrNameLst>
                                      </p:cBhvr>
                                      <p:tavLst>
                                        <p:tav tm="0">
                                          <p:val>
                                            <p:strVal val="#ppt_y-.03"/>
                                          </p:val>
                                        </p:tav>
                                        <p:tav tm="100000">
                                          <p:val>
                                            <p:strVal val="#ppt_y"/>
                                          </p:val>
                                        </p:tav>
                                      </p:tavLst>
                                    </p:anim>
                                  </p:childTnLst>
                                </p:cTn>
                              </p:par>
                              <p:par>
                                <p:cTn id="41" presetID="37" presetClass="entr" presetSubtype="0" fill="hold" grpId="0" nodeType="withEffect">
                                  <p:stCondLst>
                                    <p:cond delay="1000"/>
                                  </p:stCondLst>
                                  <p:childTnLst>
                                    <p:set>
                                      <p:cBhvr>
                                        <p:cTn id="42" dur="1" fill="hold">
                                          <p:stCondLst>
                                            <p:cond delay="0"/>
                                          </p:stCondLst>
                                        </p:cTn>
                                        <p:tgtEl>
                                          <p:spTgt spid="52"/>
                                        </p:tgtEl>
                                        <p:attrNameLst>
                                          <p:attrName>style.visibility</p:attrName>
                                        </p:attrNameLst>
                                      </p:cBhvr>
                                      <p:to>
                                        <p:strVal val="visible"/>
                                      </p:to>
                                    </p:set>
                                    <p:animEffect transition="in" filter="fade">
                                      <p:cBhvr>
                                        <p:cTn id="43" dur="1000"/>
                                        <p:tgtEl>
                                          <p:spTgt spid="52"/>
                                        </p:tgtEl>
                                      </p:cBhvr>
                                    </p:animEffect>
                                    <p:anim calcmode="lin" valueType="num">
                                      <p:cBhvr>
                                        <p:cTn id="44" dur="1000" fill="hold"/>
                                        <p:tgtEl>
                                          <p:spTgt spid="52"/>
                                        </p:tgtEl>
                                        <p:attrNameLst>
                                          <p:attrName>ppt_x</p:attrName>
                                        </p:attrNameLst>
                                      </p:cBhvr>
                                      <p:tavLst>
                                        <p:tav tm="0">
                                          <p:val>
                                            <p:strVal val="#ppt_x"/>
                                          </p:val>
                                        </p:tav>
                                        <p:tav tm="100000">
                                          <p:val>
                                            <p:strVal val="#ppt_x"/>
                                          </p:val>
                                        </p:tav>
                                      </p:tavLst>
                                    </p:anim>
                                    <p:anim calcmode="lin" valueType="num">
                                      <p:cBhvr>
                                        <p:cTn id="45" dur="900" decel="100000" fill="hold"/>
                                        <p:tgtEl>
                                          <p:spTgt spid="52"/>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5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49" grpId="0"/>
      <p:bldP spid="50" grpId="0"/>
      <p:bldP spid="51" grpId="0"/>
      <p:bldP spid="5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8"/>
          <p:cNvSpPr/>
          <p:nvPr/>
        </p:nvSpPr>
        <p:spPr>
          <a:xfrm>
            <a:off x="3352798" y="3001941"/>
            <a:ext cx="4538663" cy="1635934"/>
          </a:xfrm>
          <a:prstGeom prst="rect">
            <a:avLst/>
          </a:prstGeom>
          <a:solidFill>
            <a:srgbClr val="11515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lvl="0" algn="ctr">
              <a:lnSpc>
                <a:spcPct val="120000"/>
              </a:lnSpc>
            </a:pPr>
            <a:r>
              <a:rPr lang="en-US" altLang="zh-CN" sz="4800" b="1" dirty="0" smtClean="0">
                <a:solidFill>
                  <a:srgbClr val="FFFFFF"/>
                </a:solidFill>
              </a:rPr>
              <a:t>Our Glories</a:t>
            </a:r>
            <a:endParaRPr lang="zh-CN" altLang="en-US" sz="4800" b="1" dirty="0">
              <a:solidFill>
                <a:srgbClr val="FFFFFF"/>
              </a:solidFill>
            </a:endParaRPr>
          </a:p>
        </p:txBody>
      </p:sp>
      <p:sp>
        <p:nvSpPr>
          <p:cNvPr id="5" name="Rectangle 7"/>
          <p:cNvSpPr/>
          <p:nvPr/>
        </p:nvSpPr>
        <p:spPr>
          <a:xfrm>
            <a:off x="4737528" y="9728"/>
            <a:ext cx="7454472" cy="2920260"/>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50000"/>
              </a:lnSpc>
              <a:buFont typeface="Arial" panose="020B0604020202020204" pitchFamily="34" charset="0"/>
              <a:buChar char="•"/>
            </a:pPr>
            <a:r>
              <a:rPr lang="en-US" altLang="zh-CN" sz="1400" dirty="0" smtClean="0">
                <a:latin typeface="Calibri" panose="020F0502020204030204" pitchFamily="34" charset="0"/>
                <a:cs typeface="Calibri" panose="020F0502020204030204" pitchFamily="34" charset="0"/>
                <a:sym typeface="+mn-ea"/>
              </a:rPr>
              <a:t>We are the</a:t>
            </a:r>
            <a:r>
              <a:rPr lang="en-US" altLang="zh-CN" sz="1600" dirty="0" smtClean="0">
                <a:latin typeface="Calibri" panose="020F0502020204030204" pitchFamily="34" charset="0"/>
                <a:cs typeface="Calibri" panose="020F0502020204030204" pitchFamily="34" charset="0"/>
                <a:sym typeface="+mn-ea"/>
              </a:rPr>
              <a:t> </a:t>
            </a:r>
            <a:r>
              <a:rPr lang="en-US" altLang="zh-CN" sz="2400" b="1" dirty="0">
                <a:solidFill>
                  <a:schemeClr val="bg1"/>
                </a:solidFill>
                <a:latin typeface="Calibri" panose="020F0502020204030204" pitchFamily="34" charset="0"/>
                <a:cs typeface="Calibri" panose="020F0502020204030204" pitchFamily="34" charset="0"/>
                <a:sym typeface="+mn-ea"/>
              </a:rPr>
              <a:t>very first </a:t>
            </a:r>
            <a:r>
              <a:rPr lang="en-US" altLang="zh-CN" sz="1400" dirty="0">
                <a:latin typeface="Calibri" panose="020F0502020204030204" pitchFamily="34" charset="0"/>
                <a:cs typeface="Calibri" panose="020F0502020204030204" pitchFamily="34" charset="0"/>
                <a:sym typeface="+mn-ea"/>
              </a:rPr>
              <a:t>virtual machine backup vendor in China</a:t>
            </a:r>
            <a:endParaRPr lang="en-US" altLang="zh-CN" sz="1600" dirty="0">
              <a:solidFill>
                <a:srgbClr val="58BFBD"/>
              </a:solidFill>
              <a:latin typeface="Calibri" panose="020F0502020204030204" pitchFamily="34" charset="0"/>
              <a:ea typeface="Microsoft JhengHei UI" panose="020B0604030504040204" pitchFamily="34" charset="-120"/>
              <a:cs typeface="Calibri" panose="020F0502020204030204" pitchFamily="34" charset="0"/>
            </a:endParaRPr>
          </a:p>
          <a:p>
            <a:pPr marL="285750" indent="-285750">
              <a:lnSpc>
                <a:spcPct val="150000"/>
              </a:lnSpc>
              <a:buFont typeface="Arial" panose="020B0604020202020204" pitchFamily="34" charset="0"/>
              <a:buChar char="•"/>
            </a:pPr>
            <a:r>
              <a:rPr lang="en-US" altLang="zh-CN" sz="1400" dirty="0" smtClean="0">
                <a:latin typeface="Calibri" panose="020F0502020204030204" pitchFamily="34" charset="0"/>
                <a:cs typeface="Calibri" panose="020F0502020204030204" pitchFamily="34" charset="0"/>
              </a:rPr>
              <a:t>We</a:t>
            </a:r>
            <a:r>
              <a:rPr lang="en-US" altLang="zh-CN" sz="1600" dirty="0" smtClean="0">
                <a:latin typeface="Calibri" panose="020F0502020204030204" pitchFamily="34" charset="0"/>
                <a:cs typeface="Calibri" panose="020F0502020204030204" pitchFamily="34" charset="0"/>
              </a:rPr>
              <a:t> </a:t>
            </a:r>
            <a:r>
              <a:rPr lang="en-US" altLang="zh-CN" sz="2400" b="1" dirty="0">
                <a:solidFill>
                  <a:schemeClr val="bg1"/>
                </a:solidFill>
                <a:latin typeface="Calibri" panose="020F0502020204030204" pitchFamily="34" charset="0"/>
                <a:cs typeface="Calibri" panose="020F0502020204030204" pitchFamily="34" charset="0"/>
              </a:rPr>
              <a:t>self-develop</a:t>
            </a:r>
            <a:r>
              <a:rPr lang="en-US" altLang="zh-CN" sz="1600" dirty="0" smtClean="0">
                <a:latin typeface="Calibri" panose="020F0502020204030204" pitchFamily="34" charset="0"/>
                <a:cs typeface="Calibri" panose="020F0502020204030204" pitchFamily="34" charset="0"/>
              </a:rPr>
              <a:t> </a:t>
            </a:r>
            <a:r>
              <a:rPr lang="en-US" altLang="zh-CN" sz="1400" dirty="0" smtClean="0">
                <a:latin typeface="Calibri" panose="020F0502020204030204" pitchFamily="34" charset="0"/>
                <a:cs typeface="Calibri" panose="020F0502020204030204" pitchFamily="34" charset="0"/>
              </a:rPr>
              <a:t>and own </a:t>
            </a:r>
            <a:r>
              <a:rPr lang="en-US" altLang="zh-CN" sz="1400" dirty="0">
                <a:latin typeface="Calibri" panose="020F0502020204030204" pitchFamily="34" charset="0"/>
                <a:cs typeface="Calibri" panose="020F0502020204030204" pitchFamily="34" charset="0"/>
              </a:rPr>
              <a:t>complete intellectual property </a:t>
            </a:r>
            <a:r>
              <a:rPr lang="en-US" altLang="zh-CN" sz="1400" dirty="0" smtClean="0">
                <a:latin typeface="Calibri" panose="020F0502020204030204" pitchFamily="34" charset="0"/>
                <a:cs typeface="Calibri" panose="020F0502020204030204" pitchFamily="34" charset="0"/>
              </a:rPr>
              <a:t>rights</a:t>
            </a:r>
            <a:r>
              <a:rPr lang="en-US" altLang="zh-CN" sz="1600" dirty="0" smtClean="0">
                <a:latin typeface="Calibri" panose="020F0502020204030204" pitchFamily="34" charset="0"/>
                <a:cs typeface="Calibri" panose="020F0502020204030204" pitchFamily="34" charset="0"/>
              </a:rPr>
              <a:t> </a:t>
            </a:r>
            <a:endParaRPr lang="en-US" altLang="zh-CN"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altLang="zh-CN" sz="1400" dirty="0" smtClean="0">
                <a:latin typeface="Calibri" panose="020F0502020204030204" pitchFamily="34" charset="0"/>
                <a:cs typeface="Calibri" panose="020F0502020204030204" pitchFamily="34" charset="0"/>
              </a:rPr>
              <a:t>We won </a:t>
            </a:r>
            <a:r>
              <a:rPr lang="en-US" altLang="zh-CN" sz="1400" dirty="0">
                <a:latin typeface="Calibri" panose="020F0502020204030204" pitchFamily="34" charset="0"/>
                <a:cs typeface="Calibri" panose="020F0502020204030204" pitchFamily="34" charset="0"/>
              </a:rPr>
              <a:t>the </a:t>
            </a:r>
            <a:r>
              <a:rPr lang="en-US" altLang="zh-CN" sz="2400" b="1" dirty="0">
                <a:solidFill>
                  <a:schemeClr val="bg1"/>
                </a:solidFill>
                <a:latin typeface="Calibri" panose="020F0502020204030204" pitchFamily="34" charset="0"/>
                <a:cs typeface="Calibri" panose="020F0502020204030204" pitchFamily="34" charset="0"/>
              </a:rPr>
              <a:t>first patent </a:t>
            </a:r>
            <a:r>
              <a:rPr lang="en-US" altLang="zh-CN" sz="1400" dirty="0">
                <a:latin typeface="Calibri" panose="020F0502020204030204" pitchFamily="34" charset="0"/>
                <a:cs typeface="Calibri" panose="020F0502020204030204" pitchFamily="34" charset="0"/>
              </a:rPr>
              <a:t>for instant recovery technology in China</a:t>
            </a:r>
          </a:p>
        </p:txBody>
      </p:sp>
      <p:pic>
        <p:nvPicPr>
          <p:cNvPr id="44" name="图片占位符 43"/>
          <p:cNvPicPr>
            <a:picLocks noGrp="1" noChangeAspect="1"/>
          </p:cNvPicPr>
          <p:nvPr>
            <p:ph type="pic" sz="quarter" idx="10"/>
          </p:nvPr>
        </p:nvPicPr>
        <p:blipFill>
          <a:blip r:embed="rId3"/>
          <a:srcRect/>
          <a:stretch>
            <a:fillRect/>
          </a:stretch>
        </p:blipFill>
        <p:spPr>
          <a:xfrm>
            <a:off x="3352799" y="5440363"/>
            <a:ext cx="4538663" cy="1409700"/>
          </a:xfrm>
        </p:spPr>
      </p:pic>
      <p:pic>
        <p:nvPicPr>
          <p:cNvPr id="63" name="图片占位符 62"/>
          <p:cNvPicPr>
            <a:picLocks noGrp="1" noChangeAspect="1"/>
          </p:cNvPicPr>
          <p:nvPr>
            <p:ph type="pic" sz="quarter" idx="10"/>
          </p:nvPr>
        </p:nvPicPr>
        <p:blipFill>
          <a:blip r:embed="rId4"/>
          <a:srcRect/>
          <a:stretch>
            <a:fillRect/>
          </a:stretch>
        </p:blipFill>
        <p:spPr>
          <a:xfrm>
            <a:off x="0" y="-1"/>
            <a:ext cx="4654550" cy="2929989"/>
          </a:xfrm>
        </p:spPr>
      </p:pic>
      <p:sp>
        <p:nvSpPr>
          <p:cNvPr id="64" name="Rectangle 8"/>
          <p:cNvSpPr/>
          <p:nvPr/>
        </p:nvSpPr>
        <p:spPr>
          <a:xfrm>
            <a:off x="0" y="3001941"/>
            <a:ext cx="3275013" cy="1828678"/>
          </a:xfrm>
          <a:prstGeom prst="rect">
            <a:avLst/>
          </a:prstGeom>
          <a:solidFill>
            <a:srgbClr val="4AD1C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20000"/>
              </a:lnSpc>
              <a:buFont typeface="Arial" panose="020B0604020202020204" pitchFamily="34" charset="0"/>
              <a:buChar char="•"/>
            </a:pPr>
            <a:r>
              <a:rPr lang="en-US" altLang="zh-CN" b="1" dirty="0" smtClean="0">
                <a:solidFill>
                  <a:srgbClr val="FFFFFF"/>
                </a:solidFill>
                <a:latin typeface="Calibri" panose="020F0502020204030204" pitchFamily="34" charset="0"/>
                <a:cs typeface="Calibri" panose="020F0502020204030204" pitchFamily="34" charset="0"/>
              </a:rPr>
              <a:t>10 </a:t>
            </a:r>
            <a:r>
              <a:rPr lang="en-US" altLang="zh-CN" sz="1400" b="1" dirty="0" smtClean="0">
                <a:solidFill>
                  <a:srgbClr val="FFFFFF"/>
                </a:solidFill>
                <a:latin typeface="Calibri" panose="020F0502020204030204" pitchFamily="34" charset="0"/>
                <a:cs typeface="Calibri" panose="020F0502020204030204" pitchFamily="34" charset="0"/>
              </a:rPr>
              <a:t>Platforms Protected</a:t>
            </a:r>
            <a:endParaRPr lang="en-US" altLang="zh-CN" b="1" dirty="0">
              <a:solidFill>
                <a:srgbClr val="FFFFFF"/>
              </a:solidFill>
              <a:latin typeface="Calibri" panose="020F0502020204030204" pitchFamily="34" charset="0"/>
              <a:cs typeface="Calibri" panose="020F0502020204030204" pitchFamily="34" charset="0"/>
            </a:endParaRPr>
          </a:p>
          <a:p>
            <a:pPr marL="285750" lvl="0" indent="-285750">
              <a:lnSpc>
                <a:spcPct val="120000"/>
              </a:lnSpc>
              <a:buFont typeface="Arial" panose="020B0604020202020204" pitchFamily="34" charset="0"/>
              <a:buChar char="•"/>
            </a:pPr>
            <a:r>
              <a:rPr lang="en-US" altLang="zh-CN" b="1" dirty="0" smtClean="0">
                <a:solidFill>
                  <a:srgbClr val="FFFFFF"/>
                </a:solidFill>
                <a:latin typeface="Calibri" panose="020F0502020204030204" pitchFamily="34" charset="0"/>
                <a:cs typeface="Calibri" panose="020F0502020204030204" pitchFamily="34" charset="0"/>
              </a:rPr>
              <a:t>100+ </a:t>
            </a:r>
            <a:r>
              <a:rPr lang="en-US" altLang="zh-CN" sz="1400" b="1" dirty="0" smtClean="0">
                <a:solidFill>
                  <a:srgbClr val="FFFFFF"/>
                </a:solidFill>
                <a:latin typeface="Calibri" panose="020F0502020204030204" pitchFamily="34" charset="0"/>
                <a:cs typeface="Calibri" panose="020F0502020204030204" pitchFamily="34" charset="0"/>
              </a:rPr>
              <a:t>Countries Implemented</a:t>
            </a:r>
            <a:endParaRPr lang="en-US" altLang="zh-CN" b="1" dirty="0" smtClean="0">
              <a:solidFill>
                <a:srgbClr val="FFFFFF"/>
              </a:solidFill>
              <a:latin typeface="Calibri" panose="020F0502020204030204" pitchFamily="34" charset="0"/>
              <a:cs typeface="Calibri" panose="020F0502020204030204" pitchFamily="34" charset="0"/>
            </a:endParaRPr>
          </a:p>
          <a:p>
            <a:pPr marL="285750" lvl="0" indent="-285750">
              <a:lnSpc>
                <a:spcPct val="120000"/>
              </a:lnSpc>
              <a:buFont typeface="Arial" panose="020B0604020202020204" pitchFamily="34" charset="0"/>
              <a:buChar char="•"/>
            </a:pPr>
            <a:r>
              <a:rPr lang="en-US" altLang="zh-CN" b="1" dirty="0" smtClean="0">
                <a:solidFill>
                  <a:srgbClr val="FFFFFF"/>
                </a:solidFill>
                <a:latin typeface="Calibri" panose="020F0502020204030204" pitchFamily="34" charset="0"/>
                <a:cs typeface="Calibri" panose="020F0502020204030204" pitchFamily="34" charset="0"/>
              </a:rPr>
              <a:t>10000+ </a:t>
            </a:r>
            <a:r>
              <a:rPr lang="en-US" altLang="zh-CN" sz="1400" b="1" dirty="0" smtClean="0">
                <a:solidFill>
                  <a:srgbClr val="FFFFFF"/>
                </a:solidFill>
                <a:latin typeface="Calibri" panose="020F0502020204030204" pitchFamily="34" charset="0"/>
                <a:cs typeface="Calibri" panose="020F0502020204030204" pitchFamily="34" charset="0"/>
              </a:rPr>
              <a:t>Clients</a:t>
            </a:r>
            <a:endParaRPr lang="en-US" altLang="zh-CN" b="1" dirty="0" smtClean="0">
              <a:solidFill>
                <a:srgbClr val="FFFFFF"/>
              </a:solidFill>
              <a:latin typeface="Calibri" panose="020F0502020204030204" pitchFamily="34" charset="0"/>
              <a:cs typeface="Calibri" panose="020F0502020204030204" pitchFamily="34" charset="0"/>
            </a:endParaRPr>
          </a:p>
          <a:p>
            <a:pPr marL="285750" lvl="0" indent="-285750">
              <a:lnSpc>
                <a:spcPct val="120000"/>
              </a:lnSpc>
              <a:buFont typeface="Arial" panose="020B0604020202020204" pitchFamily="34" charset="0"/>
              <a:buChar char="•"/>
            </a:pPr>
            <a:r>
              <a:rPr lang="en-US" altLang="zh-CN" b="1" dirty="0" smtClean="0">
                <a:solidFill>
                  <a:srgbClr val="FFFFFF"/>
                </a:solidFill>
                <a:latin typeface="Calibri" panose="020F0502020204030204" pitchFamily="34" charset="0"/>
                <a:cs typeface="Calibri" panose="020F0502020204030204" pitchFamily="34" charset="0"/>
              </a:rPr>
              <a:t>1.6M+ </a:t>
            </a:r>
            <a:r>
              <a:rPr lang="en-US" altLang="zh-CN" sz="1400" b="1" dirty="0" smtClean="0">
                <a:solidFill>
                  <a:srgbClr val="FFFFFF"/>
                </a:solidFill>
                <a:latin typeface="Calibri" panose="020F0502020204030204" pitchFamily="34" charset="0"/>
                <a:cs typeface="Calibri" panose="020F0502020204030204" pitchFamily="34" charset="0"/>
              </a:rPr>
              <a:t>VM protected</a:t>
            </a:r>
            <a:endParaRPr lang="zh-CN" altLang="en-US" b="1" dirty="0">
              <a:solidFill>
                <a:srgbClr val="FFFFFF"/>
              </a:solidFill>
              <a:latin typeface="Calibri" panose="020F0502020204030204" pitchFamily="34" charset="0"/>
              <a:cs typeface="Calibri" panose="020F0502020204030204" pitchFamily="34" charset="0"/>
            </a:endParaRPr>
          </a:p>
        </p:txBody>
      </p:sp>
      <p:pic>
        <p:nvPicPr>
          <p:cNvPr id="66" name="图片占位符 65"/>
          <p:cNvPicPr>
            <a:picLocks noGrp="1" noChangeAspect="1"/>
          </p:cNvPicPr>
          <p:nvPr>
            <p:ph type="pic" sz="quarter" idx="13"/>
          </p:nvPr>
        </p:nvPicPr>
        <p:blipFill>
          <a:blip r:embed="rId5"/>
          <a:srcRect/>
          <a:stretch>
            <a:fillRect/>
          </a:stretch>
        </p:blipFill>
        <p:spPr>
          <a:xfrm>
            <a:off x="0" y="4900613"/>
            <a:ext cx="3275013" cy="1949450"/>
          </a:xfrm>
        </p:spPr>
      </p:pic>
      <p:pic>
        <p:nvPicPr>
          <p:cNvPr id="71" name="图片占位符 70"/>
          <p:cNvPicPr>
            <a:picLocks noGrp="1" noChangeAspect="1"/>
          </p:cNvPicPr>
          <p:nvPr>
            <p:ph type="pic" sz="quarter" idx="14"/>
          </p:nvPr>
        </p:nvPicPr>
        <p:blipFill>
          <a:blip r:embed="rId6"/>
          <a:srcRect/>
          <a:stretch>
            <a:fillRect/>
          </a:stretch>
        </p:blipFill>
        <p:spPr>
          <a:xfrm>
            <a:off x="7969250" y="4476750"/>
            <a:ext cx="4222750" cy="2373313"/>
          </a:xfrm>
        </p:spPr>
      </p:pic>
      <p:pic>
        <p:nvPicPr>
          <p:cNvPr id="10" name="图片 9"/>
          <p:cNvPicPr>
            <a:picLocks noChangeAspect="1"/>
          </p:cNvPicPr>
          <p:nvPr/>
        </p:nvPicPr>
        <p:blipFill>
          <a:blip r:embed="rId7"/>
          <a:stretch>
            <a:fillRect/>
          </a:stretch>
        </p:blipFill>
        <p:spPr>
          <a:xfrm>
            <a:off x="3352798" y="4709828"/>
            <a:ext cx="4538663" cy="2120766"/>
          </a:xfrm>
          <a:prstGeom prst="rect">
            <a:avLst/>
          </a:prstGeom>
        </p:spPr>
      </p:pic>
      <p:pic>
        <p:nvPicPr>
          <p:cNvPr id="11" name="图片 10"/>
          <p:cNvPicPr>
            <a:picLocks noChangeAspect="1"/>
          </p:cNvPicPr>
          <p:nvPr/>
        </p:nvPicPr>
        <p:blipFill>
          <a:blip r:embed="rId8"/>
          <a:stretch>
            <a:fillRect/>
          </a:stretch>
        </p:blipFill>
        <p:spPr>
          <a:xfrm>
            <a:off x="7978551" y="3001940"/>
            <a:ext cx="4204148" cy="14025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3"/>
          <a:srcRect/>
          <a:stretch>
            <a:fillRect/>
          </a:stretch>
        </p:blipFill>
        <p:spPr/>
      </p:pic>
      <p:sp>
        <p:nvSpPr>
          <p:cNvPr id="20" name="矩形 19"/>
          <p:cNvSpPr/>
          <p:nvPr/>
        </p:nvSpPr>
        <p:spPr>
          <a:xfrm>
            <a:off x="-2872" y="0"/>
            <a:ext cx="12192000" cy="6858000"/>
          </a:xfrm>
          <a:prstGeom prst="rect">
            <a:avLst/>
          </a:prstGeom>
          <a:solidFill>
            <a:schemeClr val="accent6">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p:nvSpPr>
        <p:spPr>
          <a:xfrm>
            <a:off x="438150" y="0"/>
            <a:ext cx="1257300" cy="1050167"/>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0" y="0"/>
            <a:ext cx="3786028" cy="3162300"/>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 y="2343150"/>
            <a:ext cx="3702179" cy="4514850"/>
          </a:xfrm>
          <a:custGeom>
            <a:avLst/>
            <a:gdLst>
              <a:gd name="connsiteX0" fmla="*/ 1625728 w 3702179"/>
              <a:gd name="connsiteY0" fmla="*/ 0 h 4514850"/>
              <a:gd name="connsiteX1" fmla="*/ 3702179 w 3702179"/>
              <a:gd name="connsiteY1" fmla="*/ 0 h 4514850"/>
              <a:gd name="connsiteX2" fmla="*/ 1534011 w 3702179"/>
              <a:gd name="connsiteY2" fmla="*/ 4514850 h 4514850"/>
              <a:gd name="connsiteX3" fmla="*/ 0 w 3702179"/>
              <a:gd name="connsiteY3" fmla="*/ 4514850 h 4514850"/>
              <a:gd name="connsiteX4" fmla="*/ 0 w 3702179"/>
              <a:gd name="connsiteY4" fmla="*/ 3385309 h 451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2179" h="4514850">
                <a:moveTo>
                  <a:pt x="1625728" y="0"/>
                </a:moveTo>
                <a:lnTo>
                  <a:pt x="3702179" y="0"/>
                </a:lnTo>
                <a:lnTo>
                  <a:pt x="1534011" y="4514850"/>
                </a:lnTo>
                <a:lnTo>
                  <a:pt x="0" y="4514850"/>
                </a:lnTo>
                <a:lnTo>
                  <a:pt x="0" y="3385309"/>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任意多边形: 形状 17"/>
          <p:cNvSpPr/>
          <p:nvPr/>
        </p:nvSpPr>
        <p:spPr>
          <a:xfrm>
            <a:off x="11452929" y="5319006"/>
            <a:ext cx="739072" cy="1538994"/>
          </a:xfrm>
          <a:custGeom>
            <a:avLst/>
            <a:gdLst>
              <a:gd name="connsiteX0" fmla="*/ 739072 w 739072"/>
              <a:gd name="connsiteY0" fmla="*/ 0 h 1538994"/>
              <a:gd name="connsiteX1" fmla="*/ 739072 w 739072"/>
              <a:gd name="connsiteY1" fmla="*/ 1538994 h 1538994"/>
              <a:gd name="connsiteX2" fmla="*/ 0 w 739072"/>
              <a:gd name="connsiteY2" fmla="*/ 1538994 h 1538994"/>
            </a:gdLst>
            <a:ahLst/>
            <a:cxnLst>
              <a:cxn ang="0">
                <a:pos x="connsiteX0" y="connsiteY0"/>
              </a:cxn>
              <a:cxn ang="0">
                <a:pos x="connsiteX1" y="connsiteY1"/>
              </a:cxn>
              <a:cxn ang="0">
                <a:pos x="connsiteX2" y="connsiteY2"/>
              </a:cxn>
            </a:cxnLst>
            <a:rect l="l" t="t" r="r" b="b"/>
            <a:pathLst>
              <a:path w="739072" h="1538994">
                <a:moveTo>
                  <a:pt x="739072" y="0"/>
                </a:moveTo>
                <a:lnTo>
                  <a:pt x="739072" y="1538994"/>
                </a:lnTo>
                <a:lnTo>
                  <a:pt x="0" y="1538994"/>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任意多边形: 形状 12"/>
          <p:cNvSpPr/>
          <p:nvPr/>
        </p:nvSpPr>
        <p:spPr>
          <a:xfrm>
            <a:off x="11182350" y="6221536"/>
            <a:ext cx="762000" cy="636464"/>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61485" y="1402140"/>
            <a:ext cx="1553630" cy="1569660"/>
          </a:xfrm>
          <a:prstGeom prst="rect">
            <a:avLst/>
          </a:prstGeom>
          <a:noFill/>
        </p:spPr>
        <p:txBody>
          <a:bodyPr wrap="none" rtlCol="0">
            <a:spAutoFit/>
            <a:scene3d>
              <a:camera prst="orthographicFront"/>
              <a:lightRig rig="threePt" dir="t"/>
            </a:scene3d>
            <a:sp3d contourW="12700"/>
          </a:bodyPr>
          <a:lstStyle/>
          <a:p>
            <a:r>
              <a:rPr lang="en-US" altLang="zh-CN" sz="9600" b="1" i="1" dirty="0" smtClean="0">
                <a:solidFill>
                  <a:schemeClr val="bg1"/>
                </a:solidFill>
              </a:rPr>
              <a:t>03</a:t>
            </a:r>
            <a:endParaRPr lang="zh-CN" altLang="en-US" sz="9600" b="1" i="1" dirty="0">
              <a:solidFill>
                <a:schemeClr val="bg1"/>
              </a:solidFill>
            </a:endParaRPr>
          </a:p>
        </p:txBody>
      </p:sp>
      <p:sp>
        <p:nvSpPr>
          <p:cNvPr id="24" name="文本框 23"/>
          <p:cNvSpPr txBox="1"/>
          <p:nvPr/>
        </p:nvSpPr>
        <p:spPr>
          <a:xfrm>
            <a:off x="4263428" y="2724834"/>
            <a:ext cx="3804439" cy="769441"/>
          </a:xfrm>
          <a:prstGeom prst="rect">
            <a:avLst/>
          </a:prstGeom>
          <a:noFill/>
        </p:spPr>
        <p:txBody>
          <a:bodyPr wrap="none" rtlCol="0">
            <a:spAutoFit/>
            <a:scene3d>
              <a:camera prst="orthographicFront"/>
              <a:lightRig rig="threePt" dir="t"/>
            </a:scene3d>
            <a:sp3d contourW="12700"/>
          </a:bodyPr>
          <a:lstStyle/>
          <a:p>
            <a:r>
              <a:rPr lang="en-US" altLang="zh-CN" sz="4400" b="1" dirty="0" smtClean="0">
                <a:solidFill>
                  <a:schemeClr val="bg1"/>
                </a:solidFill>
                <a:latin typeface="+mn-ea"/>
              </a:rPr>
              <a:t>Our Partners</a:t>
            </a:r>
            <a:endParaRPr lang="zh-CN" altLang="en-US" sz="4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8"/>
          <p:cNvSpPr/>
          <p:nvPr/>
        </p:nvSpPr>
        <p:spPr>
          <a:xfrm>
            <a:off x="5042682" y="3001395"/>
            <a:ext cx="4321190" cy="2406628"/>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lvl="0">
              <a:lnSpc>
                <a:spcPct val="120000"/>
              </a:lnSpc>
            </a:pPr>
            <a:r>
              <a:rPr lang="en-US" altLang="zh-CN" sz="4400" b="1" dirty="0" smtClean="0">
                <a:solidFill>
                  <a:srgbClr val="11515A"/>
                </a:solidFill>
              </a:rPr>
              <a:t>Our</a:t>
            </a:r>
          </a:p>
          <a:p>
            <a:pPr lvl="0">
              <a:lnSpc>
                <a:spcPct val="120000"/>
              </a:lnSpc>
            </a:pPr>
            <a:r>
              <a:rPr lang="en-US" altLang="zh-CN" sz="4400" b="1" dirty="0" smtClean="0">
                <a:solidFill>
                  <a:srgbClr val="11515A"/>
                </a:solidFill>
              </a:rPr>
              <a:t>Partner</a:t>
            </a:r>
            <a:endParaRPr lang="zh-CN" altLang="en-US" sz="4400" b="1" dirty="0">
              <a:solidFill>
                <a:srgbClr val="11515A"/>
              </a:solidFill>
            </a:endParaRPr>
          </a:p>
        </p:txBody>
      </p:sp>
      <p:sp>
        <p:nvSpPr>
          <p:cNvPr id="5" name="Rectangle 7"/>
          <p:cNvSpPr/>
          <p:nvPr/>
        </p:nvSpPr>
        <p:spPr>
          <a:xfrm>
            <a:off x="3711926" y="0"/>
            <a:ext cx="3464768" cy="108562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20000"/>
              </a:lnSpc>
              <a:buFont typeface="Arial" panose="020B0604020202020204" pitchFamily="34" charset="0"/>
              <a:buChar char="•"/>
            </a:pPr>
            <a:r>
              <a:rPr lang="en-US" altLang="zh-CN" sz="1400" dirty="0" smtClean="0">
                <a:latin typeface="Calibri" panose="020F0502020204030204" pitchFamily="34" charset="0"/>
                <a:cs typeface="Calibri" panose="020F0502020204030204" pitchFamily="34" charset="0"/>
              </a:rPr>
              <a:t>The </a:t>
            </a:r>
            <a:r>
              <a:rPr lang="en-US" altLang="zh-CN" sz="1400" dirty="0">
                <a:latin typeface="Calibri" panose="020F0502020204030204" pitchFamily="34" charset="0"/>
                <a:cs typeface="Calibri" panose="020F0502020204030204" pitchFamily="34" charset="0"/>
              </a:rPr>
              <a:t>first backup provider recognized by </a:t>
            </a:r>
            <a:r>
              <a:rPr lang="en-US" altLang="zh-CN" sz="1400" dirty="0" err="1">
                <a:latin typeface="Calibri" panose="020F0502020204030204" pitchFamily="34" charset="0"/>
                <a:cs typeface="Calibri" panose="020F0502020204030204" pitchFamily="34" charset="0"/>
              </a:rPr>
              <a:t>oVirt</a:t>
            </a:r>
            <a:r>
              <a:rPr lang="en-US" altLang="zh-CN" sz="1400" dirty="0">
                <a:latin typeface="Calibri" panose="020F0502020204030204" pitchFamily="34" charset="0"/>
                <a:cs typeface="Calibri" panose="020F0502020204030204" pitchFamily="34" charset="0"/>
              </a:rPr>
              <a:t> Community</a:t>
            </a:r>
          </a:p>
        </p:txBody>
      </p:sp>
      <p:sp>
        <p:nvSpPr>
          <p:cNvPr id="64" name="Rectangle 8"/>
          <p:cNvSpPr/>
          <p:nvPr/>
        </p:nvSpPr>
        <p:spPr>
          <a:xfrm>
            <a:off x="0" y="4334715"/>
            <a:ext cx="4947713" cy="87083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20000"/>
              </a:lnSpc>
              <a:buFont typeface="Arial" panose="020B0604020202020204" pitchFamily="34" charset="0"/>
              <a:buChar char="•"/>
            </a:pPr>
            <a:r>
              <a:rPr lang="en-US" altLang="zh-CN" sz="1400" dirty="0" smtClean="0">
                <a:latin typeface="Calibri" panose="020F0502020204030204" pitchFamily="34" charset="0"/>
                <a:cs typeface="Calibri" panose="020F0502020204030204" pitchFamily="34" charset="0"/>
              </a:rPr>
              <a:t>Citrix </a:t>
            </a:r>
            <a:r>
              <a:rPr lang="en-US" altLang="zh-CN" sz="1400" dirty="0">
                <a:latin typeface="Calibri" panose="020F0502020204030204" pitchFamily="34" charset="0"/>
                <a:cs typeface="Calibri" panose="020F0502020204030204" pitchFamily="34" charset="0"/>
              </a:rPr>
              <a:t>– Technology Partner &amp; Citrix </a:t>
            </a:r>
            <a:r>
              <a:rPr lang="en-US" altLang="zh-CN" sz="1400" dirty="0" smtClean="0">
                <a:latin typeface="Calibri" panose="020F0502020204030204" pitchFamily="34" charset="0"/>
                <a:cs typeface="Calibri" panose="020F0502020204030204" pitchFamily="34" charset="0"/>
              </a:rPr>
              <a:t>Ready</a:t>
            </a:r>
            <a:endParaRPr lang="en-US" altLang="zh-CN" sz="1400" dirty="0">
              <a:latin typeface="Calibri" panose="020F0502020204030204" pitchFamily="34" charset="0"/>
              <a:cs typeface="Calibri" panose="020F0502020204030204" pitchFamily="34" charset="0"/>
            </a:endParaRPr>
          </a:p>
        </p:txBody>
      </p:sp>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281023"/>
            <a:ext cx="2115697" cy="1576977"/>
          </a:xfrm>
          <a:prstGeom prst="rect">
            <a:avLst/>
          </a:prstGeom>
        </p:spPr>
      </p:pic>
      <p:pic>
        <p:nvPicPr>
          <p:cNvPr id="14" name="图片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84715" y="4898571"/>
            <a:ext cx="2707285" cy="1959429"/>
          </a:xfrm>
          <a:prstGeom prst="rect">
            <a:avLst/>
          </a:prstGeom>
        </p:spPr>
      </p:pic>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78809" y="1889376"/>
            <a:ext cx="2713191" cy="1252241"/>
          </a:xfrm>
          <a:prstGeom prst="rect">
            <a:avLst/>
          </a:prstGeom>
        </p:spPr>
      </p:pic>
      <p:pic>
        <p:nvPicPr>
          <p:cNvPr id="17" name="图片 16"/>
          <p:cNvPicPr>
            <a:picLocks noChangeAspect="1"/>
          </p:cNvPicPr>
          <p:nvPr/>
        </p:nvPicPr>
        <p:blipFill>
          <a:blip r:embed="rId7"/>
          <a:stretch>
            <a:fillRect/>
          </a:stretch>
        </p:blipFill>
        <p:spPr>
          <a:xfrm>
            <a:off x="7286076" y="1095"/>
            <a:ext cx="2077795" cy="1540322"/>
          </a:xfrm>
          <a:prstGeom prst="rect">
            <a:avLst/>
          </a:prstGeom>
        </p:spPr>
      </p:pic>
      <p:pic>
        <p:nvPicPr>
          <p:cNvPr id="19" name="图片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42682" y="5493177"/>
            <a:ext cx="3058102" cy="1374824"/>
          </a:xfrm>
          <a:prstGeom prst="rect">
            <a:avLst/>
          </a:prstGeom>
        </p:spPr>
      </p:pic>
      <p:pic>
        <p:nvPicPr>
          <p:cNvPr id="20" name="图片 1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09619" y="3001395"/>
            <a:ext cx="1938094" cy="1252185"/>
          </a:xfrm>
          <a:prstGeom prst="rect">
            <a:avLst/>
          </a:prstGeom>
        </p:spPr>
      </p:pic>
      <p:pic>
        <p:nvPicPr>
          <p:cNvPr id="21" name="图片 20"/>
          <p:cNvPicPr>
            <a:picLocks noChangeAspect="1"/>
          </p:cNvPicPr>
          <p:nvPr/>
        </p:nvPicPr>
        <p:blipFill>
          <a:blip r:embed="rId10"/>
          <a:stretch>
            <a:fillRect/>
          </a:stretch>
        </p:blipFill>
        <p:spPr>
          <a:xfrm>
            <a:off x="0" y="3001941"/>
            <a:ext cx="2914650" cy="1257300"/>
          </a:xfrm>
          <a:prstGeom prst="rect">
            <a:avLst/>
          </a:prstGeom>
        </p:spPr>
      </p:pic>
      <p:sp>
        <p:nvSpPr>
          <p:cNvPr id="30" name="Rectangle 8"/>
          <p:cNvSpPr/>
          <p:nvPr/>
        </p:nvSpPr>
        <p:spPr>
          <a:xfrm>
            <a:off x="9473252" y="0"/>
            <a:ext cx="2718748" cy="1804222"/>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20000"/>
              </a:lnSpc>
              <a:buFont typeface="Arial" panose="020B0604020202020204" pitchFamily="34" charset="0"/>
              <a:buChar char="•"/>
            </a:pPr>
            <a:r>
              <a:rPr lang="en-US" altLang="zh-CN" sz="1200" dirty="0">
                <a:latin typeface="Calibri" panose="020F0502020204030204" pitchFamily="34" charset="0"/>
                <a:cs typeface="Calibri" panose="020F0502020204030204" pitchFamily="34" charset="0"/>
              </a:rPr>
              <a:t>Oracle Partner Network – Sole Chinese backup vendor listed in Oracle Linux and Virtualization ISV </a:t>
            </a:r>
          </a:p>
        </p:txBody>
      </p:sp>
      <p:pic>
        <p:nvPicPr>
          <p:cNvPr id="23" name="图片 2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0"/>
            <a:ext cx="3598818" cy="1310132"/>
          </a:xfrm>
          <a:prstGeom prst="rect">
            <a:avLst/>
          </a:prstGeom>
        </p:spPr>
      </p:pic>
      <p:sp>
        <p:nvSpPr>
          <p:cNvPr id="32" name="Rectangle 8"/>
          <p:cNvSpPr/>
          <p:nvPr/>
        </p:nvSpPr>
        <p:spPr>
          <a:xfrm>
            <a:off x="1" y="1406918"/>
            <a:ext cx="3598817" cy="1513342"/>
          </a:xfrm>
          <a:prstGeom prst="rect">
            <a:avLst/>
          </a:prstGeom>
          <a:solidFill>
            <a:srgbClr val="4AD1C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20000"/>
              </a:lnSpc>
              <a:buFont typeface="Arial" panose="020B0604020202020204" pitchFamily="34" charset="0"/>
              <a:buChar char="•"/>
            </a:pPr>
            <a:r>
              <a:rPr lang="en-US" altLang="zh-CN" dirty="0">
                <a:latin typeface="Calibri" panose="020F0502020204030204" pitchFamily="34" charset="0"/>
                <a:cs typeface="Calibri" panose="020F0502020204030204" pitchFamily="34" charset="0"/>
              </a:rPr>
              <a:t>VMware – Technology Partner &amp; VMware Ready</a:t>
            </a:r>
          </a:p>
        </p:txBody>
      </p:sp>
      <p:sp>
        <p:nvSpPr>
          <p:cNvPr id="33" name="Rectangle 7"/>
          <p:cNvSpPr/>
          <p:nvPr/>
        </p:nvSpPr>
        <p:spPr>
          <a:xfrm>
            <a:off x="7286076" y="1656985"/>
            <a:ext cx="2077795" cy="1259256"/>
          </a:xfrm>
          <a:prstGeom prst="rect">
            <a:avLst/>
          </a:prstGeom>
          <a:solidFill>
            <a:srgbClr val="4AD1C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50000"/>
              </a:lnSpc>
              <a:buFont typeface="Arial" panose="020B0604020202020204" pitchFamily="34" charset="0"/>
              <a:buChar char="•"/>
            </a:pPr>
            <a:r>
              <a:rPr lang="en-US" altLang="zh-CN" sz="1400" dirty="0" smtClean="0">
                <a:latin typeface="Calibri" panose="020F0502020204030204" pitchFamily="34" charset="0"/>
                <a:cs typeface="Calibri" panose="020F0502020204030204" pitchFamily="34" charset="0"/>
              </a:rPr>
              <a:t>Red </a:t>
            </a:r>
            <a:r>
              <a:rPr lang="en-US" altLang="zh-CN" sz="1400" dirty="0">
                <a:latin typeface="Calibri" panose="020F0502020204030204" pitchFamily="34" charset="0"/>
                <a:cs typeface="Calibri" panose="020F0502020204030204" pitchFamily="34" charset="0"/>
              </a:rPr>
              <a:t>Hat </a:t>
            </a:r>
            <a:r>
              <a:rPr lang="en-US" altLang="zh-CN" sz="1400" dirty="0" smtClean="0">
                <a:latin typeface="Calibri" panose="020F0502020204030204" pitchFamily="34" charset="0"/>
                <a:cs typeface="Calibri" panose="020F0502020204030204" pitchFamily="34" charset="0"/>
              </a:rPr>
              <a:t>Technology </a:t>
            </a:r>
            <a:r>
              <a:rPr lang="en-US" altLang="zh-CN" sz="1400" dirty="0">
                <a:latin typeface="Calibri" panose="020F0502020204030204" pitchFamily="34" charset="0"/>
                <a:cs typeface="Calibri" panose="020F0502020204030204" pitchFamily="34" charset="0"/>
              </a:rPr>
              <a:t>Partner &amp; Certified </a:t>
            </a:r>
            <a:r>
              <a:rPr lang="en-US" altLang="zh-CN" sz="1400" dirty="0" smtClean="0">
                <a:latin typeface="Calibri" panose="020F0502020204030204" pitchFamily="34" charset="0"/>
                <a:cs typeface="Calibri" panose="020F0502020204030204" pitchFamily="34" charset="0"/>
              </a:rPr>
              <a:t>Technology</a:t>
            </a:r>
            <a:endParaRPr lang="en-US" altLang="zh-CN" sz="1400" dirty="0">
              <a:latin typeface="Calibri" panose="020F0502020204030204" pitchFamily="34" charset="0"/>
              <a:cs typeface="Calibri" panose="020F0502020204030204" pitchFamily="34" charset="0"/>
            </a:endParaRPr>
          </a:p>
        </p:txBody>
      </p:sp>
      <p:sp>
        <p:nvSpPr>
          <p:cNvPr id="34" name="Rectangle 8"/>
          <p:cNvSpPr/>
          <p:nvPr/>
        </p:nvSpPr>
        <p:spPr>
          <a:xfrm>
            <a:off x="3708199" y="2441569"/>
            <a:ext cx="3462939" cy="474671"/>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285750" indent="-285750">
              <a:lnSpc>
                <a:spcPct val="150000"/>
              </a:lnSpc>
              <a:buFont typeface="Arial" panose="020B0604020202020204" pitchFamily="34" charset="0"/>
              <a:buChar char="•"/>
            </a:pPr>
            <a:r>
              <a:rPr lang="en-US" altLang="zh-CN" sz="1050" dirty="0" smtClean="0">
                <a:latin typeface="Calibri" panose="020F0502020204030204" pitchFamily="34" charset="0"/>
                <a:cs typeface="Calibri" panose="020F0502020204030204" pitchFamily="34" charset="0"/>
              </a:rPr>
              <a:t>Sole Eco-System partner </a:t>
            </a:r>
            <a:r>
              <a:rPr lang="en-US" altLang="zh-CN" sz="1050" dirty="0">
                <a:latin typeface="Calibri" panose="020F0502020204030204" pitchFamily="34" charset="0"/>
                <a:cs typeface="Calibri" panose="020F0502020204030204" pitchFamily="34" charset="0"/>
              </a:rPr>
              <a:t>in China for XCP-ng </a:t>
            </a:r>
            <a:r>
              <a:rPr lang="en-US" altLang="zh-CN" sz="1050" dirty="0" smtClean="0">
                <a:latin typeface="Calibri" panose="020F0502020204030204" pitchFamily="34" charset="0"/>
                <a:cs typeface="Calibri" panose="020F0502020204030204" pitchFamily="34" charset="0"/>
              </a:rPr>
              <a:t>backup</a:t>
            </a:r>
            <a:endParaRPr lang="en-US" altLang="zh-CN" sz="1050" dirty="0">
              <a:latin typeface="Calibri" panose="020F0502020204030204" pitchFamily="34" charset="0"/>
              <a:cs typeface="Calibri" panose="020F0502020204030204" pitchFamily="34" charset="0"/>
            </a:endParaRPr>
          </a:p>
        </p:txBody>
      </p:sp>
      <p:sp>
        <p:nvSpPr>
          <p:cNvPr id="35" name="Rectangle 8"/>
          <p:cNvSpPr/>
          <p:nvPr/>
        </p:nvSpPr>
        <p:spPr>
          <a:xfrm>
            <a:off x="9488500" y="3226771"/>
            <a:ext cx="2718748" cy="1578846"/>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50000"/>
              </a:lnSpc>
              <a:buFont typeface="Arial" panose="020B0604020202020204" pitchFamily="34" charset="0"/>
              <a:buChar char="•"/>
            </a:pPr>
            <a:r>
              <a:rPr lang="en-US" altLang="zh-CN" sz="1200" dirty="0">
                <a:latin typeface="Calibri" panose="020F0502020204030204" pitchFamily="34" charset="0"/>
                <a:cs typeface="Calibri" panose="020F0502020204030204" pitchFamily="34" charset="0"/>
              </a:rPr>
              <a:t>OpenStack – The only Chinese backup vendor in OpenStack Support Organization</a:t>
            </a:r>
          </a:p>
        </p:txBody>
      </p:sp>
      <p:sp>
        <p:nvSpPr>
          <p:cNvPr id="36" name="Rectangle 8"/>
          <p:cNvSpPr/>
          <p:nvPr/>
        </p:nvSpPr>
        <p:spPr>
          <a:xfrm>
            <a:off x="8195754" y="5493177"/>
            <a:ext cx="1168118" cy="1364822"/>
          </a:xfrm>
          <a:prstGeom prst="rect">
            <a:avLst/>
          </a:prstGeom>
          <a:solidFill>
            <a:srgbClr val="4AD1C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171450" indent="-171450">
              <a:lnSpc>
                <a:spcPct val="150000"/>
              </a:lnSpc>
              <a:buFont typeface="Arial" panose="020B0604020202020204" pitchFamily="34" charset="0"/>
              <a:buChar char="•"/>
            </a:pPr>
            <a:r>
              <a:rPr lang="en-US" altLang="zh-CN" sz="1100" dirty="0" err="1" smtClean="0">
                <a:latin typeface="Calibri" panose="020F0502020204030204" pitchFamily="34" charset="0"/>
                <a:cs typeface="Calibri" panose="020F0502020204030204" pitchFamily="34" charset="0"/>
              </a:rPr>
              <a:t>Sangfor</a:t>
            </a:r>
            <a:r>
              <a:rPr lang="en-US" altLang="zh-CN" sz="1100" dirty="0" smtClean="0">
                <a:latin typeface="Calibri" panose="020F0502020204030204" pitchFamily="34" charset="0"/>
                <a:cs typeface="Calibri" panose="020F0502020204030204" pitchFamily="34" charset="0"/>
              </a:rPr>
              <a:t> HCI Compatibility Certificate</a:t>
            </a:r>
            <a:endParaRPr lang="en-US" altLang="zh-CN" sz="1100" dirty="0">
              <a:latin typeface="Calibri" panose="020F0502020204030204" pitchFamily="34" charset="0"/>
              <a:cs typeface="Calibri" panose="020F0502020204030204" pitchFamily="34" charset="0"/>
            </a:endParaRPr>
          </a:p>
        </p:txBody>
      </p:sp>
      <p:sp>
        <p:nvSpPr>
          <p:cNvPr id="37" name="Rectangle 8"/>
          <p:cNvSpPr/>
          <p:nvPr/>
        </p:nvSpPr>
        <p:spPr>
          <a:xfrm>
            <a:off x="2210666" y="5281024"/>
            <a:ext cx="2737046" cy="1576976"/>
          </a:xfrm>
          <a:prstGeom prst="rect">
            <a:avLst/>
          </a:prstGeom>
          <a:solidFill>
            <a:srgbClr val="4AD1C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marL="285750" indent="-285750">
              <a:lnSpc>
                <a:spcPct val="120000"/>
              </a:lnSpc>
              <a:buFont typeface="Arial" panose="020B0604020202020204" pitchFamily="34" charset="0"/>
              <a:buChar char="•"/>
            </a:pPr>
            <a:r>
              <a:rPr lang="en-US" altLang="zh-CN" sz="1400" b="1" dirty="0" smtClean="0">
                <a:solidFill>
                  <a:srgbClr val="FFFFFF"/>
                </a:solidFill>
                <a:latin typeface="Calibri" panose="020F0502020204030204" pitchFamily="34" charset="0"/>
                <a:cs typeface="Calibri" panose="020F0502020204030204" pitchFamily="34" charset="0"/>
              </a:rPr>
              <a:t>Huawei </a:t>
            </a:r>
            <a:r>
              <a:rPr lang="en-US" altLang="zh-CN" sz="1400" b="1" dirty="0" err="1" smtClean="0">
                <a:solidFill>
                  <a:srgbClr val="FFFFFF"/>
                </a:solidFill>
                <a:latin typeface="Calibri" panose="020F0502020204030204" pitchFamily="34" charset="0"/>
                <a:cs typeface="Calibri" panose="020F0502020204030204" pitchFamily="34" charset="0"/>
              </a:rPr>
              <a:t>KunPeng</a:t>
            </a:r>
            <a:r>
              <a:rPr lang="en-US" altLang="zh-CN" sz="1400" b="1" dirty="0" smtClean="0">
                <a:solidFill>
                  <a:srgbClr val="FFFFFF"/>
                </a:solidFill>
                <a:latin typeface="Calibri" panose="020F0502020204030204" pitchFamily="34" charset="0"/>
                <a:cs typeface="Calibri" panose="020F0502020204030204" pitchFamily="34" charset="0"/>
              </a:rPr>
              <a:t> Project Partner</a:t>
            </a:r>
            <a:endParaRPr lang="zh-CN" altLang="en-US" sz="1400" b="1" dirty="0">
              <a:solidFill>
                <a:srgbClr val="FFFFFF"/>
              </a:solidFill>
              <a:latin typeface="Calibri" panose="020F0502020204030204" pitchFamily="34" charset="0"/>
              <a:cs typeface="Calibri" panose="020F0502020204030204" pitchFamily="34" charset="0"/>
            </a:endParaRPr>
          </a:p>
        </p:txBody>
      </p:sp>
      <p:pic>
        <p:nvPicPr>
          <p:cNvPr id="4" name="图片 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708198" y="1185269"/>
            <a:ext cx="3462940" cy="11711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3"/>
          <a:srcRect/>
          <a:stretch>
            <a:fillRect/>
          </a:stretch>
        </p:blipFill>
        <p:spPr/>
      </p:pic>
      <p:sp>
        <p:nvSpPr>
          <p:cNvPr id="20" name="矩形 19"/>
          <p:cNvSpPr/>
          <p:nvPr/>
        </p:nvSpPr>
        <p:spPr>
          <a:xfrm>
            <a:off x="-2872" y="0"/>
            <a:ext cx="12192000" cy="6858000"/>
          </a:xfrm>
          <a:prstGeom prst="rect">
            <a:avLst/>
          </a:prstGeom>
          <a:solidFill>
            <a:schemeClr val="accent6">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p:nvSpPr>
        <p:spPr>
          <a:xfrm>
            <a:off x="438150" y="0"/>
            <a:ext cx="1257300" cy="1050167"/>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0" y="0"/>
            <a:ext cx="3786028" cy="3162300"/>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 y="2343150"/>
            <a:ext cx="3702179" cy="4514850"/>
          </a:xfrm>
          <a:custGeom>
            <a:avLst/>
            <a:gdLst>
              <a:gd name="connsiteX0" fmla="*/ 1625728 w 3702179"/>
              <a:gd name="connsiteY0" fmla="*/ 0 h 4514850"/>
              <a:gd name="connsiteX1" fmla="*/ 3702179 w 3702179"/>
              <a:gd name="connsiteY1" fmla="*/ 0 h 4514850"/>
              <a:gd name="connsiteX2" fmla="*/ 1534011 w 3702179"/>
              <a:gd name="connsiteY2" fmla="*/ 4514850 h 4514850"/>
              <a:gd name="connsiteX3" fmla="*/ 0 w 3702179"/>
              <a:gd name="connsiteY3" fmla="*/ 4514850 h 4514850"/>
              <a:gd name="connsiteX4" fmla="*/ 0 w 3702179"/>
              <a:gd name="connsiteY4" fmla="*/ 3385309 h 4514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2179" h="4514850">
                <a:moveTo>
                  <a:pt x="1625728" y="0"/>
                </a:moveTo>
                <a:lnTo>
                  <a:pt x="3702179" y="0"/>
                </a:lnTo>
                <a:lnTo>
                  <a:pt x="1534011" y="4514850"/>
                </a:lnTo>
                <a:lnTo>
                  <a:pt x="0" y="4514850"/>
                </a:lnTo>
                <a:lnTo>
                  <a:pt x="0" y="3385309"/>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任意多边形: 形状 17"/>
          <p:cNvSpPr/>
          <p:nvPr/>
        </p:nvSpPr>
        <p:spPr>
          <a:xfrm>
            <a:off x="11452929" y="5319006"/>
            <a:ext cx="739072" cy="1538994"/>
          </a:xfrm>
          <a:custGeom>
            <a:avLst/>
            <a:gdLst>
              <a:gd name="connsiteX0" fmla="*/ 739072 w 739072"/>
              <a:gd name="connsiteY0" fmla="*/ 0 h 1538994"/>
              <a:gd name="connsiteX1" fmla="*/ 739072 w 739072"/>
              <a:gd name="connsiteY1" fmla="*/ 1538994 h 1538994"/>
              <a:gd name="connsiteX2" fmla="*/ 0 w 739072"/>
              <a:gd name="connsiteY2" fmla="*/ 1538994 h 1538994"/>
            </a:gdLst>
            <a:ahLst/>
            <a:cxnLst>
              <a:cxn ang="0">
                <a:pos x="connsiteX0" y="connsiteY0"/>
              </a:cxn>
              <a:cxn ang="0">
                <a:pos x="connsiteX1" y="connsiteY1"/>
              </a:cxn>
              <a:cxn ang="0">
                <a:pos x="connsiteX2" y="connsiteY2"/>
              </a:cxn>
            </a:cxnLst>
            <a:rect l="l" t="t" r="r" b="b"/>
            <a:pathLst>
              <a:path w="739072" h="1538994">
                <a:moveTo>
                  <a:pt x="739072" y="0"/>
                </a:moveTo>
                <a:lnTo>
                  <a:pt x="739072" y="1538994"/>
                </a:lnTo>
                <a:lnTo>
                  <a:pt x="0" y="1538994"/>
                </a:lnTo>
                <a:close/>
              </a:path>
            </a:pathLst>
          </a:custGeom>
          <a:solidFill>
            <a:srgbClr val="31929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任意多边形: 形状 12"/>
          <p:cNvSpPr/>
          <p:nvPr/>
        </p:nvSpPr>
        <p:spPr>
          <a:xfrm>
            <a:off x="11182350" y="6221536"/>
            <a:ext cx="762000" cy="636464"/>
          </a:xfrm>
          <a:custGeom>
            <a:avLst/>
            <a:gdLst>
              <a:gd name="connsiteX0" fmla="*/ 1518632 w 3786028"/>
              <a:gd name="connsiteY0" fmla="*/ 0 h 3162300"/>
              <a:gd name="connsiteX1" fmla="*/ 3786028 w 3786028"/>
              <a:gd name="connsiteY1" fmla="*/ 0 h 3162300"/>
              <a:gd name="connsiteX2" fmla="*/ 2267396 w 3786028"/>
              <a:gd name="connsiteY2" fmla="*/ 3162300 h 3162300"/>
              <a:gd name="connsiteX3" fmla="*/ 0 w 3786028"/>
              <a:gd name="connsiteY3" fmla="*/ 3162300 h 3162300"/>
            </a:gdLst>
            <a:ahLst/>
            <a:cxnLst>
              <a:cxn ang="0">
                <a:pos x="connsiteX0" y="connsiteY0"/>
              </a:cxn>
              <a:cxn ang="0">
                <a:pos x="connsiteX1" y="connsiteY1"/>
              </a:cxn>
              <a:cxn ang="0">
                <a:pos x="connsiteX2" y="connsiteY2"/>
              </a:cxn>
              <a:cxn ang="0">
                <a:pos x="connsiteX3" y="connsiteY3"/>
              </a:cxn>
            </a:cxnLst>
            <a:rect l="l" t="t" r="r" b="b"/>
            <a:pathLst>
              <a:path w="3786028" h="3162300">
                <a:moveTo>
                  <a:pt x="1518632" y="0"/>
                </a:moveTo>
                <a:lnTo>
                  <a:pt x="3786028" y="0"/>
                </a:lnTo>
                <a:lnTo>
                  <a:pt x="2267396" y="3162300"/>
                </a:lnTo>
                <a:lnTo>
                  <a:pt x="0" y="3162300"/>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61485" y="1402140"/>
            <a:ext cx="1553630" cy="1569660"/>
          </a:xfrm>
          <a:prstGeom prst="rect">
            <a:avLst/>
          </a:prstGeom>
          <a:noFill/>
        </p:spPr>
        <p:txBody>
          <a:bodyPr wrap="none" rtlCol="0">
            <a:spAutoFit/>
            <a:scene3d>
              <a:camera prst="orthographicFront"/>
              <a:lightRig rig="threePt" dir="t"/>
            </a:scene3d>
            <a:sp3d contourW="12700"/>
          </a:bodyPr>
          <a:lstStyle/>
          <a:p>
            <a:r>
              <a:rPr lang="en-US" altLang="zh-CN" sz="9600" b="1" i="1" dirty="0" smtClean="0">
                <a:solidFill>
                  <a:schemeClr val="bg1"/>
                </a:solidFill>
              </a:rPr>
              <a:t>04</a:t>
            </a:r>
            <a:endParaRPr lang="zh-CN" altLang="en-US" sz="9600" b="1" i="1" dirty="0">
              <a:solidFill>
                <a:schemeClr val="bg1"/>
              </a:solidFill>
            </a:endParaRPr>
          </a:p>
        </p:txBody>
      </p:sp>
      <p:sp>
        <p:nvSpPr>
          <p:cNvPr id="24" name="文本框 23"/>
          <p:cNvSpPr txBox="1"/>
          <p:nvPr/>
        </p:nvSpPr>
        <p:spPr>
          <a:xfrm>
            <a:off x="4263428" y="2724834"/>
            <a:ext cx="5042214" cy="769441"/>
          </a:xfrm>
          <a:prstGeom prst="rect">
            <a:avLst/>
          </a:prstGeom>
          <a:noFill/>
        </p:spPr>
        <p:txBody>
          <a:bodyPr wrap="none" rtlCol="0">
            <a:spAutoFit/>
            <a:scene3d>
              <a:camera prst="orthographicFront"/>
              <a:lightRig rig="threePt" dir="t"/>
            </a:scene3d>
            <a:sp3d contourW="12700"/>
          </a:bodyPr>
          <a:lstStyle/>
          <a:p>
            <a:r>
              <a:rPr lang="en-US" altLang="zh-CN" sz="4400" b="1" dirty="0" smtClean="0">
                <a:solidFill>
                  <a:schemeClr val="bg1"/>
                </a:solidFill>
                <a:latin typeface="+mn-ea"/>
              </a:rPr>
              <a:t>Customer Stories</a:t>
            </a:r>
            <a:endParaRPr lang="zh-CN" altLang="en-US" sz="4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p:cNvSpPr/>
          <p:nvPr/>
        </p:nvSpPr>
        <p:spPr>
          <a:xfrm>
            <a:off x="2546594" y="1871568"/>
            <a:ext cx="5785329" cy="2507786"/>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nSpc>
                <a:spcPct val="150000"/>
              </a:lnSpc>
            </a:pPr>
            <a:endParaRPr lang="en-US" altLang="zh-CN" sz="1200" dirty="0" smtClean="0"/>
          </a:p>
        </p:txBody>
      </p:sp>
      <p:grpSp>
        <p:nvGrpSpPr>
          <p:cNvPr id="3" name="373e2bc7-3c29-4e26-a9ad-6ab434ba18b6"/>
          <p:cNvGrpSpPr>
            <a:grpSpLocks noChangeAspect="1"/>
          </p:cNvGrpSpPr>
          <p:nvPr/>
        </p:nvGrpSpPr>
        <p:grpSpPr>
          <a:xfrm>
            <a:off x="-388506" y="1748881"/>
            <a:ext cx="8703678" cy="4956490"/>
            <a:chOff x="316863" y="2389842"/>
            <a:chExt cx="8703678" cy="4956490"/>
          </a:xfrm>
        </p:grpSpPr>
        <p:grpSp>
          <p:nvGrpSpPr>
            <p:cNvPr id="5" name="Group 7"/>
            <p:cNvGrpSpPr/>
            <p:nvPr/>
          </p:nvGrpSpPr>
          <p:grpSpPr>
            <a:xfrm>
              <a:off x="3170523" y="2389842"/>
              <a:ext cx="5850018" cy="3043394"/>
              <a:chOff x="4886324" y="2414406"/>
              <a:chExt cx="7305675" cy="1360668"/>
            </a:xfrm>
          </p:grpSpPr>
          <p:sp>
            <p:nvSpPr>
              <p:cNvPr id="6" name="Rectangle 8"/>
              <p:cNvSpPr/>
              <p:nvPr/>
            </p:nvSpPr>
            <p:spPr>
              <a:xfrm>
                <a:off x="4886324" y="2414406"/>
                <a:ext cx="7305675" cy="678061"/>
              </a:xfrm>
              <a:prstGeom prst="rect">
                <a:avLst/>
              </a:prstGeom>
            </p:spPr>
            <p:txBody>
              <a:bodyPr wrap="none" anchor="b" anchorCtr="0">
                <a:normAutofit/>
              </a:bodyPr>
              <a:lstStyle/>
              <a:p>
                <a:pPr algn="ctr"/>
                <a:endParaRPr lang="zh-CN" altLang="en-US" b="1" dirty="0">
                  <a:solidFill>
                    <a:schemeClr val="bg1">
                      <a:lumMod val="100000"/>
                    </a:schemeClr>
                  </a:solidFill>
                </a:endParaRPr>
              </a:p>
            </p:txBody>
          </p:sp>
          <p:sp>
            <p:nvSpPr>
              <p:cNvPr id="7" name="Rectangle 9"/>
              <p:cNvSpPr/>
              <p:nvPr/>
            </p:nvSpPr>
            <p:spPr>
              <a:xfrm>
                <a:off x="4886324" y="3097013"/>
                <a:ext cx="7305675" cy="678061"/>
              </a:xfrm>
              <a:prstGeom prst="rect">
                <a:avLst/>
              </a:prstGeom>
            </p:spPr>
            <p:txBody>
              <a:bodyPr wrap="square" anchor="t" anchorCtr="0">
                <a:noAutofit/>
              </a:bodyPr>
              <a:lstStyle/>
              <a:p>
                <a:pPr algn="ctr">
                  <a:lnSpc>
                    <a:spcPct val="120000"/>
                  </a:lnSpc>
                </a:pPr>
                <a:endParaRPr lang="zh-CN" altLang="en-US" sz="1400" dirty="0">
                  <a:solidFill>
                    <a:schemeClr val="bg1">
                      <a:lumMod val="100000"/>
                    </a:schemeClr>
                  </a:solidFill>
                </a:endParaRPr>
              </a:p>
            </p:txBody>
          </p:sp>
        </p:grpSp>
        <p:sp>
          <p:nvSpPr>
            <p:cNvPr id="9" name="Freeform: Shape 6"/>
            <p:cNvSpPr/>
            <p:nvPr/>
          </p:nvSpPr>
          <p:spPr bwMode="auto">
            <a:xfrm>
              <a:off x="316863" y="6569320"/>
              <a:ext cx="777012" cy="777012"/>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algn="ctr"/>
              <a:endParaRPr/>
            </a:p>
          </p:txBody>
        </p:sp>
      </p:grpSp>
      <p:grpSp>
        <p:nvGrpSpPr>
          <p:cNvPr id="12" name="组合 11"/>
          <p:cNvGrpSpPr/>
          <p:nvPr/>
        </p:nvGrpSpPr>
        <p:grpSpPr>
          <a:xfrm>
            <a:off x="848848" y="255002"/>
            <a:ext cx="5635658" cy="713636"/>
            <a:chOff x="1561776" y="234890"/>
            <a:chExt cx="3482400" cy="713636"/>
          </a:xfrm>
        </p:grpSpPr>
        <p:sp>
          <p:nvSpPr>
            <p:cNvPr id="13" name="文本框 12"/>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Customer Stories</a:t>
              </a:r>
              <a:endParaRPr lang="zh-CN" altLang="en-US" sz="2800" b="1" dirty="0">
                <a:solidFill>
                  <a:schemeClr val="accent2"/>
                </a:solidFill>
                <a:latin typeface="+mn-ea"/>
              </a:endParaRPr>
            </a:p>
          </p:txBody>
        </p:sp>
        <p:sp>
          <p:nvSpPr>
            <p:cNvPr id="14" name="文本框 13"/>
            <p:cNvSpPr txBox="1"/>
            <p:nvPr/>
          </p:nvSpPr>
          <p:spPr>
            <a:xfrm>
              <a:off x="1561776" y="694610"/>
              <a:ext cx="3482400" cy="253916"/>
            </a:xfrm>
            <a:prstGeom prst="rect">
              <a:avLst/>
            </a:prstGeom>
            <a:noFill/>
          </p:spPr>
          <p:txBody>
            <a:bodyPr wrap="square" rtlCol="0">
              <a:spAutoFit/>
              <a:scene3d>
                <a:camera prst="orthographicFront"/>
                <a:lightRig rig="threePt" dir="t"/>
              </a:scene3d>
              <a:sp3d contourW="12700"/>
            </a:bodyPr>
            <a:lstStyle/>
            <a:p>
              <a:r>
                <a:rPr lang="en-US" altLang="zh-CN" sz="1050" dirty="0" smtClean="0">
                  <a:solidFill>
                    <a:schemeClr val="bg1">
                      <a:lumMod val="65000"/>
                    </a:schemeClr>
                  </a:solidFill>
                  <a:latin typeface="+mj-lt"/>
                </a:rPr>
                <a:t>WE VALUE THE PARTNERSHIP WITH OUR CUSTOMERS</a:t>
              </a:r>
              <a:endParaRPr lang="en-US" altLang="zh-CN" sz="1050" dirty="0">
                <a:solidFill>
                  <a:schemeClr val="bg1">
                    <a:lumMod val="65000"/>
                  </a:schemeClr>
                </a:solidFill>
                <a:latin typeface="+mj-lt"/>
              </a:endParaRPr>
            </a:p>
          </p:txBody>
        </p:sp>
      </p:grpSp>
      <p:sp>
        <p:nvSpPr>
          <p:cNvPr id="15" name="任意多边形: 形状 14"/>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ectangle 7"/>
          <p:cNvSpPr/>
          <p:nvPr/>
        </p:nvSpPr>
        <p:spPr>
          <a:xfrm>
            <a:off x="8386355" y="3978120"/>
            <a:ext cx="3805646" cy="1802831"/>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lnSpc>
                <a:spcPct val="150000"/>
              </a:lnSpc>
            </a:pPr>
            <a:endParaRPr lang="en-US" altLang="zh-CN" sz="1400" dirty="0" smtClean="0"/>
          </a:p>
        </p:txBody>
      </p:sp>
      <p:sp>
        <p:nvSpPr>
          <p:cNvPr id="36" name="矩形 35"/>
          <p:cNvSpPr/>
          <p:nvPr/>
        </p:nvSpPr>
        <p:spPr>
          <a:xfrm>
            <a:off x="8396611" y="4086644"/>
            <a:ext cx="3795388" cy="1546577"/>
          </a:xfrm>
          <a:prstGeom prst="rect">
            <a:avLst/>
          </a:prstGeom>
        </p:spPr>
        <p:txBody>
          <a:bodyPr wrap="square">
            <a:spAutoFit/>
          </a:bodyPr>
          <a:lstStyle/>
          <a:p>
            <a:pPr>
              <a:spcAft>
                <a:spcPts val="0"/>
              </a:spcAft>
            </a:pP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Chengdu is the capital of Sichuan province, with a built-up area of 949.6 square kilometers and a permanent resident population of 16.581 </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million. </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It is an important central city in western China and has been known as the "land of abundance" since ancient times</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a:t>
            </a:r>
          </a:p>
          <a:p>
            <a:pPr>
              <a:spcAft>
                <a:spcPts val="0"/>
              </a:spcAft>
            </a:pP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Chengdu municipal government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Openstack</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cloud platform was established and operated in 2010, providing flexible, reliable, secure information infrastructure services including virtual machines, storage, and network for the municipal government departments.</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a:t>
            </a:r>
            <a:endParaRPr lang="zh-CN"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endParaRPr>
          </a:p>
        </p:txBody>
      </p:sp>
      <p:pic>
        <p:nvPicPr>
          <p:cNvPr id="38" name="图片 37"/>
          <p:cNvPicPr>
            <a:picLocks noChangeAspect="1"/>
          </p:cNvPicPr>
          <p:nvPr/>
        </p:nvPicPr>
        <p:blipFill>
          <a:blip r:embed="rId3"/>
          <a:stretch>
            <a:fillRect/>
          </a:stretch>
        </p:blipFill>
        <p:spPr>
          <a:xfrm>
            <a:off x="3165919" y="1979978"/>
            <a:ext cx="221173" cy="257039"/>
          </a:xfrm>
          <a:prstGeom prst="rect">
            <a:avLst/>
          </a:prstGeom>
        </p:spPr>
      </p:pic>
      <p:sp>
        <p:nvSpPr>
          <p:cNvPr id="40" name="矩形 39"/>
          <p:cNvSpPr/>
          <p:nvPr/>
        </p:nvSpPr>
        <p:spPr>
          <a:xfrm>
            <a:off x="3086647" y="2191634"/>
            <a:ext cx="4740397" cy="1477328"/>
          </a:xfrm>
          <a:prstGeom prst="rect">
            <a:avLst/>
          </a:prstGeom>
        </p:spPr>
        <p:txBody>
          <a:bodyPr wrap="square">
            <a:spAutoFit/>
          </a:bodyPr>
          <a:lstStyle/>
          <a:p>
            <a:pPr>
              <a:lnSpc>
                <a:spcPct val="150000"/>
              </a:lnSpc>
            </a:pPr>
            <a:r>
              <a:rPr lang="en-US" altLang="zh-CN" sz="1200" dirty="0" smtClean="0">
                <a:solidFill>
                  <a:schemeClr val="bg1"/>
                </a:solidFill>
                <a:latin typeface="Calibri" panose="020F0502020204030204" pitchFamily="34" charset="0"/>
                <a:cs typeface="Calibri" panose="020F0502020204030204" pitchFamily="34" charset="0"/>
              </a:rPr>
              <a:t>We ended </a:t>
            </a:r>
            <a:r>
              <a:rPr lang="en-US" altLang="zh-CN" sz="1200" dirty="0">
                <a:solidFill>
                  <a:schemeClr val="bg1"/>
                </a:solidFill>
                <a:latin typeface="Calibri" panose="020F0502020204030204" pitchFamily="34" charset="0"/>
                <a:cs typeface="Calibri" panose="020F0502020204030204" pitchFamily="34" charset="0"/>
              </a:rPr>
              <a:t>up choosing </a:t>
            </a:r>
            <a:r>
              <a:rPr lang="en-US" altLang="zh-CN" sz="1200" dirty="0" err="1">
                <a:solidFill>
                  <a:schemeClr val="bg1"/>
                </a:solidFill>
                <a:latin typeface="Calibri" panose="020F0502020204030204" pitchFamily="34" charset="0"/>
                <a:cs typeface="Calibri" panose="020F0502020204030204" pitchFamily="34" charset="0"/>
              </a:rPr>
              <a:t>Vinchin</a:t>
            </a:r>
            <a:r>
              <a:rPr lang="en-US" altLang="zh-CN" sz="1200" dirty="0">
                <a:solidFill>
                  <a:schemeClr val="bg1"/>
                </a:solidFill>
                <a:latin typeface="Calibri" panose="020F0502020204030204" pitchFamily="34" charset="0"/>
                <a:cs typeface="Calibri" panose="020F0502020204030204" pitchFamily="34" charset="0"/>
              </a:rPr>
              <a:t> Backup &amp; Recovery as our preferred VM backup solution for protecting our thousands of </a:t>
            </a:r>
            <a:r>
              <a:rPr lang="en-US" altLang="zh-CN" sz="1200" dirty="0" err="1">
                <a:solidFill>
                  <a:schemeClr val="bg1"/>
                </a:solidFill>
                <a:latin typeface="Calibri" panose="020F0502020204030204" pitchFamily="34" charset="0"/>
                <a:cs typeface="Calibri" panose="020F0502020204030204" pitchFamily="34" charset="0"/>
              </a:rPr>
              <a:t>Openstack</a:t>
            </a:r>
            <a:r>
              <a:rPr lang="en-US" altLang="zh-CN" sz="1200" dirty="0">
                <a:solidFill>
                  <a:schemeClr val="bg1"/>
                </a:solidFill>
                <a:latin typeface="Calibri" panose="020F0502020204030204" pitchFamily="34" charset="0"/>
                <a:cs typeface="Calibri" panose="020F0502020204030204" pitchFamily="34" charset="0"/>
              </a:rPr>
              <a:t> VMs because it's highly intuitive and easy to use. The configuration is simple and flexible both when it comes to backing up, recovering, and monitoring with the web console and the reports. </a:t>
            </a:r>
          </a:p>
        </p:txBody>
      </p:sp>
      <p:pic>
        <p:nvPicPr>
          <p:cNvPr id="41" name="图片 40"/>
          <p:cNvPicPr>
            <a:picLocks noChangeAspect="1"/>
          </p:cNvPicPr>
          <p:nvPr/>
        </p:nvPicPr>
        <p:blipFill>
          <a:blip r:embed="rId4"/>
          <a:stretch>
            <a:fillRect/>
          </a:stretch>
        </p:blipFill>
        <p:spPr>
          <a:xfrm>
            <a:off x="7406667" y="3479054"/>
            <a:ext cx="227494" cy="241282"/>
          </a:xfrm>
          <a:prstGeom prst="rect">
            <a:avLst/>
          </a:prstGeom>
        </p:spPr>
      </p:pic>
      <p:sp>
        <p:nvSpPr>
          <p:cNvPr id="42" name="矩形 41"/>
          <p:cNvSpPr/>
          <p:nvPr/>
        </p:nvSpPr>
        <p:spPr>
          <a:xfrm>
            <a:off x="2885067" y="3815836"/>
            <a:ext cx="4828545" cy="461665"/>
          </a:xfrm>
          <a:prstGeom prst="rect">
            <a:avLst/>
          </a:prstGeom>
        </p:spPr>
        <p:txBody>
          <a:bodyPr wrap="square">
            <a:spAutoFit/>
          </a:bodyPr>
          <a:lstStyle/>
          <a:p>
            <a:pPr algn="r">
              <a:spcAft>
                <a:spcPts val="0"/>
              </a:spcAft>
            </a:pPr>
            <a:r>
              <a:rPr lang="en-US" altLang="zh-CN" sz="1200" b="1" kern="100" dirty="0" err="1" smtClean="0">
                <a:solidFill>
                  <a:schemeClr val="bg1"/>
                </a:solidFill>
                <a:latin typeface="Calibri" panose="020F0502020204030204" pitchFamily="34" charset="0"/>
                <a:ea typeface="等线" panose="02010600030101010101" charset="-122"/>
                <a:cs typeface="Calibri" panose="020F0502020204030204" pitchFamily="34" charset="0"/>
              </a:rPr>
              <a:t>Qiang</a:t>
            </a:r>
            <a:r>
              <a:rPr lang="en-US" altLang="zh-CN" sz="1200" b="1" kern="100" dirty="0" smtClean="0">
                <a:solidFill>
                  <a:schemeClr val="bg1"/>
                </a:solidFill>
                <a:latin typeface="Calibri" panose="020F0502020204030204" pitchFamily="34" charset="0"/>
                <a:ea typeface="等线" panose="02010600030101010101" charset="-122"/>
                <a:cs typeface="Calibri" panose="020F0502020204030204" pitchFamily="34" charset="0"/>
              </a:rPr>
              <a:t> Wang | Technical Consultant</a:t>
            </a:r>
            <a:endParaRPr lang="zh-CN" altLang="zh-CN" sz="1100" b="1" kern="100" dirty="0">
              <a:solidFill>
                <a:schemeClr val="bg1"/>
              </a:solidFill>
              <a:latin typeface="Calibri" panose="020F0502020204030204" pitchFamily="34" charset="0"/>
              <a:ea typeface="等线" panose="02010600030101010101" charset="-122"/>
              <a:cs typeface="Calibri" panose="020F0502020204030204" pitchFamily="34" charset="0"/>
            </a:endParaRPr>
          </a:p>
          <a:p>
            <a:pPr algn="r">
              <a:spcAft>
                <a:spcPts val="0"/>
              </a:spcAft>
            </a:pPr>
            <a:r>
              <a:rPr lang="en-US" altLang="zh-CN" sz="1200" kern="100" dirty="0">
                <a:solidFill>
                  <a:schemeClr val="bg1"/>
                </a:solidFill>
                <a:latin typeface="Calibri" panose="020F0502020204030204" pitchFamily="34" charset="0"/>
                <a:ea typeface="等线" panose="02010600030101010101" charset="-122"/>
                <a:cs typeface="Times New Roman" panose="02020603050405020304" pitchFamily="18" charset="0"/>
              </a:rPr>
              <a:t>Chengdu Municipal People's Government</a:t>
            </a:r>
            <a:endParaRPr lang="zh-CN" altLang="zh-CN" sz="1200" kern="100" dirty="0">
              <a:solidFill>
                <a:schemeClr val="bg1"/>
              </a:solidFill>
              <a:latin typeface="Calibri" panose="020F0502020204030204" pitchFamily="34" charset="0"/>
              <a:ea typeface="等线" panose="02010600030101010101" charset="-122"/>
              <a:cs typeface="Times New Roman" panose="02020603050405020304" pitchFamily="18" charset="0"/>
            </a:endParaRPr>
          </a:p>
        </p:txBody>
      </p:sp>
      <p:sp>
        <p:nvSpPr>
          <p:cNvPr id="44" name="Rectangle 7"/>
          <p:cNvSpPr/>
          <p:nvPr/>
        </p:nvSpPr>
        <p:spPr>
          <a:xfrm>
            <a:off x="2546593" y="4434838"/>
            <a:ext cx="5787510" cy="1346113"/>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lnSpc>
                <a:spcPct val="150000"/>
              </a:lnSpc>
            </a:pPr>
            <a:endParaRPr lang="en-US" altLang="zh-CN" sz="1400" dirty="0" smtClean="0"/>
          </a:p>
        </p:txBody>
      </p:sp>
      <p:sp>
        <p:nvSpPr>
          <p:cNvPr id="43" name="矩形 42"/>
          <p:cNvSpPr/>
          <p:nvPr/>
        </p:nvSpPr>
        <p:spPr>
          <a:xfrm>
            <a:off x="2546593" y="4534456"/>
            <a:ext cx="5758358" cy="1246495"/>
          </a:xfrm>
          <a:prstGeom prst="rect">
            <a:avLst/>
          </a:prstGeom>
        </p:spPr>
        <p:txBody>
          <a:bodyPr wrap="square">
            <a:spAutoFit/>
          </a:bodyPr>
          <a:lstStyle/>
          <a:p>
            <a:r>
              <a:rPr lang="en-US" altLang="zh-CN" sz="1100" b="1" dirty="0" smtClean="0"/>
              <a:t>240+ Government application systems</a:t>
            </a:r>
          </a:p>
          <a:p>
            <a:r>
              <a:rPr lang="en-US" altLang="zh-CN" sz="1100" b="1" dirty="0" smtClean="0"/>
              <a:t>80+ municipal departments</a:t>
            </a:r>
          </a:p>
          <a:p>
            <a:endParaRPr lang="en-US" altLang="zh-CN" sz="1100" b="1" dirty="0" smtClean="0"/>
          </a:p>
          <a:p>
            <a:pPr algn="just">
              <a:spcAft>
                <a:spcPts val="0"/>
              </a:spcAft>
            </a:pP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Although </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the </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environment was complex,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Vinchin</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support team only spent a short time on adapting and debugging in their datacenter, then smoothly deployed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Vinchin</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Backup &amp; Recovery in their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Openstack</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platform. In the end, a backup of 1000+ virtual machines and over tens of TB data were completed within 2 days.</a:t>
            </a:r>
          </a:p>
        </p:txBody>
      </p:sp>
      <p:pic>
        <p:nvPicPr>
          <p:cNvPr id="3074" name="Picture 2" descr="1595316173442576.png"/>
          <p:cNvPicPr>
            <a:picLocks noChangeAspect="1" noChangeArrowheads="1"/>
          </p:cNvPicPr>
          <p:nvPr/>
        </p:nvPicPr>
        <p:blipFill>
          <a:blip r:embed="rId5"/>
          <a:srcRect/>
          <a:stretch>
            <a:fillRect/>
          </a:stretch>
        </p:blipFill>
        <p:spPr bwMode="auto">
          <a:xfrm>
            <a:off x="262646" y="3804819"/>
            <a:ext cx="2114712" cy="458297"/>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p:nvPicPr>
        <p:blipFill>
          <a:blip r:embed="rId6"/>
          <a:stretch>
            <a:fillRect/>
          </a:stretch>
        </p:blipFill>
        <p:spPr>
          <a:xfrm>
            <a:off x="8394444" y="1871568"/>
            <a:ext cx="3818070" cy="20957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p:cNvSpPr/>
          <p:nvPr/>
        </p:nvSpPr>
        <p:spPr>
          <a:xfrm>
            <a:off x="2546594" y="1871568"/>
            <a:ext cx="5785329" cy="2507786"/>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nSpc>
                <a:spcPct val="150000"/>
              </a:lnSpc>
            </a:pPr>
            <a:endParaRPr lang="en-US" altLang="zh-CN" sz="1200" dirty="0" smtClean="0"/>
          </a:p>
        </p:txBody>
      </p:sp>
      <p:grpSp>
        <p:nvGrpSpPr>
          <p:cNvPr id="3" name="373e2bc7-3c29-4e26-a9ad-6ab434ba18b6"/>
          <p:cNvGrpSpPr>
            <a:grpSpLocks noChangeAspect="1"/>
          </p:cNvGrpSpPr>
          <p:nvPr/>
        </p:nvGrpSpPr>
        <p:grpSpPr>
          <a:xfrm>
            <a:off x="-388506" y="1748881"/>
            <a:ext cx="8703678" cy="4956490"/>
            <a:chOff x="316863" y="2389842"/>
            <a:chExt cx="8703678" cy="4956490"/>
          </a:xfrm>
        </p:grpSpPr>
        <p:grpSp>
          <p:nvGrpSpPr>
            <p:cNvPr id="5" name="Group 7"/>
            <p:cNvGrpSpPr/>
            <p:nvPr/>
          </p:nvGrpSpPr>
          <p:grpSpPr>
            <a:xfrm>
              <a:off x="3170523" y="2389842"/>
              <a:ext cx="5850018" cy="3043394"/>
              <a:chOff x="4886324" y="2414406"/>
              <a:chExt cx="7305675" cy="1360668"/>
            </a:xfrm>
          </p:grpSpPr>
          <p:sp>
            <p:nvSpPr>
              <p:cNvPr id="6" name="Rectangle 8"/>
              <p:cNvSpPr/>
              <p:nvPr/>
            </p:nvSpPr>
            <p:spPr>
              <a:xfrm>
                <a:off x="4886324" y="2414406"/>
                <a:ext cx="7305675" cy="678061"/>
              </a:xfrm>
              <a:prstGeom prst="rect">
                <a:avLst/>
              </a:prstGeom>
            </p:spPr>
            <p:txBody>
              <a:bodyPr wrap="none" anchor="b" anchorCtr="0">
                <a:normAutofit/>
              </a:bodyPr>
              <a:lstStyle/>
              <a:p>
                <a:pPr algn="ctr"/>
                <a:endParaRPr lang="zh-CN" altLang="en-US" b="1" dirty="0">
                  <a:solidFill>
                    <a:schemeClr val="bg1">
                      <a:lumMod val="100000"/>
                    </a:schemeClr>
                  </a:solidFill>
                </a:endParaRPr>
              </a:p>
            </p:txBody>
          </p:sp>
          <p:sp>
            <p:nvSpPr>
              <p:cNvPr id="7" name="Rectangle 9"/>
              <p:cNvSpPr/>
              <p:nvPr/>
            </p:nvSpPr>
            <p:spPr>
              <a:xfrm>
                <a:off x="4886324" y="3097013"/>
                <a:ext cx="7305675" cy="678061"/>
              </a:xfrm>
              <a:prstGeom prst="rect">
                <a:avLst/>
              </a:prstGeom>
            </p:spPr>
            <p:txBody>
              <a:bodyPr wrap="square" anchor="t" anchorCtr="0">
                <a:noAutofit/>
              </a:bodyPr>
              <a:lstStyle/>
              <a:p>
                <a:pPr algn="ctr">
                  <a:lnSpc>
                    <a:spcPct val="120000"/>
                  </a:lnSpc>
                </a:pPr>
                <a:endParaRPr lang="zh-CN" altLang="en-US" sz="1400" dirty="0">
                  <a:solidFill>
                    <a:schemeClr val="bg1">
                      <a:lumMod val="100000"/>
                    </a:schemeClr>
                  </a:solidFill>
                </a:endParaRPr>
              </a:p>
            </p:txBody>
          </p:sp>
        </p:grpSp>
        <p:sp>
          <p:nvSpPr>
            <p:cNvPr id="9" name="Freeform: Shape 6"/>
            <p:cNvSpPr/>
            <p:nvPr/>
          </p:nvSpPr>
          <p:spPr bwMode="auto">
            <a:xfrm>
              <a:off x="316863" y="6569320"/>
              <a:ext cx="777012" cy="777012"/>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algn="ctr"/>
              <a:endParaRPr/>
            </a:p>
          </p:txBody>
        </p:sp>
      </p:grpSp>
      <p:grpSp>
        <p:nvGrpSpPr>
          <p:cNvPr id="12" name="组合 11"/>
          <p:cNvGrpSpPr/>
          <p:nvPr/>
        </p:nvGrpSpPr>
        <p:grpSpPr>
          <a:xfrm>
            <a:off x="848848" y="255002"/>
            <a:ext cx="5635658" cy="713636"/>
            <a:chOff x="1561776" y="234890"/>
            <a:chExt cx="3482400" cy="713636"/>
          </a:xfrm>
        </p:grpSpPr>
        <p:sp>
          <p:nvSpPr>
            <p:cNvPr id="13" name="文本框 12"/>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Customer Stories</a:t>
              </a:r>
              <a:endParaRPr lang="zh-CN" altLang="en-US" sz="2800" b="1" dirty="0">
                <a:solidFill>
                  <a:schemeClr val="accent2"/>
                </a:solidFill>
                <a:latin typeface="+mn-ea"/>
              </a:endParaRPr>
            </a:p>
          </p:txBody>
        </p:sp>
        <p:sp>
          <p:nvSpPr>
            <p:cNvPr id="14" name="文本框 13"/>
            <p:cNvSpPr txBox="1"/>
            <p:nvPr/>
          </p:nvSpPr>
          <p:spPr>
            <a:xfrm>
              <a:off x="1561776" y="694610"/>
              <a:ext cx="3482400" cy="253916"/>
            </a:xfrm>
            <a:prstGeom prst="rect">
              <a:avLst/>
            </a:prstGeom>
            <a:noFill/>
          </p:spPr>
          <p:txBody>
            <a:bodyPr wrap="square" rtlCol="0">
              <a:spAutoFit/>
              <a:scene3d>
                <a:camera prst="orthographicFront"/>
                <a:lightRig rig="threePt" dir="t"/>
              </a:scene3d>
              <a:sp3d contourW="12700"/>
            </a:bodyPr>
            <a:lstStyle/>
            <a:p>
              <a:r>
                <a:rPr lang="en-US" altLang="zh-CN" sz="1050" dirty="0" smtClean="0">
                  <a:solidFill>
                    <a:schemeClr val="bg1">
                      <a:lumMod val="65000"/>
                    </a:schemeClr>
                  </a:solidFill>
                  <a:latin typeface="+mj-lt"/>
                </a:rPr>
                <a:t>WE VALUE THE PARTNERSHIP WITH OUR CUSTOMERS</a:t>
              </a:r>
              <a:endParaRPr lang="en-US" altLang="zh-CN" sz="1050" dirty="0">
                <a:solidFill>
                  <a:schemeClr val="bg1">
                    <a:lumMod val="65000"/>
                  </a:schemeClr>
                </a:solidFill>
                <a:latin typeface="+mj-lt"/>
              </a:endParaRPr>
            </a:p>
          </p:txBody>
        </p:sp>
      </p:grpSp>
      <p:sp>
        <p:nvSpPr>
          <p:cNvPr id="15" name="任意多边形: 形状 14"/>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ectangle 7"/>
          <p:cNvSpPr/>
          <p:nvPr/>
        </p:nvSpPr>
        <p:spPr>
          <a:xfrm>
            <a:off x="8386355" y="3978120"/>
            <a:ext cx="3805646" cy="1950239"/>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lnSpc>
                <a:spcPct val="150000"/>
              </a:lnSpc>
            </a:pPr>
            <a:endParaRPr lang="en-US" altLang="zh-CN" sz="1400" dirty="0" smtClean="0"/>
          </a:p>
        </p:txBody>
      </p:sp>
      <p:sp>
        <p:nvSpPr>
          <p:cNvPr id="36" name="矩形 35"/>
          <p:cNvSpPr/>
          <p:nvPr/>
        </p:nvSpPr>
        <p:spPr>
          <a:xfrm>
            <a:off x="8396611" y="4086644"/>
            <a:ext cx="3744686" cy="1708160"/>
          </a:xfrm>
          <a:prstGeom prst="rect">
            <a:avLst/>
          </a:prstGeom>
        </p:spPr>
        <p:txBody>
          <a:bodyPr wrap="square">
            <a:spAutoFit/>
          </a:bodyPr>
          <a:lstStyle/>
          <a:p>
            <a:pPr>
              <a:spcAft>
                <a:spcPts val="0"/>
              </a:spcAft>
            </a:pPr>
            <a:r>
              <a:rPr lang="en-US" altLang="zh-CN" sz="1050" kern="100" dirty="0" err="1"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PetroChina</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Company Limited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PetroChina</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is the largest oil and gas producer and distributor, playing a dominant role in the oil and gas industry in China.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PetroChina</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was established as a joint-stock company on November 5, 1999, as part of the restructuring of CNPC. It is not only one of the companies with the biggest sales revenue in China, but also one of the largest oil companies in the world.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PetroChina</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is committed to the principle of steady development and pushes the strategies of resources, markets, internationalization, and innovation with the aim to build a world-class international energy company. </a:t>
            </a:r>
            <a:endParaRPr lang="zh-CN"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endParaRPr>
          </a:p>
        </p:txBody>
      </p:sp>
      <p:pic>
        <p:nvPicPr>
          <p:cNvPr id="38" name="图片 37"/>
          <p:cNvPicPr>
            <a:picLocks noChangeAspect="1"/>
          </p:cNvPicPr>
          <p:nvPr/>
        </p:nvPicPr>
        <p:blipFill>
          <a:blip r:embed="rId3"/>
          <a:stretch>
            <a:fillRect/>
          </a:stretch>
        </p:blipFill>
        <p:spPr>
          <a:xfrm>
            <a:off x="3165919" y="1979978"/>
            <a:ext cx="221173" cy="257039"/>
          </a:xfrm>
          <a:prstGeom prst="rect">
            <a:avLst/>
          </a:prstGeom>
        </p:spPr>
      </p:pic>
      <p:sp>
        <p:nvSpPr>
          <p:cNvPr id="40" name="矩形 39"/>
          <p:cNvSpPr/>
          <p:nvPr/>
        </p:nvSpPr>
        <p:spPr>
          <a:xfrm>
            <a:off x="3086647" y="2191634"/>
            <a:ext cx="4740397" cy="1448730"/>
          </a:xfrm>
          <a:prstGeom prst="rect">
            <a:avLst/>
          </a:prstGeom>
        </p:spPr>
        <p:txBody>
          <a:bodyPr wrap="square">
            <a:spAutoFit/>
          </a:bodyPr>
          <a:lstStyle/>
          <a:p>
            <a:pPr>
              <a:lnSpc>
                <a:spcPct val="150000"/>
              </a:lnSpc>
            </a:pPr>
            <a:r>
              <a:rPr lang="en-US" altLang="zh-CN" sz="1200" dirty="0" smtClean="0">
                <a:solidFill>
                  <a:schemeClr val="bg1"/>
                </a:solidFill>
                <a:latin typeface="Calibri" panose="020F0502020204030204" pitchFamily="34" charset="0"/>
                <a:cs typeface="Calibri" panose="020F0502020204030204" pitchFamily="34" charset="0"/>
              </a:rPr>
              <a:t>We </a:t>
            </a:r>
            <a:r>
              <a:rPr lang="en-US" altLang="zh-CN" sz="1200" dirty="0">
                <a:solidFill>
                  <a:schemeClr val="bg1"/>
                </a:solidFill>
                <a:latin typeface="Calibri" panose="020F0502020204030204" pitchFamily="34" charset="0"/>
                <a:cs typeface="Calibri" panose="020F0502020204030204" pitchFamily="34" charset="0"/>
              </a:rPr>
              <a:t>With </a:t>
            </a:r>
            <a:r>
              <a:rPr lang="en-US" altLang="zh-CN" sz="1200" dirty="0" err="1">
                <a:solidFill>
                  <a:schemeClr val="bg1"/>
                </a:solidFill>
                <a:latin typeface="Calibri" panose="020F0502020204030204" pitchFamily="34" charset="0"/>
                <a:cs typeface="Calibri" panose="020F0502020204030204" pitchFamily="34" charset="0"/>
              </a:rPr>
              <a:t>Vinchin</a:t>
            </a:r>
            <a:r>
              <a:rPr lang="en-US" altLang="zh-CN" sz="1200" dirty="0">
                <a:solidFill>
                  <a:schemeClr val="bg1"/>
                </a:solidFill>
                <a:latin typeface="Calibri" panose="020F0502020204030204" pitchFamily="34" charset="0"/>
                <a:cs typeface="Calibri" panose="020F0502020204030204" pitchFamily="34" charset="0"/>
              </a:rPr>
              <a:t> Backup &amp; Recovery, our backup processes are now running successfully, predictably, and smoothly. </a:t>
            </a:r>
            <a:r>
              <a:rPr lang="en-US" altLang="zh-CN" sz="1200" dirty="0" smtClean="0">
                <a:solidFill>
                  <a:schemeClr val="bg1"/>
                </a:solidFill>
                <a:latin typeface="Calibri" panose="020F0502020204030204" pitchFamily="34" charset="0"/>
                <a:cs typeface="Calibri" panose="020F0502020204030204" pitchFamily="34" charset="0"/>
              </a:rPr>
              <a:t>We </a:t>
            </a:r>
            <a:r>
              <a:rPr lang="en-US" altLang="zh-CN" sz="1200" dirty="0">
                <a:solidFill>
                  <a:schemeClr val="bg1"/>
                </a:solidFill>
                <a:latin typeface="Calibri" panose="020F0502020204030204" pitchFamily="34" charset="0"/>
                <a:cs typeface="Calibri" panose="020F0502020204030204" pitchFamily="34" charset="0"/>
              </a:rPr>
              <a:t>can achieve the high scalability on data protection with </a:t>
            </a:r>
            <a:r>
              <a:rPr lang="en-US" altLang="zh-CN" sz="1200" dirty="0" err="1">
                <a:solidFill>
                  <a:schemeClr val="bg1"/>
                </a:solidFill>
                <a:latin typeface="Calibri" panose="020F0502020204030204" pitchFamily="34" charset="0"/>
                <a:cs typeface="Calibri" panose="020F0502020204030204" pitchFamily="34" charset="0"/>
              </a:rPr>
              <a:t>Vinchin</a:t>
            </a:r>
            <a:r>
              <a:rPr lang="en-US" altLang="zh-CN" sz="1200" dirty="0">
                <a:solidFill>
                  <a:schemeClr val="bg1"/>
                </a:solidFill>
                <a:latin typeface="Calibri" panose="020F0502020204030204" pitchFamily="34" charset="0"/>
                <a:cs typeface="Calibri" panose="020F0502020204030204" pitchFamily="34" charset="0"/>
              </a:rPr>
              <a:t> Backup Server and extendable Nodes, to help us decentralize the workloads of overwhelming backup and recovery tasks. </a:t>
            </a:r>
          </a:p>
        </p:txBody>
      </p:sp>
      <p:pic>
        <p:nvPicPr>
          <p:cNvPr id="41" name="图片 40"/>
          <p:cNvPicPr>
            <a:picLocks noChangeAspect="1"/>
          </p:cNvPicPr>
          <p:nvPr/>
        </p:nvPicPr>
        <p:blipFill>
          <a:blip r:embed="rId4"/>
          <a:stretch>
            <a:fillRect/>
          </a:stretch>
        </p:blipFill>
        <p:spPr>
          <a:xfrm>
            <a:off x="7406667" y="3479054"/>
            <a:ext cx="227494" cy="241282"/>
          </a:xfrm>
          <a:prstGeom prst="rect">
            <a:avLst/>
          </a:prstGeom>
        </p:spPr>
      </p:pic>
      <p:sp>
        <p:nvSpPr>
          <p:cNvPr id="42" name="矩形 41"/>
          <p:cNvSpPr/>
          <p:nvPr/>
        </p:nvSpPr>
        <p:spPr>
          <a:xfrm>
            <a:off x="2885067" y="3815836"/>
            <a:ext cx="4828545" cy="461665"/>
          </a:xfrm>
          <a:prstGeom prst="rect">
            <a:avLst/>
          </a:prstGeom>
        </p:spPr>
        <p:txBody>
          <a:bodyPr wrap="square">
            <a:spAutoFit/>
          </a:bodyPr>
          <a:lstStyle/>
          <a:p>
            <a:pPr algn="r">
              <a:spcAft>
                <a:spcPts val="0"/>
              </a:spcAft>
            </a:pPr>
            <a:r>
              <a:rPr lang="en-US" altLang="zh-CN" sz="1200" b="1" kern="100" dirty="0" smtClean="0">
                <a:solidFill>
                  <a:schemeClr val="bg1"/>
                </a:solidFill>
                <a:latin typeface="Calibri" panose="020F0502020204030204" pitchFamily="34" charset="0"/>
                <a:ea typeface="等线" panose="02010600030101010101" charset="-122"/>
                <a:cs typeface="Calibri" panose="020F0502020204030204" pitchFamily="34" charset="0"/>
              </a:rPr>
              <a:t>Mr. Wang | IT Manager</a:t>
            </a:r>
            <a:endParaRPr lang="zh-CN" altLang="zh-CN" sz="1100" b="1" kern="100" dirty="0">
              <a:solidFill>
                <a:schemeClr val="bg1"/>
              </a:solidFill>
              <a:latin typeface="Calibri" panose="020F0502020204030204" pitchFamily="34" charset="0"/>
              <a:ea typeface="等线" panose="02010600030101010101" charset="-122"/>
              <a:cs typeface="Calibri" panose="020F0502020204030204" pitchFamily="34" charset="0"/>
            </a:endParaRPr>
          </a:p>
          <a:p>
            <a:pPr algn="r">
              <a:spcAft>
                <a:spcPts val="0"/>
              </a:spcAft>
            </a:pPr>
            <a:r>
              <a:rPr lang="en-US" altLang="zh-CN" sz="1200" kern="100" dirty="0" smtClean="0">
                <a:solidFill>
                  <a:schemeClr val="bg1"/>
                </a:solidFill>
                <a:latin typeface="Calibri" panose="020F0502020204030204" pitchFamily="34" charset="0"/>
                <a:ea typeface="等线" panose="02010600030101010101" charset="-122"/>
                <a:cs typeface="Calibri" panose="020F0502020204030204" pitchFamily="34" charset="0"/>
              </a:rPr>
              <a:t>The </a:t>
            </a:r>
            <a:r>
              <a:rPr lang="en-US" altLang="zh-CN" sz="1200" kern="100" dirty="0" err="1">
                <a:solidFill>
                  <a:schemeClr val="bg1"/>
                </a:solidFill>
                <a:latin typeface="Calibri" panose="020F0502020204030204" pitchFamily="34" charset="0"/>
                <a:ea typeface="等线" panose="02010600030101010101" charset="-122"/>
                <a:cs typeface="Calibri" panose="020F0502020204030204" pitchFamily="34" charset="0"/>
              </a:rPr>
              <a:t>PetroChina</a:t>
            </a:r>
            <a:r>
              <a:rPr lang="en-US" altLang="zh-CN" sz="1200" kern="100" dirty="0">
                <a:solidFill>
                  <a:schemeClr val="bg1"/>
                </a:solidFill>
                <a:latin typeface="Calibri" panose="020F0502020204030204" pitchFamily="34" charset="0"/>
                <a:ea typeface="等线" panose="02010600030101010101" charset="-122"/>
                <a:cs typeface="Calibri" panose="020F0502020204030204" pitchFamily="34" charset="0"/>
              </a:rPr>
              <a:t> Company Limited</a:t>
            </a:r>
            <a:endParaRPr lang="zh-CN" altLang="zh-CN" sz="1200" kern="100" dirty="0">
              <a:solidFill>
                <a:schemeClr val="bg1"/>
              </a:solidFill>
              <a:latin typeface="Calibri" panose="020F0502020204030204" pitchFamily="34" charset="0"/>
              <a:ea typeface="等线" panose="02010600030101010101" charset="-122"/>
              <a:cs typeface="Calibri" panose="020F0502020204030204" pitchFamily="34" charset="0"/>
            </a:endParaRPr>
          </a:p>
        </p:txBody>
      </p:sp>
      <p:sp>
        <p:nvSpPr>
          <p:cNvPr id="44" name="Rectangle 7"/>
          <p:cNvSpPr/>
          <p:nvPr/>
        </p:nvSpPr>
        <p:spPr>
          <a:xfrm>
            <a:off x="2546593" y="4434839"/>
            <a:ext cx="5787510" cy="1493520"/>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lnSpc>
                <a:spcPct val="150000"/>
              </a:lnSpc>
            </a:pPr>
            <a:endParaRPr lang="en-US" altLang="zh-CN" sz="1400" dirty="0" smtClean="0"/>
          </a:p>
        </p:txBody>
      </p:sp>
      <p:sp>
        <p:nvSpPr>
          <p:cNvPr id="43" name="矩形 42"/>
          <p:cNvSpPr/>
          <p:nvPr/>
        </p:nvSpPr>
        <p:spPr>
          <a:xfrm>
            <a:off x="2546593" y="4534456"/>
            <a:ext cx="5758358" cy="1415772"/>
          </a:xfrm>
          <a:prstGeom prst="rect">
            <a:avLst/>
          </a:prstGeom>
        </p:spPr>
        <p:txBody>
          <a:bodyPr wrap="square">
            <a:spAutoFit/>
          </a:bodyPr>
          <a:lstStyle/>
          <a:p>
            <a:r>
              <a:rPr lang="en-US" altLang="zh-CN" sz="1100" b="1" dirty="0" smtClean="0"/>
              <a:t>Fortune </a:t>
            </a:r>
            <a:r>
              <a:rPr lang="en-US" altLang="zh-CN" sz="1100" b="1" dirty="0"/>
              <a:t>Global 500 (2017-2020) ranking, No. 4</a:t>
            </a:r>
          </a:p>
          <a:p>
            <a:r>
              <a:rPr lang="en-US" altLang="zh-CN" sz="1100" b="1" dirty="0"/>
              <a:t>Forbes Global 2000 (2020) ranking, No. 32</a:t>
            </a:r>
          </a:p>
          <a:p>
            <a:r>
              <a:rPr lang="en-US" altLang="zh-CN" sz="1100" b="1" dirty="0"/>
              <a:t>Asia's largest oil and gas producer</a:t>
            </a:r>
          </a:p>
          <a:p>
            <a:pPr algn="just">
              <a:spcAft>
                <a:spcPts val="0"/>
              </a:spcAft>
            </a:pPr>
            <a:endParaRPr lang="en-US" altLang="zh-CN" sz="1100" kern="100" dirty="0" smtClean="0">
              <a:solidFill>
                <a:schemeClr val="bg1">
                  <a:lumMod val="50000"/>
                </a:schemeClr>
              </a:solidFill>
              <a:latin typeface="Calibri" panose="020F0502020204030204" pitchFamily="34" charset="0"/>
              <a:ea typeface="等线" panose="02010600030101010101" charset="-122"/>
              <a:cs typeface="Calibri" panose="020F0502020204030204" pitchFamily="34" charset="0"/>
            </a:endParaRPr>
          </a:p>
          <a:p>
            <a:r>
              <a:rPr lang="en-US" altLang="zh-CN" sz="1050" kern="100" dirty="0" err="1"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PetroChina</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South-West Branch owns 80 hosts, 160 sockets, </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running VMware </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platform. Although they’ve tested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Veeam</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before knowing </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about </a:t>
            </a:r>
            <a:r>
              <a:rPr lang="en-US" altLang="zh-CN" sz="1050" kern="100" dirty="0" err="1"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Vinchin</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they still chose </a:t>
            </a:r>
            <a:r>
              <a:rPr lang="en-US" altLang="zh-CN" sz="1050" kern="100" dirty="0" err="1"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Vinchin</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instead of </a:t>
            </a:r>
            <a:r>
              <a:rPr lang="en-US" altLang="zh-CN" sz="1050" kern="100" dirty="0" err="1"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Veeam</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due to its excellent performance and better support services!</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After </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deploying </a:t>
            </a:r>
            <a:r>
              <a:rPr lang="en-US" altLang="zh-CN" sz="1050" kern="100" dirty="0" err="1"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Vinchin</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hundreds </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of </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VMware </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VMs with 80 TB+ data have been under protection since </a:t>
            </a:r>
            <a:r>
              <a:rPr lang="en-US" altLang="zh-CN" sz="1050" kern="100" dirty="0" smtClean="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Dec,2019.</a:t>
            </a:r>
            <a:endPar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endParaRPr>
          </a:p>
        </p:txBody>
      </p:sp>
      <p:pic>
        <p:nvPicPr>
          <p:cNvPr id="24" name="Picture 2" descr="https://gimg2.baidu.com/image_search/src=http%3A%2F%2Ftm-image.qccip.com%2FqcctmImage%2F646e8ca2dcee05aa96d95caab6b04811.jpg&amp;refer=http%3A%2F%2Ftm-image.qccip.com&amp;app=2002&amp;size=f9999,10000&amp;q=a80&amp;n=0&amp;g=0n&amp;fmt=jpeg?sec=1613630310&amp;t=74f979bf18ddabe3910023c59e383078"/>
          <p:cNvPicPr>
            <a:picLocks noChangeAspect="1" noChangeArrowheads="1"/>
          </p:cNvPicPr>
          <p:nvPr/>
        </p:nvPicPr>
        <p:blipFill>
          <a:blip r:embed="rId5"/>
          <a:srcRect/>
          <a:stretch>
            <a:fillRect/>
          </a:stretch>
        </p:blipFill>
        <p:spPr bwMode="auto">
          <a:xfrm>
            <a:off x="678189" y="3012250"/>
            <a:ext cx="1637321" cy="1368600"/>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nvPicPr>
        <p:blipFill>
          <a:blip r:embed="rId6"/>
          <a:stretch>
            <a:fillRect/>
          </a:stretch>
        </p:blipFill>
        <p:spPr>
          <a:xfrm>
            <a:off x="8386355" y="1877395"/>
            <a:ext cx="3810718" cy="205452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p:cNvSpPr/>
          <p:nvPr/>
        </p:nvSpPr>
        <p:spPr>
          <a:xfrm>
            <a:off x="2546594" y="1871568"/>
            <a:ext cx="5785329" cy="2563272"/>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nSpc>
                <a:spcPct val="150000"/>
              </a:lnSpc>
            </a:pPr>
            <a:endParaRPr lang="en-US" altLang="zh-CN" sz="1200" dirty="0" smtClean="0"/>
          </a:p>
        </p:txBody>
      </p:sp>
      <p:grpSp>
        <p:nvGrpSpPr>
          <p:cNvPr id="3" name="373e2bc7-3c29-4e26-a9ad-6ab434ba18b6"/>
          <p:cNvGrpSpPr>
            <a:grpSpLocks noChangeAspect="1"/>
          </p:cNvGrpSpPr>
          <p:nvPr/>
        </p:nvGrpSpPr>
        <p:grpSpPr>
          <a:xfrm>
            <a:off x="-388506" y="1748881"/>
            <a:ext cx="8703678" cy="4956490"/>
            <a:chOff x="316863" y="2389842"/>
            <a:chExt cx="8703678" cy="4956490"/>
          </a:xfrm>
        </p:grpSpPr>
        <p:grpSp>
          <p:nvGrpSpPr>
            <p:cNvPr id="5" name="Group 7"/>
            <p:cNvGrpSpPr/>
            <p:nvPr/>
          </p:nvGrpSpPr>
          <p:grpSpPr>
            <a:xfrm>
              <a:off x="3170523" y="2389842"/>
              <a:ext cx="5850018" cy="3043394"/>
              <a:chOff x="4886324" y="2414406"/>
              <a:chExt cx="7305675" cy="1360668"/>
            </a:xfrm>
          </p:grpSpPr>
          <p:sp>
            <p:nvSpPr>
              <p:cNvPr id="6" name="Rectangle 8"/>
              <p:cNvSpPr/>
              <p:nvPr/>
            </p:nvSpPr>
            <p:spPr>
              <a:xfrm>
                <a:off x="4886324" y="2414406"/>
                <a:ext cx="7305675" cy="678061"/>
              </a:xfrm>
              <a:prstGeom prst="rect">
                <a:avLst/>
              </a:prstGeom>
            </p:spPr>
            <p:txBody>
              <a:bodyPr wrap="none" anchor="b" anchorCtr="0">
                <a:normAutofit/>
              </a:bodyPr>
              <a:lstStyle/>
              <a:p>
                <a:pPr algn="ctr"/>
                <a:endParaRPr lang="zh-CN" altLang="en-US" b="1" dirty="0">
                  <a:solidFill>
                    <a:schemeClr val="bg1">
                      <a:lumMod val="100000"/>
                    </a:schemeClr>
                  </a:solidFill>
                </a:endParaRPr>
              </a:p>
            </p:txBody>
          </p:sp>
          <p:sp>
            <p:nvSpPr>
              <p:cNvPr id="7" name="Rectangle 9"/>
              <p:cNvSpPr/>
              <p:nvPr/>
            </p:nvSpPr>
            <p:spPr>
              <a:xfrm>
                <a:off x="4886324" y="3097013"/>
                <a:ext cx="7305675" cy="678061"/>
              </a:xfrm>
              <a:prstGeom prst="rect">
                <a:avLst/>
              </a:prstGeom>
            </p:spPr>
            <p:txBody>
              <a:bodyPr wrap="square" anchor="t" anchorCtr="0">
                <a:noAutofit/>
              </a:bodyPr>
              <a:lstStyle/>
              <a:p>
                <a:pPr algn="ctr">
                  <a:lnSpc>
                    <a:spcPct val="120000"/>
                  </a:lnSpc>
                </a:pPr>
                <a:endParaRPr lang="zh-CN" altLang="en-US" sz="1400" dirty="0">
                  <a:solidFill>
                    <a:schemeClr val="bg1">
                      <a:lumMod val="100000"/>
                    </a:schemeClr>
                  </a:solidFill>
                </a:endParaRPr>
              </a:p>
            </p:txBody>
          </p:sp>
        </p:grpSp>
        <p:sp>
          <p:nvSpPr>
            <p:cNvPr id="9" name="Freeform: Shape 6"/>
            <p:cNvSpPr/>
            <p:nvPr/>
          </p:nvSpPr>
          <p:spPr bwMode="auto">
            <a:xfrm>
              <a:off x="316863" y="6569320"/>
              <a:ext cx="777012" cy="777012"/>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algn="ctr"/>
              <a:endParaRPr/>
            </a:p>
          </p:txBody>
        </p:sp>
      </p:grpSp>
      <p:grpSp>
        <p:nvGrpSpPr>
          <p:cNvPr id="12" name="组合 11"/>
          <p:cNvGrpSpPr/>
          <p:nvPr/>
        </p:nvGrpSpPr>
        <p:grpSpPr>
          <a:xfrm>
            <a:off x="848848" y="255002"/>
            <a:ext cx="5635658" cy="713636"/>
            <a:chOff x="1561776" y="234890"/>
            <a:chExt cx="3482400" cy="713636"/>
          </a:xfrm>
        </p:grpSpPr>
        <p:sp>
          <p:nvSpPr>
            <p:cNvPr id="13" name="文本框 12"/>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Customer Stories</a:t>
              </a:r>
              <a:endParaRPr lang="zh-CN" altLang="en-US" sz="2800" b="1" dirty="0">
                <a:solidFill>
                  <a:schemeClr val="accent2"/>
                </a:solidFill>
                <a:latin typeface="+mn-ea"/>
              </a:endParaRPr>
            </a:p>
          </p:txBody>
        </p:sp>
        <p:sp>
          <p:nvSpPr>
            <p:cNvPr id="14" name="文本框 13"/>
            <p:cNvSpPr txBox="1"/>
            <p:nvPr/>
          </p:nvSpPr>
          <p:spPr>
            <a:xfrm>
              <a:off x="1561776" y="694610"/>
              <a:ext cx="3482400" cy="253916"/>
            </a:xfrm>
            <a:prstGeom prst="rect">
              <a:avLst/>
            </a:prstGeom>
            <a:noFill/>
          </p:spPr>
          <p:txBody>
            <a:bodyPr wrap="square" rtlCol="0">
              <a:spAutoFit/>
              <a:scene3d>
                <a:camera prst="orthographicFront"/>
                <a:lightRig rig="threePt" dir="t"/>
              </a:scene3d>
              <a:sp3d contourW="12700"/>
            </a:bodyPr>
            <a:lstStyle/>
            <a:p>
              <a:r>
                <a:rPr lang="en-US" altLang="zh-CN" sz="1050" dirty="0" smtClean="0">
                  <a:solidFill>
                    <a:schemeClr val="bg1">
                      <a:lumMod val="65000"/>
                    </a:schemeClr>
                  </a:solidFill>
                  <a:latin typeface="+mj-lt"/>
                </a:rPr>
                <a:t>WE VALUE THE PARTNERSHIP WITH OUR CUSTOMERS</a:t>
              </a:r>
              <a:endParaRPr lang="en-US" altLang="zh-CN" sz="1050" dirty="0">
                <a:solidFill>
                  <a:schemeClr val="bg1">
                    <a:lumMod val="65000"/>
                  </a:schemeClr>
                </a:solidFill>
                <a:latin typeface="+mj-lt"/>
              </a:endParaRPr>
            </a:p>
          </p:txBody>
        </p:sp>
      </p:grpSp>
      <p:sp>
        <p:nvSpPr>
          <p:cNvPr id="15" name="任意多边形: 形状 14"/>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571" y="3387615"/>
            <a:ext cx="1982902" cy="819264"/>
          </a:xfrm>
          <a:prstGeom prst="rect">
            <a:avLst/>
          </a:prstGeom>
        </p:spPr>
      </p:pic>
      <p:pic>
        <p:nvPicPr>
          <p:cNvPr id="1026" name="Picture 2" descr="Interesting facts about the University of Manchester"/>
          <p:cNvPicPr>
            <a:picLocks noChangeAspect="1" noChangeArrowheads="1"/>
          </p:cNvPicPr>
          <p:nvPr/>
        </p:nvPicPr>
        <p:blipFill>
          <a:blip r:embed="rId4"/>
          <a:srcRect/>
          <a:stretch>
            <a:fillRect/>
          </a:stretch>
        </p:blipFill>
        <p:spPr bwMode="auto">
          <a:xfrm>
            <a:off x="8386355" y="1871567"/>
            <a:ext cx="3805645" cy="2174966"/>
          </a:xfrm>
          <a:prstGeom prst="rect">
            <a:avLst/>
          </a:prstGeom>
          <a:noFill/>
          <a:extLst>
            <a:ext uri="{909E8E84-426E-40DD-AFC4-6F175D3DCCD1}">
              <a14:hiddenFill xmlns:a14="http://schemas.microsoft.com/office/drawing/2010/main">
                <a:solidFill>
                  <a:srgbClr val="FFFFFF"/>
                </a:solidFill>
              </a14:hiddenFill>
            </a:ext>
          </a:extLst>
        </p:spPr>
      </p:pic>
      <p:sp>
        <p:nvSpPr>
          <p:cNvPr id="37" name="Rectangle 7"/>
          <p:cNvSpPr/>
          <p:nvPr/>
        </p:nvSpPr>
        <p:spPr>
          <a:xfrm>
            <a:off x="8386355" y="4101737"/>
            <a:ext cx="3805646" cy="1826622"/>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lnSpc>
                <a:spcPct val="150000"/>
              </a:lnSpc>
            </a:pPr>
            <a:endParaRPr lang="en-US" altLang="zh-CN" sz="1400" dirty="0" smtClean="0"/>
          </a:p>
        </p:txBody>
      </p:sp>
      <p:sp>
        <p:nvSpPr>
          <p:cNvPr id="36" name="矩形 35"/>
          <p:cNvSpPr/>
          <p:nvPr/>
        </p:nvSpPr>
        <p:spPr>
          <a:xfrm>
            <a:off x="8376133" y="4219833"/>
            <a:ext cx="3744686" cy="1384995"/>
          </a:xfrm>
          <a:prstGeom prst="rect">
            <a:avLst/>
          </a:prstGeom>
        </p:spPr>
        <p:txBody>
          <a:bodyPr wrap="square">
            <a:spAutoFit/>
          </a:bodyPr>
          <a:lstStyle/>
          <a:p>
            <a:pPr>
              <a:spcAft>
                <a:spcPts val="0"/>
              </a:spcAft>
            </a:pP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The CRUK (Cancer Research UK) Manchester Institute is a leading cancer research institute originally from the University of Manchester, a world-known institution with a reputation for education and innovation. From investigating the molecular and cellular basis of cancer, to translational research and the development of therapeutics, it covers almost the whole spectrum of cancer research, and aims to transform people’s lives by making positive change across the world.</a:t>
            </a:r>
            <a:endParaRPr lang="zh-CN" altLang="zh-CN" sz="1000" kern="100" dirty="0">
              <a:solidFill>
                <a:schemeClr val="bg1">
                  <a:lumMod val="50000"/>
                </a:schemeClr>
              </a:solidFill>
              <a:effectLst/>
              <a:latin typeface="等线" panose="02010600030101010101" charset="-122"/>
              <a:ea typeface="等线" panose="02010600030101010101" charset="-122"/>
              <a:cs typeface="Times New Roman" panose="02020603050405020304" pitchFamily="18" charset="0"/>
            </a:endParaRPr>
          </a:p>
        </p:txBody>
      </p:sp>
      <p:pic>
        <p:nvPicPr>
          <p:cNvPr id="38" name="图片 37"/>
          <p:cNvPicPr>
            <a:picLocks noChangeAspect="1"/>
          </p:cNvPicPr>
          <p:nvPr/>
        </p:nvPicPr>
        <p:blipFill>
          <a:blip r:embed="rId5"/>
          <a:stretch>
            <a:fillRect/>
          </a:stretch>
        </p:blipFill>
        <p:spPr>
          <a:xfrm>
            <a:off x="3165919" y="2032226"/>
            <a:ext cx="221173" cy="257039"/>
          </a:xfrm>
          <a:prstGeom prst="rect">
            <a:avLst/>
          </a:prstGeom>
        </p:spPr>
      </p:pic>
      <p:sp>
        <p:nvSpPr>
          <p:cNvPr id="40" name="矩形 39"/>
          <p:cNvSpPr/>
          <p:nvPr/>
        </p:nvSpPr>
        <p:spPr>
          <a:xfrm>
            <a:off x="3086647" y="2243882"/>
            <a:ext cx="4740397" cy="1200329"/>
          </a:xfrm>
          <a:prstGeom prst="rect">
            <a:avLst/>
          </a:prstGeom>
        </p:spPr>
        <p:txBody>
          <a:bodyPr wrap="square">
            <a:spAutoFit/>
          </a:bodyPr>
          <a:lstStyle/>
          <a:p>
            <a:pPr>
              <a:lnSpc>
                <a:spcPct val="150000"/>
              </a:lnSpc>
            </a:pPr>
            <a:r>
              <a:rPr lang="en-US" altLang="zh-CN" sz="1200" dirty="0">
                <a:solidFill>
                  <a:schemeClr val="bg1"/>
                </a:solidFill>
                <a:latin typeface="Calibri" panose="020F0502020204030204" pitchFamily="34" charset="0"/>
                <a:cs typeface="Calibri" panose="020F0502020204030204" pitchFamily="34" charset="0"/>
              </a:rPr>
              <a:t>I did not anticipate an impeccable solution until </a:t>
            </a:r>
            <a:r>
              <a:rPr lang="en-US" altLang="zh-CN" sz="1200" dirty="0" err="1">
                <a:solidFill>
                  <a:schemeClr val="bg1"/>
                </a:solidFill>
                <a:latin typeface="Calibri" panose="020F0502020204030204" pitchFamily="34" charset="0"/>
                <a:cs typeface="Calibri" panose="020F0502020204030204" pitchFamily="34" charset="0"/>
              </a:rPr>
              <a:t>Vinchin</a:t>
            </a:r>
            <a:r>
              <a:rPr lang="en-US" altLang="zh-CN" sz="1200" dirty="0">
                <a:solidFill>
                  <a:schemeClr val="bg1"/>
                </a:solidFill>
                <a:latin typeface="Calibri" panose="020F0502020204030204" pitchFamily="34" charset="0"/>
                <a:cs typeface="Calibri" panose="020F0502020204030204" pitchFamily="34" charset="0"/>
              </a:rPr>
              <a:t> offered one. Their product not only provides us the flexibility and reliability to back up data but also succeeds to recover data in seconds, which has greatly contributed to our cancer research data </a:t>
            </a:r>
            <a:r>
              <a:rPr lang="en-US" altLang="zh-CN" sz="1200" dirty="0" smtClean="0">
                <a:solidFill>
                  <a:schemeClr val="bg1"/>
                </a:solidFill>
                <a:latin typeface="Calibri" panose="020F0502020204030204" pitchFamily="34" charset="0"/>
                <a:cs typeface="Calibri" panose="020F0502020204030204" pitchFamily="34" charset="0"/>
              </a:rPr>
              <a:t>management</a:t>
            </a:r>
            <a:r>
              <a:rPr lang="en-US" altLang="zh-CN" sz="1200" dirty="0">
                <a:solidFill>
                  <a:schemeClr val="bg1"/>
                </a:solidFill>
                <a:latin typeface="Calibri" panose="020F0502020204030204" pitchFamily="34" charset="0"/>
                <a:cs typeface="Calibri" panose="020F0502020204030204" pitchFamily="34" charset="0"/>
              </a:rPr>
              <a:t>.</a:t>
            </a:r>
            <a:endParaRPr lang="en-US" altLang="zh-CN" sz="8000" dirty="0">
              <a:solidFill>
                <a:schemeClr val="bg1"/>
              </a:solidFill>
              <a:latin typeface="Calibri" panose="020F0502020204030204" pitchFamily="34" charset="0"/>
              <a:cs typeface="Calibri" panose="020F0502020204030204" pitchFamily="34" charset="0"/>
            </a:endParaRPr>
          </a:p>
        </p:txBody>
      </p:sp>
      <p:pic>
        <p:nvPicPr>
          <p:cNvPr id="41" name="图片 40"/>
          <p:cNvPicPr>
            <a:picLocks noChangeAspect="1"/>
          </p:cNvPicPr>
          <p:nvPr/>
        </p:nvPicPr>
        <p:blipFill>
          <a:blip r:embed="rId6"/>
          <a:stretch>
            <a:fillRect/>
          </a:stretch>
        </p:blipFill>
        <p:spPr>
          <a:xfrm>
            <a:off x="7360950" y="3387615"/>
            <a:ext cx="227494" cy="241282"/>
          </a:xfrm>
          <a:prstGeom prst="rect">
            <a:avLst/>
          </a:prstGeom>
        </p:spPr>
      </p:pic>
      <p:sp>
        <p:nvSpPr>
          <p:cNvPr id="42" name="矩形 41"/>
          <p:cNvSpPr/>
          <p:nvPr/>
        </p:nvSpPr>
        <p:spPr>
          <a:xfrm>
            <a:off x="2845881" y="3763585"/>
            <a:ext cx="4828545" cy="461665"/>
          </a:xfrm>
          <a:prstGeom prst="rect">
            <a:avLst/>
          </a:prstGeom>
        </p:spPr>
        <p:txBody>
          <a:bodyPr wrap="square">
            <a:spAutoFit/>
          </a:bodyPr>
          <a:lstStyle/>
          <a:p>
            <a:pPr algn="r">
              <a:spcAft>
                <a:spcPts val="0"/>
              </a:spcAft>
            </a:pPr>
            <a:r>
              <a:rPr lang="en-US" altLang="zh-CN" sz="1200" b="1" kern="100" dirty="0">
                <a:solidFill>
                  <a:schemeClr val="bg1"/>
                </a:solidFill>
                <a:latin typeface="Calibri" panose="020F0502020204030204" pitchFamily="34" charset="0"/>
                <a:ea typeface="等线" panose="02010600030101010101" charset="-122"/>
                <a:cs typeface="Times New Roman" panose="02020603050405020304" pitchFamily="18" charset="0"/>
              </a:rPr>
              <a:t>Marek </a:t>
            </a:r>
            <a:r>
              <a:rPr lang="en-US" altLang="zh-CN" sz="1200" b="1" kern="100" dirty="0" err="1">
                <a:solidFill>
                  <a:schemeClr val="bg1"/>
                </a:solidFill>
                <a:latin typeface="Calibri" panose="020F0502020204030204" pitchFamily="34" charset="0"/>
                <a:ea typeface="等线" panose="02010600030101010101" charset="-122"/>
                <a:cs typeface="Times New Roman" panose="02020603050405020304" pitchFamily="18" charset="0"/>
              </a:rPr>
              <a:t>Dynowski</a:t>
            </a:r>
            <a:r>
              <a:rPr lang="en-US" altLang="zh-CN" sz="1200" b="1" kern="100" dirty="0">
                <a:solidFill>
                  <a:schemeClr val="bg1"/>
                </a:solidFill>
                <a:latin typeface="Calibri" panose="020F0502020204030204" pitchFamily="34" charset="0"/>
                <a:ea typeface="等线" panose="02010600030101010101" charset="-122"/>
                <a:cs typeface="Times New Roman" panose="02020603050405020304" pitchFamily="18" charset="0"/>
              </a:rPr>
              <a:t>, </a:t>
            </a:r>
            <a:r>
              <a:rPr lang="en-US" altLang="zh-CN" sz="1200" b="1" kern="100" dirty="0" err="1">
                <a:solidFill>
                  <a:schemeClr val="bg1"/>
                </a:solidFill>
                <a:latin typeface="Calibri" panose="020F0502020204030204" pitchFamily="34" charset="0"/>
                <a:ea typeface="等线" panose="02010600030101010101" charset="-122"/>
                <a:cs typeface="Times New Roman" panose="02020603050405020304" pitchFamily="18" charset="0"/>
              </a:rPr>
              <a:t>PhD|Head</a:t>
            </a:r>
            <a:r>
              <a:rPr lang="en-US" altLang="zh-CN" sz="1200" b="1" kern="100" dirty="0">
                <a:solidFill>
                  <a:schemeClr val="bg1"/>
                </a:solidFill>
                <a:latin typeface="Calibri" panose="020F0502020204030204" pitchFamily="34" charset="0"/>
                <a:ea typeface="等线" panose="02010600030101010101" charset="-122"/>
                <a:cs typeface="Times New Roman" panose="02020603050405020304" pitchFamily="18" charset="0"/>
              </a:rPr>
              <a:t> of Scientific Computing</a:t>
            </a:r>
            <a:endParaRPr lang="zh-CN" altLang="zh-CN" sz="1100" b="1" kern="100" dirty="0">
              <a:solidFill>
                <a:schemeClr val="bg1"/>
              </a:solidFill>
              <a:latin typeface="等线" panose="02010600030101010101" charset="-122"/>
              <a:ea typeface="等线" panose="02010600030101010101" charset="-122"/>
              <a:cs typeface="Times New Roman" panose="02020603050405020304" pitchFamily="18" charset="0"/>
            </a:endParaRPr>
          </a:p>
          <a:p>
            <a:pPr algn="r">
              <a:spcAft>
                <a:spcPts val="0"/>
              </a:spcAft>
            </a:pPr>
            <a:r>
              <a:rPr lang="en-US" altLang="zh-CN" sz="1200" kern="100" dirty="0">
                <a:solidFill>
                  <a:schemeClr val="bg1"/>
                </a:solidFill>
                <a:latin typeface="Calibri" panose="020F0502020204030204" pitchFamily="34" charset="0"/>
                <a:ea typeface="等线" panose="02010600030101010101" charset="-122"/>
                <a:cs typeface="Times New Roman" panose="02020603050405020304" pitchFamily="18" charset="0"/>
              </a:rPr>
              <a:t>Cancer Research UK Manchester Institute</a:t>
            </a:r>
            <a:endParaRPr lang="zh-CN" altLang="zh-CN" sz="1100" kern="100" dirty="0">
              <a:solidFill>
                <a:schemeClr val="bg1"/>
              </a:solidFill>
              <a:effectLst/>
              <a:latin typeface="等线" panose="02010600030101010101" charset="-122"/>
              <a:ea typeface="等线" panose="02010600030101010101" charset="-122"/>
              <a:cs typeface="Times New Roman" panose="02020603050405020304" pitchFamily="18" charset="0"/>
            </a:endParaRPr>
          </a:p>
        </p:txBody>
      </p:sp>
      <p:sp>
        <p:nvSpPr>
          <p:cNvPr id="44" name="Rectangle 7"/>
          <p:cNvSpPr/>
          <p:nvPr/>
        </p:nvSpPr>
        <p:spPr>
          <a:xfrm>
            <a:off x="2546593" y="4496079"/>
            <a:ext cx="5787510" cy="1432280"/>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lnSpc>
                <a:spcPct val="150000"/>
              </a:lnSpc>
            </a:pPr>
            <a:endParaRPr lang="en-US" altLang="zh-CN" sz="1400" dirty="0" smtClean="0"/>
          </a:p>
        </p:txBody>
      </p:sp>
      <p:sp>
        <p:nvSpPr>
          <p:cNvPr id="43" name="矩形 42"/>
          <p:cNvSpPr/>
          <p:nvPr/>
        </p:nvSpPr>
        <p:spPr>
          <a:xfrm>
            <a:off x="2546593" y="4534456"/>
            <a:ext cx="5758358" cy="1238801"/>
          </a:xfrm>
          <a:prstGeom prst="rect">
            <a:avLst/>
          </a:prstGeom>
        </p:spPr>
        <p:txBody>
          <a:bodyPr wrap="square">
            <a:spAutoFit/>
          </a:bodyPr>
          <a:lstStyle/>
          <a:p>
            <a:pPr algn="just"/>
            <a:r>
              <a:rPr lang="en-US" altLang="zh-CN" sz="1100" b="1" dirty="0" smtClean="0"/>
              <a:t>QS World University Ranking, No.27</a:t>
            </a:r>
            <a:endParaRPr lang="en-US" altLang="zh-CN" sz="1100" b="1" dirty="0"/>
          </a:p>
          <a:p>
            <a:pPr algn="just">
              <a:spcAft>
                <a:spcPts val="0"/>
              </a:spcAft>
            </a:pPr>
            <a:endParaRPr lang="en-US" altLang="zh-CN" sz="1100" kern="100" dirty="0" smtClean="0">
              <a:latin typeface="Calibri" panose="020F0502020204030204" pitchFamily="34" charset="0"/>
              <a:ea typeface="等线" panose="02010600030101010101" charset="-122"/>
              <a:cs typeface="Calibri" panose="020F0502020204030204" pitchFamily="34" charset="0"/>
            </a:endParaRPr>
          </a:p>
          <a:p>
            <a:pPr algn="just"/>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As the institute’s cancer research has been continually making great progress, the need to keep important data safe is highly in demand, let alone it also has strong links with the Christie Hospital – the largest cancer center in Europe, treating more than 40,000 patients per year.</a:t>
            </a:r>
          </a:p>
          <a:p>
            <a:pPr algn="just"/>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They have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Vinchin</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deployed to protect their </a:t>
            </a:r>
            <a:r>
              <a:rPr lang="en-US" altLang="zh-CN" sz="1050" kern="100" dirty="0" err="1">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oVirt</a:t>
            </a:r>
            <a:r>
              <a:rPr lang="en-US"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rPr>
              <a:t> environment with 100+ Virtual Machines running there.</a:t>
            </a:r>
            <a:endParaRPr lang="zh-CN" altLang="zh-CN" sz="1050" kern="100" dirty="0">
              <a:solidFill>
                <a:schemeClr val="bg1">
                  <a:lumMod val="50000"/>
                </a:schemeClr>
              </a:solidFill>
              <a:latin typeface="Calibri" panose="020F0502020204030204" pitchFamily="34" charset="0"/>
              <a:ea typeface="等线" panose="02010600030101010101"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373e2bc7-3c29-4e26-a9ad-6ab434ba18b6"/>
          <p:cNvGrpSpPr>
            <a:grpSpLocks noChangeAspect="1"/>
          </p:cNvGrpSpPr>
          <p:nvPr/>
        </p:nvGrpSpPr>
        <p:grpSpPr>
          <a:xfrm>
            <a:off x="-388506" y="1748881"/>
            <a:ext cx="8703678" cy="4956490"/>
            <a:chOff x="316863" y="2389842"/>
            <a:chExt cx="8703678" cy="4956490"/>
          </a:xfrm>
        </p:grpSpPr>
        <p:grpSp>
          <p:nvGrpSpPr>
            <p:cNvPr id="5" name="Group 7"/>
            <p:cNvGrpSpPr/>
            <p:nvPr/>
          </p:nvGrpSpPr>
          <p:grpSpPr>
            <a:xfrm>
              <a:off x="3170523" y="2389842"/>
              <a:ext cx="5850018" cy="3043394"/>
              <a:chOff x="4886324" y="2414406"/>
              <a:chExt cx="7305675" cy="1360668"/>
            </a:xfrm>
          </p:grpSpPr>
          <p:sp>
            <p:nvSpPr>
              <p:cNvPr id="6" name="Rectangle 8"/>
              <p:cNvSpPr/>
              <p:nvPr/>
            </p:nvSpPr>
            <p:spPr>
              <a:xfrm>
                <a:off x="4886324" y="2414406"/>
                <a:ext cx="7305675" cy="678061"/>
              </a:xfrm>
              <a:prstGeom prst="rect">
                <a:avLst/>
              </a:prstGeom>
            </p:spPr>
            <p:txBody>
              <a:bodyPr wrap="none" anchor="b" anchorCtr="0">
                <a:normAutofit/>
              </a:bodyPr>
              <a:lstStyle/>
              <a:p>
                <a:pPr algn="ctr"/>
                <a:endParaRPr lang="zh-CN" altLang="en-US" b="1" dirty="0">
                  <a:solidFill>
                    <a:schemeClr val="bg1">
                      <a:lumMod val="100000"/>
                    </a:schemeClr>
                  </a:solidFill>
                </a:endParaRPr>
              </a:p>
            </p:txBody>
          </p:sp>
          <p:sp>
            <p:nvSpPr>
              <p:cNvPr id="7" name="Rectangle 9"/>
              <p:cNvSpPr/>
              <p:nvPr/>
            </p:nvSpPr>
            <p:spPr>
              <a:xfrm>
                <a:off x="4886324" y="3097013"/>
                <a:ext cx="7305675" cy="678061"/>
              </a:xfrm>
              <a:prstGeom prst="rect">
                <a:avLst/>
              </a:prstGeom>
            </p:spPr>
            <p:txBody>
              <a:bodyPr wrap="square" anchor="t" anchorCtr="0">
                <a:noAutofit/>
              </a:bodyPr>
              <a:lstStyle/>
              <a:p>
                <a:pPr algn="ctr">
                  <a:lnSpc>
                    <a:spcPct val="120000"/>
                  </a:lnSpc>
                </a:pPr>
                <a:endParaRPr lang="zh-CN" altLang="en-US" sz="1400" dirty="0">
                  <a:solidFill>
                    <a:schemeClr val="bg1">
                      <a:lumMod val="100000"/>
                    </a:schemeClr>
                  </a:solidFill>
                </a:endParaRPr>
              </a:p>
            </p:txBody>
          </p:sp>
        </p:grpSp>
        <p:sp>
          <p:nvSpPr>
            <p:cNvPr id="9" name="Freeform: Shape 6"/>
            <p:cNvSpPr/>
            <p:nvPr/>
          </p:nvSpPr>
          <p:spPr bwMode="auto">
            <a:xfrm>
              <a:off x="316863" y="6569320"/>
              <a:ext cx="777012" cy="777012"/>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algn="ctr"/>
              <a:endParaRPr/>
            </a:p>
          </p:txBody>
        </p:sp>
      </p:grpSp>
      <p:grpSp>
        <p:nvGrpSpPr>
          <p:cNvPr id="12" name="组合 11"/>
          <p:cNvGrpSpPr/>
          <p:nvPr/>
        </p:nvGrpSpPr>
        <p:grpSpPr>
          <a:xfrm>
            <a:off x="848848" y="255002"/>
            <a:ext cx="5635658" cy="713636"/>
            <a:chOff x="1561776" y="234890"/>
            <a:chExt cx="3482400" cy="713636"/>
          </a:xfrm>
        </p:grpSpPr>
        <p:sp>
          <p:nvSpPr>
            <p:cNvPr id="13" name="文本框 12"/>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Customer Stories</a:t>
              </a:r>
              <a:endParaRPr lang="zh-CN" altLang="en-US" sz="2800" b="1" dirty="0">
                <a:solidFill>
                  <a:schemeClr val="accent2"/>
                </a:solidFill>
                <a:latin typeface="+mn-ea"/>
              </a:endParaRPr>
            </a:p>
          </p:txBody>
        </p:sp>
        <p:sp>
          <p:nvSpPr>
            <p:cNvPr id="14" name="文本框 13"/>
            <p:cNvSpPr txBox="1"/>
            <p:nvPr/>
          </p:nvSpPr>
          <p:spPr>
            <a:xfrm>
              <a:off x="1561776" y="694610"/>
              <a:ext cx="3482400" cy="253916"/>
            </a:xfrm>
            <a:prstGeom prst="rect">
              <a:avLst/>
            </a:prstGeom>
            <a:noFill/>
          </p:spPr>
          <p:txBody>
            <a:bodyPr wrap="square" rtlCol="0">
              <a:spAutoFit/>
              <a:scene3d>
                <a:camera prst="orthographicFront"/>
                <a:lightRig rig="threePt" dir="t"/>
              </a:scene3d>
              <a:sp3d contourW="12700"/>
            </a:bodyPr>
            <a:lstStyle/>
            <a:p>
              <a:r>
                <a:rPr lang="en-US" altLang="zh-CN" sz="1050" dirty="0" smtClean="0">
                  <a:solidFill>
                    <a:schemeClr val="bg1">
                      <a:lumMod val="65000"/>
                    </a:schemeClr>
                  </a:solidFill>
                  <a:latin typeface="+mj-lt"/>
                </a:rPr>
                <a:t>WE VALUE THE PARTNERSHIP WITH OUR CUSTOMERS</a:t>
              </a:r>
              <a:endParaRPr lang="en-US" altLang="zh-CN" sz="1050" dirty="0">
                <a:solidFill>
                  <a:schemeClr val="bg1">
                    <a:lumMod val="65000"/>
                  </a:schemeClr>
                </a:solidFill>
                <a:latin typeface="+mj-lt"/>
              </a:endParaRPr>
            </a:p>
          </p:txBody>
        </p:sp>
      </p:grpSp>
      <p:sp>
        <p:nvSpPr>
          <p:cNvPr id="15" name="任意多边形: 形状 14"/>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ctangle 8"/>
          <p:cNvSpPr/>
          <p:nvPr/>
        </p:nvSpPr>
        <p:spPr>
          <a:xfrm>
            <a:off x="4198255" y="1456767"/>
            <a:ext cx="3805645" cy="2380123"/>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33" name="Rectangle 8"/>
          <p:cNvSpPr/>
          <p:nvPr/>
        </p:nvSpPr>
        <p:spPr>
          <a:xfrm>
            <a:off x="412401" y="3828612"/>
            <a:ext cx="3794819" cy="2376927"/>
          </a:xfrm>
          <a:prstGeom prst="rect">
            <a:avLst/>
          </a:prstGeom>
          <a:solidFill>
            <a:srgbClr val="4AD1C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endParaRPr lang="en-US" altLang="zh-CN" sz="1200" b="1" dirty="0"/>
          </a:p>
        </p:txBody>
      </p:sp>
      <p:sp>
        <p:nvSpPr>
          <p:cNvPr id="34" name="Rectangle 8"/>
          <p:cNvSpPr/>
          <p:nvPr/>
        </p:nvSpPr>
        <p:spPr>
          <a:xfrm>
            <a:off x="7993075" y="3838779"/>
            <a:ext cx="3805949" cy="2376927"/>
          </a:xfrm>
          <a:prstGeom prst="rect">
            <a:avLst/>
          </a:prstGeom>
          <a:solidFill>
            <a:srgbClr val="1F6F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1400" b="1" dirty="0">
              <a:solidFill>
                <a:schemeClr val="tx1"/>
              </a:solidFill>
              <a:latin typeface="Calibri" panose="020F0502020204030204" pitchFamily="34" charset="0"/>
              <a:cs typeface="Calibri" panose="020F0502020204030204" pitchFamily="34" charset="0"/>
            </a:endParaRPr>
          </a:p>
        </p:txBody>
      </p:sp>
      <p:sp>
        <p:nvSpPr>
          <p:cNvPr id="11" name="矩形 10"/>
          <p:cNvSpPr/>
          <p:nvPr/>
        </p:nvSpPr>
        <p:spPr>
          <a:xfrm>
            <a:off x="4392707" y="1906056"/>
            <a:ext cx="3325906" cy="1661993"/>
          </a:xfrm>
          <a:prstGeom prst="rect">
            <a:avLst/>
          </a:prstGeom>
        </p:spPr>
        <p:txBody>
          <a:bodyPr wrap="square">
            <a:spAutoFit/>
          </a:bodyPr>
          <a:lstStyle/>
          <a:p>
            <a:r>
              <a:rPr lang="en-US" altLang="zh-CN" sz="2400" b="1" dirty="0">
                <a:solidFill>
                  <a:schemeClr val="bg1"/>
                </a:solidFill>
                <a:latin typeface="Calibri" panose="020F0502020204030204" pitchFamily="34" charset="0"/>
                <a:cs typeface="Calibri" panose="020F0502020204030204" pitchFamily="34" charset="0"/>
              </a:rPr>
              <a:t>Executive Environment </a:t>
            </a:r>
            <a:r>
              <a:rPr lang="en-US" altLang="zh-CN" sz="2400" b="1" dirty="0" smtClean="0">
                <a:solidFill>
                  <a:schemeClr val="bg1"/>
                </a:solidFill>
                <a:latin typeface="Calibri" panose="020F0502020204030204" pitchFamily="34" charset="0"/>
                <a:cs typeface="Calibri" panose="020F0502020204030204" pitchFamily="34" charset="0"/>
              </a:rPr>
              <a:t>Agency</a:t>
            </a:r>
            <a:r>
              <a:rPr lang="en-US" altLang="zh-CN" sz="2400" b="1" dirty="0">
                <a:solidFill>
                  <a:schemeClr val="bg1"/>
                </a:solidFill>
                <a:latin typeface="Calibri" panose="020F0502020204030204" pitchFamily="34" charset="0"/>
                <a:cs typeface="Calibri" panose="020F0502020204030204" pitchFamily="34" charset="0"/>
              </a:rPr>
              <a:t>,</a:t>
            </a:r>
            <a:r>
              <a:rPr lang="en-US" altLang="zh-CN" sz="2400" b="1" dirty="0" smtClean="0">
                <a:solidFill>
                  <a:schemeClr val="bg1"/>
                </a:solidFill>
                <a:latin typeface="Calibri" panose="020F0502020204030204" pitchFamily="34" charset="0"/>
                <a:cs typeface="Calibri" panose="020F0502020204030204" pitchFamily="34" charset="0"/>
              </a:rPr>
              <a:t> Bulgaria</a:t>
            </a:r>
          </a:p>
          <a:p>
            <a:endParaRPr lang="en-US" altLang="zh-CN" sz="1200" dirty="0" smtClean="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National Reference Centre within the </a:t>
            </a:r>
            <a:r>
              <a:rPr lang="en-US" altLang="zh-CN" sz="1400" dirty="0" smtClean="0">
                <a:solidFill>
                  <a:schemeClr val="bg1"/>
                </a:solidFill>
                <a:latin typeface="Calibri" panose="020F0502020204030204" pitchFamily="34" charset="0"/>
                <a:cs typeface="Calibri" panose="020F0502020204030204" pitchFamily="34" charset="0"/>
              </a:rPr>
              <a:t>European Environment Agency (EEA),</a:t>
            </a:r>
            <a:endParaRPr lang="en-US" altLang="zh-CN" sz="1400" dirty="0">
              <a:solidFill>
                <a:schemeClr val="bg1"/>
              </a:solidFill>
              <a:latin typeface="Calibri" panose="020F0502020204030204" pitchFamily="34" charset="0"/>
              <a:cs typeface="Calibri" panose="020F0502020204030204" pitchFamily="34" charset="0"/>
            </a:endParaRPr>
          </a:p>
          <a:p>
            <a:r>
              <a:rPr lang="en-US" altLang="zh-CN" sz="1400" dirty="0" smtClean="0">
                <a:solidFill>
                  <a:schemeClr val="bg1"/>
                </a:solidFill>
                <a:latin typeface="Calibri" panose="020F0502020204030204" pitchFamily="34" charset="0"/>
                <a:cs typeface="Calibri" panose="020F0502020204030204" pitchFamily="34" charset="0"/>
              </a:rPr>
              <a:t>Member of EPA Network</a:t>
            </a:r>
            <a:endParaRPr lang="en-US" altLang="zh-CN" sz="1400" dirty="0">
              <a:solidFill>
                <a:schemeClr val="bg1"/>
              </a:solidFill>
              <a:latin typeface="Calibri" panose="020F0502020204030204" pitchFamily="34" charset="0"/>
              <a:cs typeface="Calibri" panose="020F0502020204030204" pitchFamily="34" charset="0"/>
            </a:endParaRPr>
          </a:p>
        </p:txBody>
      </p:sp>
      <p:sp>
        <p:nvSpPr>
          <p:cNvPr id="39" name="矩形 38"/>
          <p:cNvSpPr/>
          <p:nvPr/>
        </p:nvSpPr>
        <p:spPr>
          <a:xfrm>
            <a:off x="535083" y="4257800"/>
            <a:ext cx="3509215" cy="1538883"/>
          </a:xfrm>
          <a:prstGeom prst="rect">
            <a:avLst/>
          </a:prstGeom>
        </p:spPr>
        <p:txBody>
          <a:bodyPr wrap="square">
            <a:spAutoFit/>
          </a:bodyPr>
          <a:lstStyle/>
          <a:p>
            <a:r>
              <a:rPr lang="en-US" altLang="zh-CN" sz="2400" b="1" dirty="0" err="1" smtClean="0">
                <a:solidFill>
                  <a:schemeClr val="bg1"/>
                </a:solidFill>
                <a:latin typeface="Calibri" panose="020F0502020204030204" pitchFamily="34" charset="0"/>
                <a:cs typeface="Calibri" panose="020F0502020204030204" pitchFamily="34" charset="0"/>
              </a:rPr>
              <a:t>ThaiHealth</a:t>
            </a:r>
            <a:r>
              <a:rPr lang="en-US" altLang="zh-CN" sz="2400" b="1" dirty="0" smtClean="0">
                <a:solidFill>
                  <a:schemeClr val="bg1"/>
                </a:solidFill>
                <a:latin typeface="Calibri" panose="020F0502020204030204" pitchFamily="34" charset="0"/>
                <a:cs typeface="Calibri" panose="020F0502020204030204" pitchFamily="34" charset="0"/>
              </a:rPr>
              <a:t>, Thailand</a:t>
            </a:r>
            <a:endParaRPr lang="en-US" altLang="zh-CN" sz="2400" b="1" dirty="0">
              <a:solidFill>
                <a:schemeClr val="bg1"/>
              </a:solidFill>
              <a:latin typeface="Calibri" panose="020F0502020204030204" pitchFamily="34" charset="0"/>
              <a:cs typeface="Calibri" panose="020F0502020204030204" pitchFamily="34" charset="0"/>
            </a:endParaRPr>
          </a:p>
          <a:p>
            <a:endParaRPr lang="en-US" altLang="zh-CN" sz="1400" b="1"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An autonomous state agency established by Health Promotion Foundation Act (2001</a:t>
            </a:r>
            <a:r>
              <a:rPr lang="en-US" altLang="zh-CN" sz="1400" dirty="0" smtClean="0">
                <a:solidFill>
                  <a:schemeClr val="bg1"/>
                </a:solidFill>
                <a:latin typeface="Calibri" panose="020F0502020204030204" pitchFamily="34" charset="0"/>
                <a:cs typeface="Calibri" panose="020F0502020204030204" pitchFamily="34" charset="0"/>
              </a:rPr>
              <a:t>)</a:t>
            </a:r>
            <a:r>
              <a:rPr lang="zh-CN" altLang="en-US" sz="1400" dirty="0" smtClean="0">
                <a:solidFill>
                  <a:schemeClr val="bg1"/>
                </a:solidFill>
                <a:latin typeface="Calibri" panose="020F0502020204030204" pitchFamily="34" charset="0"/>
                <a:cs typeface="Calibri" panose="020F0502020204030204" pitchFamily="34" charset="0"/>
              </a:rPr>
              <a:t>，</a:t>
            </a:r>
            <a:r>
              <a:rPr lang="en-US" altLang="zh-CN" sz="1400" dirty="0" smtClean="0">
                <a:solidFill>
                  <a:schemeClr val="bg1"/>
                </a:solidFill>
                <a:latin typeface="Calibri" panose="020F0502020204030204" pitchFamily="34" charset="0"/>
                <a:cs typeface="Calibri" panose="020F0502020204030204" pitchFamily="34" charset="0"/>
              </a:rPr>
              <a:t>Thailand</a:t>
            </a:r>
          </a:p>
          <a:p>
            <a:endParaRPr lang="en-US" altLang="zh-CN" sz="1400" dirty="0">
              <a:solidFill>
                <a:schemeClr val="bg1"/>
              </a:solidFill>
              <a:latin typeface="Calibri" panose="020F0502020204030204" pitchFamily="34" charset="0"/>
              <a:cs typeface="Calibri" panose="020F0502020204030204" pitchFamily="34" charset="0"/>
            </a:endParaRPr>
          </a:p>
        </p:txBody>
      </p:sp>
      <p:sp>
        <p:nvSpPr>
          <p:cNvPr id="45" name="矩形 44"/>
          <p:cNvSpPr/>
          <p:nvPr/>
        </p:nvSpPr>
        <p:spPr>
          <a:xfrm>
            <a:off x="8156671" y="4257800"/>
            <a:ext cx="3509215" cy="1477328"/>
          </a:xfrm>
          <a:prstGeom prst="rect">
            <a:avLst/>
          </a:prstGeom>
        </p:spPr>
        <p:txBody>
          <a:bodyPr wrap="square">
            <a:spAutoFit/>
          </a:bodyPr>
          <a:lstStyle/>
          <a:p>
            <a:r>
              <a:rPr lang="en-US" altLang="zh-CN" sz="2400" b="1" dirty="0" err="1" smtClean="0">
                <a:solidFill>
                  <a:schemeClr val="bg1"/>
                </a:solidFill>
                <a:latin typeface="Calibri" panose="020F0502020204030204" pitchFamily="34" charset="0"/>
                <a:cs typeface="Calibri" panose="020F0502020204030204" pitchFamily="34" charset="0"/>
              </a:rPr>
              <a:t>Powiat</a:t>
            </a:r>
            <a:r>
              <a:rPr lang="en-US" altLang="zh-CN" sz="2400" b="1" dirty="0" smtClean="0">
                <a:solidFill>
                  <a:schemeClr val="bg1"/>
                </a:solidFill>
                <a:latin typeface="Calibri" panose="020F0502020204030204" pitchFamily="34" charset="0"/>
                <a:cs typeface="Calibri" panose="020F0502020204030204" pitchFamily="34" charset="0"/>
              </a:rPr>
              <a:t> </a:t>
            </a:r>
            <a:r>
              <a:rPr lang="en-US" altLang="zh-CN" sz="2400" b="1" dirty="0" err="1" smtClean="0">
                <a:solidFill>
                  <a:schemeClr val="bg1"/>
                </a:solidFill>
                <a:latin typeface="Calibri" panose="020F0502020204030204" pitchFamily="34" charset="0"/>
                <a:cs typeface="Calibri" panose="020F0502020204030204" pitchFamily="34" charset="0"/>
              </a:rPr>
              <a:t>Jaroc</a:t>
            </a:r>
            <a:r>
              <a:rPr lang="en-US" altLang="zh-CN" sz="2000" b="1" dirty="0" err="1" smtClean="0">
                <a:solidFill>
                  <a:schemeClr val="bg1"/>
                </a:solidFill>
                <a:latin typeface="Calibri" panose="020F0502020204030204" pitchFamily="34" charset="0"/>
                <a:cs typeface="Calibri" panose="020F0502020204030204" pitchFamily="34" charset="0"/>
              </a:rPr>
              <a:t>i</a:t>
            </a:r>
            <a:r>
              <a:rPr lang="en-US" altLang="zh-CN" sz="2000" b="1" dirty="0" err="1">
                <a:solidFill>
                  <a:schemeClr val="bg1"/>
                </a:solidFill>
              </a:rPr>
              <a:t>ń</a:t>
            </a:r>
            <a:r>
              <a:rPr lang="en-US" altLang="zh-CN" sz="2400" b="1" dirty="0" err="1" smtClean="0">
                <a:solidFill>
                  <a:schemeClr val="bg1"/>
                </a:solidFill>
                <a:latin typeface="Calibri" panose="020F0502020204030204" pitchFamily="34" charset="0"/>
                <a:cs typeface="Calibri" panose="020F0502020204030204" pitchFamily="34" charset="0"/>
              </a:rPr>
              <a:t>ski</a:t>
            </a:r>
            <a:endParaRPr lang="en-US" altLang="zh-CN" sz="2400" b="1" dirty="0">
              <a:solidFill>
                <a:schemeClr val="bg1"/>
              </a:solidFill>
              <a:latin typeface="Calibri" panose="020F0502020204030204" pitchFamily="34" charset="0"/>
              <a:cs typeface="Calibri" panose="020F0502020204030204" pitchFamily="34" charset="0"/>
            </a:endParaRPr>
          </a:p>
          <a:p>
            <a:endParaRPr lang="en-US" altLang="zh-CN" sz="2400" b="1"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A</a:t>
            </a:r>
            <a:r>
              <a:rPr lang="en-US" altLang="zh-CN" sz="1400" dirty="0" smtClean="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unit of territorial administration and local government (</a:t>
            </a:r>
            <a:r>
              <a:rPr lang="en-US" altLang="zh-CN" sz="1400" dirty="0" err="1">
                <a:solidFill>
                  <a:schemeClr val="bg1"/>
                </a:solidFill>
                <a:latin typeface="Calibri" panose="020F0502020204030204" pitchFamily="34" charset="0"/>
                <a:cs typeface="Calibri" panose="020F0502020204030204" pitchFamily="34" charset="0"/>
              </a:rPr>
              <a:t>powiat</a:t>
            </a:r>
            <a:r>
              <a:rPr lang="en-US" altLang="zh-CN" sz="1400" dirty="0">
                <a:solidFill>
                  <a:schemeClr val="bg1"/>
                </a:solidFill>
                <a:latin typeface="Calibri" panose="020F0502020204030204" pitchFamily="34" charset="0"/>
                <a:cs typeface="Calibri" panose="020F0502020204030204" pitchFamily="34" charset="0"/>
              </a:rPr>
              <a:t>) in Greater Poland </a:t>
            </a:r>
            <a:r>
              <a:rPr lang="en-US" altLang="zh-CN" sz="1400" dirty="0" err="1">
                <a:solidFill>
                  <a:schemeClr val="bg1"/>
                </a:solidFill>
                <a:latin typeface="Calibri" panose="020F0502020204030204" pitchFamily="34" charset="0"/>
                <a:cs typeface="Calibri" panose="020F0502020204030204" pitchFamily="34" charset="0"/>
              </a:rPr>
              <a:t>Voivodeship</a:t>
            </a:r>
            <a:r>
              <a:rPr lang="en-US" altLang="zh-CN" sz="1400" dirty="0">
                <a:solidFill>
                  <a:schemeClr val="bg1"/>
                </a:solidFill>
                <a:latin typeface="Calibri" panose="020F0502020204030204" pitchFamily="34" charset="0"/>
                <a:cs typeface="Calibri" panose="020F0502020204030204" pitchFamily="34" charset="0"/>
              </a:rPr>
              <a:t>, west-central Poland</a:t>
            </a:r>
            <a:endParaRPr lang="en-US" altLang="zh-CN" sz="1400" b="1" dirty="0">
              <a:solidFill>
                <a:schemeClr val="bg1"/>
              </a:solidFill>
              <a:latin typeface="Calibri" panose="020F0502020204030204" pitchFamily="34" charset="0"/>
              <a:cs typeface="Calibri" panose="020F0502020204030204" pitchFamily="34" charset="0"/>
            </a:endParaRPr>
          </a:p>
        </p:txBody>
      </p:sp>
      <p:pic>
        <p:nvPicPr>
          <p:cNvPr id="1040" name="Picture 16" descr="A personal message to the smok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054" y="1459204"/>
            <a:ext cx="3793131" cy="2372882"/>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https://www.vinchin.com/res/img/upload/image/20210125/1611552247558562.jpg"/>
          <p:cNvPicPr>
            <a:picLocks noChangeAspect="1" noChangeArrowheads="1"/>
          </p:cNvPicPr>
          <p:nvPr/>
        </p:nvPicPr>
        <p:blipFill>
          <a:blip r:embed="rId4"/>
          <a:srcRect/>
          <a:stretch>
            <a:fillRect/>
          </a:stretch>
        </p:blipFill>
        <p:spPr bwMode="auto">
          <a:xfrm>
            <a:off x="4205250" y="3826415"/>
            <a:ext cx="3798649" cy="2372472"/>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https://www.vinchin.com/res/img/upload/image/20200911/1599813412135813.jpg"/>
          <p:cNvPicPr>
            <a:picLocks noChangeAspect="1" noChangeArrowheads="1"/>
          </p:cNvPicPr>
          <p:nvPr/>
        </p:nvPicPr>
        <p:blipFill>
          <a:blip r:embed="rId5"/>
          <a:srcRect/>
          <a:stretch>
            <a:fillRect/>
          </a:stretch>
        </p:blipFill>
        <p:spPr bwMode="auto">
          <a:xfrm>
            <a:off x="8007073" y="1459963"/>
            <a:ext cx="3782681" cy="23769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373e2bc7-3c29-4e26-a9ad-6ab434ba18b6"/>
          <p:cNvGrpSpPr>
            <a:grpSpLocks noChangeAspect="1"/>
          </p:cNvGrpSpPr>
          <p:nvPr/>
        </p:nvGrpSpPr>
        <p:grpSpPr>
          <a:xfrm>
            <a:off x="-388506" y="1748881"/>
            <a:ext cx="8703678" cy="4956490"/>
            <a:chOff x="316863" y="2389842"/>
            <a:chExt cx="8703678" cy="4956490"/>
          </a:xfrm>
        </p:grpSpPr>
        <p:grpSp>
          <p:nvGrpSpPr>
            <p:cNvPr id="5" name="Group 7"/>
            <p:cNvGrpSpPr/>
            <p:nvPr/>
          </p:nvGrpSpPr>
          <p:grpSpPr>
            <a:xfrm>
              <a:off x="3170523" y="2389842"/>
              <a:ext cx="5850018" cy="3043394"/>
              <a:chOff x="4886324" y="2414406"/>
              <a:chExt cx="7305675" cy="1360668"/>
            </a:xfrm>
          </p:grpSpPr>
          <p:sp>
            <p:nvSpPr>
              <p:cNvPr id="6" name="Rectangle 8"/>
              <p:cNvSpPr/>
              <p:nvPr/>
            </p:nvSpPr>
            <p:spPr>
              <a:xfrm>
                <a:off x="4886324" y="2414406"/>
                <a:ext cx="7305675" cy="678061"/>
              </a:xfrm>
              <a:prstGeom prst="rect">
                <a:avLst/>
              </a:prstGeom>
            </p:spPr>
            <p:txBody>
              <a:bodyPr wrap="none" anchor="b" anchorCtr="0">
                <a:normAutofit/>
              </a:bodyPr>
              <a:lstStyle/>
              <a:p>
                <a:pPr algn="ctr"/>
                <a:endParaRPr lang="zh-CN" altLang="en-US" b="1" dirty="0">
                  <a:solidFill>
                    <a:schemeClr val="bg1">
                      <a:lumMod val="100000"/>
                    </a:schemeClr>
                  </a:solidFill>
                </a:endParaRPr>
              </a:p>
            </p:txBody>
          </p:sp>
          <p:sp>
            <p:nvSpPr>
              <p:cNvPr id="7" name="Rectangle 9"/>
              <p:cNvSpPr/>
              <p:nvPr/>
            </p:nvSpPr>
            <p:spPr>
              <a:xfrm>
                <a:off x="4886324" y="3097013"/>
                <a:ext cx="7305675" cy="678061"/>
              </a:xfrm>
              <a:prstGeom prst="rect">
                <a:avLst/>
              </a:prstGeom>
            </p:spPr>
            <p:txBody>
              <a:bodyPr wrap="square" anchor="t" anchorCtr="0">
                <a:noAutofit/>
              </a:bodyPr>
              <a:lstStyle/>
              <a:p>
                <a:pPr algn="ctr">
                  <a:lnSpc>
                    <a:spcPct val="120000"/>
                  </a:lnSpc>
                </a:pPr>
                <a:endParaRPr lang="zh-CN" altLang="en-US" sz="1400" dirty="0">
                  <a:solidFill>
                    <a:schemeClr val="bg1">
                      <a:lumMod val="100000"/>
                    </a:schemeClr>
                  </a:solidFill>
                </a:endParaRPr>
              </a:p>
            </p:txBody>
          </p:sp>
        </p:grpSp>
        <p:sp>
          <p:nvSpPr>
            <p:cNvPr id="9" name="Freeform: Shape 6"/>
            <p:cNvSpPr/>
            <p:nvPr/>
          </p:nvSpPr>
          <p:spPr bwMode="auto">
            <a:xfrm>
              <a:off x="316863" y="6569320"/>
              <a:ext cx="777012" cy="777012"/>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algn="ctr"/>
              <a:endParaRPr/>
            </a:p>
          </p:txBody>
        </p:sp>
      </p:grpSp>
      <p:sp>
        <p:nvSpPr>
          <p:cNvPr id="15" name="任意多边形: 形状 14"/>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ctangle 8"/>
          <p:cNvSpPr/>
          <p:nvPr/>
        </p:nvSpPr>
        <p:spPr>
          <a:xfrm>
            <a:off x="4198255" y="1459965"/>
            <a:ext cx="3805645" cy="2376925"/>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pic>
        <p:nvPicPr>
          <p:cNvPr id="2" name="Picture 2" descr="https://gimg2.baidu.com/image_search/src=http%3A%2F%2F5b0988e595225.cdn.sohucs.com%2Fimages%2F20190805%2F13cb3c70283b4231a5bcea18e54e2e29.JPG&amp;refer=http%3A%2F%2F5b0988e595225.cdn.sohucs.com&amp;app=2002&amp;size=f9999,10000&amp;q=a80&amp;n=0&amp;g=0n&amp;fmt=jpeg?sec=1617181418&amp;t=f0c6af7f1364696af1095dd2055f690b"/>
          <p:cNvPicPr>
            <a:picLocks noChangeAspect="1" noChangeArrowheads="1"/>
          </p:cNvPicPr>
          <p:nvPr/>
        </p:nvPicPr>
        <p:blipFill>
          <a:blip r:embed="rId3"/>
          <a:srcRect/>
          <a:stretch>
            <a:fillRect/>
          </a:stretch>
        </p:blipFill>
        <p:spPr bwMode="auto">
          <a:xfrm>
            <a:off x="392610" y="1451685"/>
            <a:ext cx="3805645" cy="237692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ss2.bdstatic.com/70cFvnSh_Q1YnxGkpoWK1HF6hhy/it/u=2681684914,966551092&amp;fm=26&amp;gp=0.jpg"/>
          <p:cNvPicPr>
            <a:picLocks noChangeAspect="1" noChangeArrowheads="1"/>
          </p:cNvPicPr>
          <p:nvPr/>
        </p:nvPicPr>
        <p:blipFill>
          <a:blip r:embed="rId4"/>
          <a:srcRect/>
          <a:stretch>
            <a:fillRect/>
          </a:stretch>
        </p:blipFill>
        <p:spPr bwMode="auto">
          <a:xfrm>
            <a:off x="4198255" y="3838780"/>
            <a:ext cx="3795124" cy="2376926"/>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8"/>
          <p:cNvSpPr/>
          <p:nvPr/>
        </p:nvSpPr>
        <p:spPr>
          <a:xfrm>
            <a:off x="403436" y="3828612"/>
            <a:ext cx="3794819" cy="2376927"/>
          </a:xfrm>
          <a:prstGeom prst="rect">
            <a:avLst/>
          </a:prstGeom>
          <a:solidFill>
            <a:srgbClr val="4AD1C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endParaRPr lang="en-US" altLang="zh-CN" sz="1200" b="1" dirty="0"/>
          </a:p>
        </p:txBody>
      </p:sp>
      <p:sp>
        <p:nvSpPr>
          <p:cNvPr id="34" name="Rectangle 8"/>
          <p:cNvSpPr/>
          <p:nvPr/>
        </p:nvSpPr>
        <p:spPr>
          <a:xfrm>
            <a:off x="7993075" y="3838779"/>
            <a:ext cx="3805949" cy="2376927"/>
          </a:xfrm>
          <a:prstGeom prst="rect">
            <a:avLst/>
          </a:prstGeom>
          <a:solidFill>
            <a:srgbClr val="1F6F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1400" b="1" dirty="0">
              <a:solidFill>
                <a:schemeClr val="tx1"/>
              </a:solidFill>
              <a:latin typeface="Calibri" panose="020F0502020204030204" pitchFamily="34" charset="0"/>
              <a:cs typeface="Calibri" panose="020F0502020204030204" pitchFamily="34" charset="0"/>
            </a:endParaRPr>
          </a:p>
        </p:txBody>
      </p:sp>
      <p:pic>
        <p:nvPicPr>
          <p:cNvPr id="10" name="图片 9"/>
          <p:cNvPicPr>
            <a:picLocks noChangeAspect="1"/>
          </p:cNvPicPr>
          <p:nvPr/>
        </p:nvPicPr>
        <p:blipFill>
          <a:blip r:embed="rId5"/>
          <a:stretch>
            <a:fillRect/>
          </a:stretch>
        </p:blipFill>
        <p:spPr>
          <a:xfrm>
            <a:off x="7993379" y="1461854"/>
            <a:ext cx="3805645" cy="2376924"/>
          </a:xfrm>
          <a:prstGeom prst="rect">
            <a:avLst/>
          </a:prstGeom>
        </p:spPr>
      </p:pic>
      <p:sp>
        <p:nvSpPr>
          <p:cNvPr id="11" name="矩形 10"/>
          <p:cNvSpPr/>
          <p:nvPr/>
        </p:nvSpPr>
        <p:spPr>
          <a:xfrm>
            <a:off x="4359277" y="1814631"/>
            <a:ext cx="3591033" cy="1477328"/>
          </a:xfrm>
          <a:prstGeom prst="rect">
            <a:avLst/>
          </a:prstGeom>
        </p:spPr>
        <p:txBody>
          <a:bodyPr wrap="square">
            <a:spAutoFit/>
          </a:bodyPr>
          <a:lstStyle/>
          <a:p>
            <a:r>
              <a:rPr lang="en-US" altLang="zh-CN" sz="2400" b="1" dirty="0" err="1" smtClean="0">
                <a:solidFill>
                  <a:schemeClr val="bg1"/>
                </a:solidFill>
                <a:latin typeface="Calibri" panose="020F0502020204030204" pitchFamily="34" charset="0"/>
                <a:cs typeface="Calibri" panose="020F0502020204030204" pitchFamily="34" charset="0"/>
              </a:rPr>
              <a:t>Fìdoka</a:t>
            </a:r>
            <a:r>
              <a:rPr lang="en-US" altLang="zh-CN" sz="2400" b="1" dirty="0" smtClean="0">
                <a:solidFill>
                  <a:schemeClr val="bg1"/>
                </a:solidFill>
                <a:latin typeface="Calibri" panose="020F0502020204030204" pitchFamily="34" charset="0"/>
                <a:cs typeface="Calibri" panose="020F0502020204030204" pitchFamily="34" charset="0"/>
              </a:rPr>
              <a:t>, Italy</a:t>
            </a:r>
          </a:p>
          <a:p>
            <a:endParaRPr lang="en-US" altLang="zh-CN" sz="2400" dirty="0">
              <a:solidFill>
                <a:schemeClr val="bg1"/>
              </a:solidFill>
              <a:latin typeface="Calibri" panose="020F0502020204030204" pitchFamily="34" charset="0"/>
              <a:cs typeface="Calibri" panose="020F0502020204030204" pitchFamily="34" charset="0"/>
            </a:endParaRPr>
          </a:p>
          <a:p>
            <a:r>
              <a:rPr lang="en-US" altLang="zh-CN" sz="1400" dirty="0" smtClean="0">
                <a:solidFill>
                  <a:schemeClr val="bg1"/>
                </a:solidFill>
                <a:latin typeface="Calibri" panose="020F0502020204030204" pitchFamily="34" charset="0"/>
                <a:cs typeface="Calibri" panose="020F0502020204030204" pitchFamily="34" charset="0"/>
              </a:rPr>
              <a:t>Italian </a:t>
            </a:r>
            <a:r>
              <a:rPr lang="en-US" altLang="zh-CN" sz="1400" dirty="0">
                <a:solidFill>
                  <a:schemeClr val="bg1"/>
                </a:solidFill>
                <a:latin typeface="Calibri" panose="020F0502020204030204" pitchFamily="34" charset="0"/>
                <a:cs typeface="Calibri" panose="020F0502020204030204" pitchFamily="34" charset="0"/>
              </a:rPr>
              <a:t>widely known telecommunication </a:t>
            </a:r>
            <a:r>
              <a:rPr lang="en-US" altLang="zh-CN" sz="1400" dirty="0" smtClean="0">
                <a:solidFill>
                  <a:schemeClr val="bg1"/>
                </a:solidFill>
                <a:latin typeface="Calibri" panose="020F0502020204030204" pitchFamily="34" charset="0"/>
                <a:cs typeface="Calibri" panose="020F0502020204030204" pitchFamily="34" charset="0"/>
              </a:rPr>
              <a:t>company, established </a:t>
            </a:r>
            <a:r>
              <a:rPr lang="en-US" altLang="zh-CN" sz="1400" dirty="0">
                <a:solidFill>
                  <a:schemeClr val="bg1"/>
                </a:solidFill>
                <a:latin typeface="Calibri" panose="020F0502020204030204" pitchFamily="34" charset="0"/>
                <a:cs typeface="Calibri" panose="020F0502020204030204" pitchFamily="34" charset="0"/>
              </a:rPr>
              <a:t>over 300 base stations in </a:t>
            </a:r>
            <a:r>
              <a:rPr lang="en-US" altLang="zh-CN" sz="1400" dirty="0" smtClean="0">
                <a:solidFill>
                  <a:schemeClr val="bg1"/>
                </a:solidFill>
                <a:latin typeface="Calibri" panose="020F0502020204030204" pitchFamily="34" charset="0"/>
                <a:cs typeface="Calibri" panose="020F0502020204030204" pitchFamily="34" charset="0"/>
              </a:rPr>
              <a:t>the Marche Region, Italy</a:t>
            </a:r>
            <a:endParaRPr lang="en-US" altLang="zh-CN" sz="1400" dirty="0">
              <a:solidFill>
                <a:schemeClr val="bg1"/>
              </a:solidFill>
              <a:latin typeface="Calibri" panose="020F0502020204030204" pitchFamily="34" charset="0"/>
              <a:cs typeface="Calibri" panose="020F0502020204030204" pitchFamily="34" charset="0"/>
            </a:endParaRPr>
          </a:p>
        </p:txBody>
      </p:sp>
      <p:sp>
        <p:nvSpPr>
          <p:cNvPr id="39" name="矩形 38"/>
          <p:cNvSpPr/>
          <p:nvPr/>
        </p:nvSpPr>
        <p:spPr>
          <a:xfrm>
            <a:off x="535083" y="4257800"/>
            <a:ext cx="3509215" cy="1107996"/>
          </a:xfrm>
          <a:prstGeom prst="rect">
            <a:avLst/>
          </a:prstGeom>
        </p:spPr>
        <p:txBody>
          <a:bodyPr wrap="square">
            <a:spAutoFit/>
          </a:bodyPr>
          <a:lstStyle/>
          <a:p>
            <a:r>
              <a:rPr lang="en-US" altLang="zh-CN" sz="2400" b="1" dirty="0">
                <a:solidFill>
                  <a:schemeClr val="bg1"/>
                </a:solidFill>
                <a:latin typeface="Calibri" panose="020F0502020204030204" pitchFamily="34" charset="0"/>
                <a:cs typeface="Calibri" panose="020F0502020204030204" pitchFamily="34" charset="0"/>
              </a:rPr>
              <a:t>China Telecom</a:t>
            </a:r>
          </a:p>
          <a:p>
            <a:endParaRPr lang="en-US" altLang="zh-CN" sz="1400" b="1"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Fortune Global 500 (2020) ranking, No. </a:t>
            </a:r>
            <a:r>
              <a:rPr lang="en-US" altLang="zh-CN" sz="1400" dirty="0" smtClean="0">
                <a:solidFill>
                  <a:schemeClr val="bg1"/>
                </a:solidFill>
                <a:latin typeface="Calibri" panose="020F0502020204030204" pitchFamily="34" charset="0"/>
                <a:cs typeface="Calibri" panose="020F0502020204030204" pitchFamily="34" charset="0"/>
              </a:rPr>
              <a:t>158,</a:t>
            </a:r>
            <a:endParaRPr lang="en-US" altLang="zh-CN" sz="1400"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One of China’s three major telecom </a:t>
            </a:r>
            <a:r>
              <a:rPr lang="en-US" altLang="zh-CN" sz="1400" dirty="0" smtClean="0">
                <a:solidFill>
                  <a:schemeClr val="bg1"/>
                </a:solidFill>
                <a:latin typeface="Calibri" panose="020F0502020204030204" pitchFamily="34" charset="0"/>
                <a:cs typeface="Calibri" panose="020F0502020204030204" pitchFamily="34" charset="0"/>
              </a:rPr>
              <a:t>operators</a:t>
            </a:r>
            <a:endParaRPr lang="en-US" altLang="zh-CN" sz="1400" dirty="0">
              <a:solidFill>
                <a:schemeClr val="bg1"/>
              </a:solidFill>
              <a:latin typeface="Calibri" panose="020F0502020204030204" pitchFamily="34" charset="0"/>
              <a:cs typeface="Calibri" panose="020F0502020204030204" pitchFamily="34" charset="0"/>
            </a:endParaRPr>
          </a:p>
        </p:txBody>
      </p:sp>
      <p:pic>
        <p:nvPicPr>
          <p:cNvPr id="17" name="图片 16"/>
          <p:cNvPicPr>
            <a:picLocks noChangeAspect="1"/>
          </p:cNvPicPr>
          <p:nvPr/>
        </p:nvPicPr>
        <p:blipFill>
          <a:blip r:embed="rId6"/>
          <a:stretch>
            <a:fillRect/>
          </a:stretch>
        </p:blipFill>
        <p:spPr>
          <a:xfrm>
            <a:off x="4198255" y="3836890"/>
            <a:ext cx="3804459" cy="2376927"/>
          </a:xfrm>
          <a:prstGeom prst="rect">
            <a:avLst/>
          </a:prstGeom>
        </p:spPr>
      </p:pic>
      <p:sp>
        <p:nvSpPr>
          <p:cNvPr id="45" name="矩形 44"/>
          <p:cNvSpPr/>
          <p:nvPr/>
        </p:nvSpPr>
        <p:spPr>
          <a:xfrm>
            <a:off x="8156671" y="4257800"/>
            <a:ext cx="3509215" cy="1261884"/>
          </a:xfrm>
          <a:prstGeom prst="rect">
            <a:avLst/>
          </a:prstGeom>
        </p:spPr>
        <p:txBody>
          <a:bodyPr wrap="square">
            <a:spAutoFit/>
          </a:bodyPr>
          <a:lstStyle/>
          <a:p>
            <a:r>
              <a:rPr lang="en-US" altLang="zh-CN" sz="2400" b="1" dirty="0">
                <a:solidFill>
                  <a:schemeClr val="bg1"/>
                </a:solidFill>
                <a:latin typeface="Calibri" panose="020F0502020204030204" pitchFamily="34" charset="0"/>
                <a:cs typeface="Calibri" panose="020F0502020204030204" pitchFamily="34" charset="0"/>
              </a:rPr>
              <a:t>China Mobile</a:t>
            </a:r>
          </a:p>
          <a:p>
            <a:endParaRPr lang="en-US" altLang="zh-CN" sz="2400" b="1"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Fortune Global 500 (2020) ranking, No. </a:t>
            </a:r>
            <a:r>
              <a:rPr lang="en-US" altLang="zh-CN" sz="1400" dirty="0" smtClean="0">
                <a:solidFill>
                  <a:schemeClr val="bg1"/>
                </a:solidFill>
                <a:latin typeface="Calibri" panose="020F0502020204030204" pitchFamily="34" charset="0"/>
                <a:cs typeface="Calibri" panose="020F0502020204030204" pitchFamily="34" charset="0"/>
              </a:rPr>
              <a:t>65,</a:t>
            </a:r>
            <a:endParaRPr lang="en-US" altLang="zh-CN" sz="1400"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One of China’s three major telecom operators</a:t>
            </a:r>
          </a:p>
        </p:txBody>
      </p:sp>
      <p:pic>
        <p:nvPicPr>
          <p:cNvPr id="2050" name="Picture 2" descr="https://www.vinchin.com/res/img/upload/image/20190129/1548755234598226.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4152" y="3826722"/>
            <a:ext cx="3805158" cy="238709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组合 22"/>
          <p:cNvGrpSpPr/>
          <p:nvPr/>
        </p:nvGrpSpPr>
        <p:grpSpPr>
          <a:xfrm>
            <a:off x="848848" y="255002"/>
            <a:ext cx="5635658" cy="713636"/>
            <a:chOff x="1561776" y="234890"/>
            <a:chExt cx="3482400" cy="713636"/>
          </a:xfrm>
        </p:grpSpPr>
        <p:sp>
          <p:nvSpPr>
            <p:cNvPr id="25" name="文本框 24"/>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Customer Stories</a:t>
              </a:r>
              <a:endParaRPr lang="zh-CN" altLang="en-US" sz="2800" b="1" dirty="0">
                <a:solidFill>
                  <a:schemeClr val="accent2"/>
                </a:solidFill>
                <a:latin typeface="+mn-ea"/>
              </a:endParaRPr>
            </a:p>
          </p:txBody>
        </p:sp>
        <p:sp>
          <p:nvSpPr>
            <p:cNvPr id="26" name="文本框 25"/>
            <p:cNvSpPr txBox="1"/>
            <p:nvPr/>
          </p:nvSpPr>
          <p:spPr>
            <a:xfrm>
              <a:off x="1561776" y="694610"/>
              <a:ext cx="3482400" cy="253916"/>
            </a:xfrm>
            <a:prstGeom prst="rect">
              <a:avLst/>
            </a:prstGeom>
            <a:noFill/>
          </p:spPr>
          <p:txBody>
            <a:bodyPr wrap="square" rtlCol="0">
              <a:spAutoFit/>
              <a:scene3d>
                <a:camera prst="orthographicFront"/>
                <a:lightRig rig="threePt" dir="t"/>
              </a:scene3d>
              <a:sp3d contourW="12700"/>
            </a:bodyPr>
            <a:lstStyle/>
            <a:p>
              <a:r>
                <a:rPr lang="en-US" altLang="zh-CN" sz="1050" dirty="0" smtClean="0">
                  <a:solidFill>
                    <a:schemeClr val="bg1">
                      <a:lumMod val="65000"/>
                    </a:schemeClr>
                  </a:solidFill>
                  <a:latin typeface="+mj-lt"/>
                </a:rPr>
                <a:t>WE VALUE THE PARTNERSHIP WITH OUR CUSTOMERS</a:t>
              </a:r>
              <a:endParaRPr lang="en-US" altLang="zh-CN" sz="1050" dirty="0">
                <a:solidFill>
                  <a:schemeClr val="bg1">
                    <a:lumMod val="65000"/>
                  </a:schemeClr>
                </a:solidFill>
                <a:latin typeface="+mj-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形状 14"/>
          <p:cNvSpPr/>
          <p:nvPr/>
        </p:nvSpPr>
        <p:spPr>
          <a:xfrm>
            <a:off x="0" y="0"/>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flipV="1">
            <a:off x="11625942" y="6223861"/>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8156671" y="4257800"/>
            <a:ext cx="3509215" cy="1261884"/>
          </a:xfrm>
          <a:prstGeom prst="rect">
            <a:avLst/>
          </a:prstGeom>
        </p:spPr>
        <p:txBody>
          <a:bodyPr wrap="square">
            <a:spAutoFit/>
          </a:bodyPr>
          <a:lstStyle/>
          <a:p>
            <a:r>
              <a:rPr lang="en-US" altLang="zh-CN" sz="2400" b="1" dirty="0">
                <a:solidFill>
                  <a:schemeClr val="bg1"/>
                </a:solidFill>
                <a:latin typeface="Calibri" panose="020F0502020204030204" pitchFamily="34" charset="0"/>
                <a:cs typeface="Calibri" panose="020F0502020204030204" pitchFamily="34" charset="0"/>
              </a:rPr>
              <a:t>China Mobile</a:t>
            </a:r>
          </a:p>
          <a:p>
            <a:endParaRPr lang="en-US" altLang="zh-CN" sz="2400" b="1"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Fortune Global 500 (2020) ranking, No. </a:t>
            </a:r>
            <a:r>
              <a:rPr lang="en-US" altLang="zh-CN" sz="1400" dirty="0" smtClean="0">
                <a:solidFill>
                  <a:schemeClr val="bg1"/>
                </a:solidFill>
                <a:latin typeface="Calibri" panose="020F0502020204030204" pitchFamily="34" charset="0"/>
                <a:cs typeface="Calibri" panose="020F0502020204030204" pitchFamily="34" charset="0"/>
              </a:rPr>
              <a:t>65,</a:t>
            </a:r>
            <a:endParaRPr lang="en-US" altLang="zh-CN" sz="1400"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One of China’s three major telecom operators</a:t>
            </a:r>
          </a:p>
        </p:txBody>
      </p:sp>
      <p:grpSp>
        <p:nvGrpSpPr>
          <p:cNvPr id="23" name="组合 22"/>
          <p:cNvGrpSpPr/>
          <p:nvPr/>
        </p:nvGrpSpPr>
        <p:grpSpPr>
          <a:xfrm>
            <a:off x="848848" y="255002"/>
            <a:ext cx="5635658" cy="713636"/>
            <a:chOff x="1561776" y="234890"/>
            <a:chExt cx="3482400" cy="713636"/>
          </a:xfrm>
        </p:grpSpPr>
        <p:sp>
          <p:nvSpPr>
            <p:cNvPr id="25" name="文本框 24"/>
            <p:cNvSpPr txBox="1"/>
            <p:nvPr/>
          </p:nvSpPr>
          <p:spPr>
            <a:xfrm>
              <a:off x="1561776" y="234890"/>
              <a:ext cx="3302324" cy="523220"/>
            </a:xfrm>
            <a:prstGeom prst="rect">
              <a:avLst/>
            </a:prstGeom>
            <a:noFill/>
          </p:spPr>
          <p:txBody>
            <a:bodyPr wrap="square" rtlCol="0">
              <a:spAutoFit/>
              <a:scene3d>
                <a:camera prst="orthographicFront"/>
                <a:lightRig rig="threePt" dir="t"/>
              </a:scene3d>
              <a:sp3d contourW="12700"/>
            </a:bodyPr>
            <a:lstStyle/>
            <a:p>
              <a:r>
                <a:rPr lang="en-US" altLang="zh-CN" sz="2800" b="1" dirty="0" smtClean="0">
                  <a:solidFill>
                    <a:schemeClr val="tx1">
                      <a:lumMod val="75000"/>
                      <a:lumOff val="25000"/>
                    </a:schemeClr>
                  </a:solidFill>
                  <a:latin typeface="+mn-ea"/>
                </a:rPr>
                <a:t>Customer Stories</a:t>
              </a:r>
              <a:endParaRPr lang="zh-CN" altLang="en-US" sz="2800" b="1" dirty="0">
                <a:solidFill>
                  <a:schemeClr val="accent2"/>
                </a:solidFill>
                <a:latin typeface="+mn-ea"/>
              </a:endParaRPr>
            </a:p>
          </p:txBody>
        </p:sp>
        <p:sp>
          <p:nvSpPr>
            <p:cNvPr id="26" name="文本框 25"/>
            <p:cNvSpPr txBox="1"/>
            <p:nvPr/>
          </p:nvSpPr>
          <p:spPr>
            <a:xfrm>
              <a:off x="1561776" y="694610"/>
              <a:ext cx="3482400" cy="253916"/>
            </a:xfrm>
            <a:prstGeom prst="rect">
              <a:avLst/>
            </a:prstGeom>
            <a:noFill/>
          </p:spPr>
          <p:txBody>
            <a:bodyPr wrap="square" rtlCol="0">
              <a:spAutoFit/>
              <a:scene3d>
                <a:camera prst="orthographicFront"/>
                <a:lightRig rig="threePt" dir="t"/>
              </a:scene3d>
              <a:sp3d contourW="12700"/>
            </a:bodyPr>
            <a:lstStyle/>
            <a:p>
              <a:r>
                <a:rPr lang="en-US" altLang="zh-CN" sz="1050" dirty="0" smtClean="0">
                  <a:solidFill>
                    <a:schemeClr val="bg1">
                      <a:lumMod val="65000"/>
                    </a:schemeClr>
                  </a:solidFill>
                  <a:latin typeface="+mj-lt"/>
                </a:rPr>
                <a:t>WE VALUE THE PARTNERSHIP WITH OUR CUSTOMERS</a:t>
              </a:r>
              <a:endParaRPr lang="en-US" altLang="zh-CN" sz="1050" dirty="0">
                <a:solidFill>
                  <a:schemeClr val="bg1">
                    <a:lumMod val="65000"/>
                  </a:schemeClr>
                </a:solidFill>
                <a:latin typeface="+mj-lt"/>
              </a:endParaRPr>
            </a:p>
          </p:txBody>
        </p:sp>
      </p:grpSp>
      <p:grpSp>
        <p:nvGrpSpPr>
          <p:cNvPr id="2049" name="组合 2048"/>
          <p:cNvGrpSpPr/>
          <p:nvPr/>
        </p:nvGrpSpPr>
        <p:grpSpPr>
          <a:xfrm>
            <a:off x="2884000" y="1459966"/>
            <a:ext cx="2378017" cy="1816599"/>
            <a:chOff x="2884000" y="1459966"/>
            <a:chExt cx="2378017" cy="1816599"/>
          </a:xfrm>
        </p:grpSpPr>
        <p:pic>
          <p:nvPicPr>
            <p:cNvPr id="29" name="图片 28"/>
            <p:cNvPicPr>
              <a:picLocks noChangeAspect="1"/>
            </p:cNvPicPr>
            <p:nvPr/>
          </p:nvPicPr>
          <p:blipFill>
            <a:blip r:embed="rId3"/>
            <a:stretch>
              <a:fillRect/>
            </a:stretch>
          </p:blipFill>
          <p:spPr>
            <a:xfrm>
              <a:off x="3163580" y="2527098"/>
              <a:ext cx="1718067" cy="652599"/>
            </a:xfrm>
            <a:prstGeom prst="rect">
              <a:avLst/>
            </a:prstGeom>
          </p:spPr>
        </p:pic>
        <p:sp>
          <p:nvSpPr>
            <p:cNvPr id="32" name="矩形 31"/>
            <p:cNvSpPr/>
            <p:nvPr/>
          </p:nvSpPr>
          <p:spPr>
            <a:xfrm>
              <a:off x="2884000" y="2359551"/>
              <a:ext cx="2378017" cy="917014"/>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ctangle 8"/>
            <p:cNvSpPr/>
            <p:nvPr/>
          </p:nvSpPr>
          <p:spPr>
            <a:xfrm>
              <a:off x="2892722" y="1459966"/>
              <a:ext cx="2369295" cy="91701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36" name="文本框 35"/>
            <p:cNvSpPr txBox="1"/>
            <p:nvPr/>
          </p:nvSpPr>
          <p:spPr>
            <a:xfrm>
              <a:off x="2997692" y="1681735"/>
              <a:ext cx="2264325" cy="584775"/>
            </a:xfrm>
            <a:prstGeom prst="rect">
              <a:avLst/>
            </a:prstGeom>
            <a:noFill/>
          </p:spPr>
          <p:txBody>
            <a:bodyPr wrap="square" rtlCol="0">
              <a:spAutoFit/>
            </a:bodyPr>
            <a:lstStyle/>
            <a:p>
              <a:r>
                <a:rPr lang="en-US" altLang="zh-CN" sz="1100" dirty="0">
                  <a:solidFill>
                    <a:schemeClr val="bg1"/>
                  </a:solidFill>
                  <a:latin typeface="Calibri" panose="020F0502020204030204" pitchFamily="34" charset="0"/>
                  <a:cs typeface="Calibri" panose="020F0502020204030204" pitchFamily="34" charset="0"/>
                </a:rPr>
                <a:t>The </a:t>
              </a:r>
              <a:r>
                <a:rPr lang="en-US" altLang="zh-CN" sz="1600" b="1" dirty="0">
                  <a:solidFill>
                    <a:schemeClr val="bg1"/>
                  </a:solidFill>
                  <a:latin typeface="Calibri" panose="020F0502020204030204" pitchFamily="34" charset="0"/>
                  <a:cs typeface="Calibri" panose="020F0502020204030204" pitchFamily="34" charset="0"/>
                </a:rPr>
                <a:t>largest energy producer</a:t>
              </a:r>
              <a:r>
                <a:rPr lang="en-US" altLang="zh-CN" sz="1100" dirty="0">
                  <a:solidFill>
                    <a:schemeClr val="bg1"/>
                  </a:solidFill>
                  <a:latin typeface="Calibri" panose="020F0502020204030204" pitchFamily="34" charset="0"/>
                  <a:cs typeface="Calibri" panose="020F0502020204030204" pitchFamily="34" charset="0"/>
                </a:rPr>
                <a:t> in eastern Germany</a:t>
              </a:r>
              <a:endParaRPr lang="zh-CN" altLang="en-US" sz="1100" dirty="0">
                <a:solidFill>
                  <a:schemeClr val="bg1"/>
                </a:solidFill>
                <a:latin typeface="Calibri" panose="020F0502020204030204" pitchFamily="34" charset="0"/>
                <a:cs typeface="Calibri" panose="020F0502020204030204" pitchFamily="34" charset="0"/>
              </a:endParaRPr>
            </a:p>
          </p:txBody>
        </p:sp>
      </p:grpSp>
      <p:grpSp>
        <p:nvGrpSpPr>
          <p:cNvPr id="2048" name="组合 2047"/>
          <p:cNvGrpSpPr/>
          <p:nvPr/>
        </p:nvGrpSpPr>
        <p:grpSpPr>
          <a:xfrm>
            <a:off x="418729" y="1459966"/>
            <a:ext cx="2369295" cy="1822664"/>
            <a:chOff x="418729" y="1459966"/>
            <a:chExt cx="2369295" cy="1822664"/>
          </a:xfrm>
        </p:grpSpPr>
        <p:pic>
          <p:nvPicPr>
            <p:cNvPr id="27" name="Picture 2" descr="1603362143511864.png"/>
            <p:cNvPicPr>
              <a:picLocks noChangeAspect="1" noChangeArrowheads="1"/>
            </p:cNvPicPr>
            <p:nvPr/>
          </p:nvPicPr>
          <p:blipFill>
            <a:blip r:embed="rId4"/>
            <a:srcRect/>
            <a:stretch>
              <a:fillRect/>
            </a:stretch>
          </p:blipFill>
          <p:spPr bwMode="auto">
            <a:xfrm>
              <a:off x="465728" y="1470683"/>
              <a:ext cx="2187669" cy="867616"/>
            </a:xfrm>
            <a:prstGeom prst="rect">
              <a:avLst/>
            </a:prstGeom>
            <a:noFill/>
            <a:extLst>
              <a:ext uri="{909E8E84-426E-40DD-AFC4-6F175D3DCCD1}">
                <a14:hiddenFill xmlns:a14="http://schemas.microsoft.com/office/drawing/2010/main">
                  <a:solidFill>
                    <a:srgbClr val="FFFFFF"/>
                  </a:solidFill>
                </a14:hiddenFill>
              </a:ext>
            </a:extLst>
          </p:spPr>
        </p:pic>
        <p:sp>
          <p:nvSpPr>
            <p:cNvPr id="28" name="矩形 27"/>
            <p:cNvSpPr/>
            <p:nvPr/>
          </p:nvSpPr>
          <p:spPr>
            <a:xfrm>
              <a:off x="420144" y="1459966"/>
              <a:ext cx="2359158" cy="917014"/>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ectangle 8"/>
            <p:cNvSpPr/>
            <p:nvPr/>
          </p:nvSpPr>
          <p:spPr>
            <a:xfrm>
              <a:off x="418729" y="2365616"/>
              <a:ext cx="2369295" cy="91701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38" name="矩形 37"/>
            <p:cNvSpPr/>
            <p:nvPr/>
          </p:nvSpPr>
          <p:spPr>
            <a:xfrm>
              <a:off x="465728" y="2564143"/>
              <a:ext cx="2270506" cy="507831"/>
            </a:xfrm>
            <a:prstGeom prst="rect">
              <a:avLst/>
            </a:prstGeom>
          </p:spPr>
          <p:txBody>
            <a:bodyPr wrap="square">
              <a:spAutoFit/>
            </a:bodyPr>
            <a:lstStyle/>
            <a:p>
              <a:r>
                <a:rPr lang="en-US" altLang="zh-CN" sz="1100" dirty="0">
                  <a:solidFill>
                    <a:schemeClr val="bg1"/>
                  </a:solidFill>
                  <a:latin typeface="Calibri" panose="020F0502020204030204" pitchFamily="34" charset="0"/>
                  <a:cs typeface="Calibri" panose="020F0502020204030204" pitchFamily="34" charset="0"/>
                </a:rPr>
                <a:t>The </a:t>
              </a:r>
              <a:r>
                <a:rPr lang="en-US" altLang="zh-CN" sz="1600" b="1" dirty="0">
                  <a:solidFill>
                    <a:schemeClr val="bg1"/>
                  </a:solidFill>
                  <a:latin typeface="Calibri" panose="020F0502020204030204" pitchFamily="34" charset="0"/>
                  <a:cs typeface="Calibri" panose="020F0502020204030204" pitchFamily="34" charset="0"/>
                </a:rPr>
                <a:t>2nd oldest </a:t>
              </a:r>
              <a:r>
                <a:rPr lang="en-US" altLang="zh-CN" sz="1100" dirty="0">
                  <a:solidFill>
                    <a:schemeClr val="bg1"/>
                  </a:solidFill>
                  <a:latin typeface="Calibri" panose="020F0502020204030204" pitchFamily="34" charset="0"/>
                  <a:cs typeface="Calibri" panose="020F0502020204030204" pitchFamily="34" charset="0"/>
                </a:rPr>
                <a:t>university in </a:t>
              </a:r>
              <a:r>
                <a:rPr lang="en-US" altLang="zh-CN" sz="1100" dirty="0" smtClean="0">
                  <a:solidFill>
                    <a:schemeClr val="bg1"/>
                  </a:solidFill>
                  <a:latin typeface="Calibri" panose="020F0502020204030204" pitchFamily="34" charset="0"/>
                  <a:cs typeface="Calibri" panose="020F0502020204030204" pitchFamily="34" charset="0"/>
                </a:rPr>
                <a:t>Portugal, COVID-19 </a:t>
              </a:r>
              <a:r>
                <a:rPr lang="en-US" altLang="zh-CN" sz="1100" dirty="0">
                  <a:solidFill>
                    <a:schemeClr val="bg1"/>
                  </a:solidFill>
                  <a:latin typeface="Calibri" panose="020F0502020204030204" pitchFamily="34" charset="0"/>
                  <a:cs typeface="Calibri" panose="020F0502020204030204" pitchFamily="34" charset="0"/>
                </a:rPr>
                <a:t>Research </a:t>
              </a:r>
              <a:r>
                <a:rPr lang="en-US" altLang="zh-CN" sz="1100" dirty="0" smtClean="0">
                  <a:solidFill>
                    <a:schemeClr val="bg1"/>
                  </a:solidFill>
                  <a:latin typeface="Calibri" panose="020F0502020204030204" pitchFamily="34" charset="0"/>
                  <a:cs typeface="Calibri" panose="020F0502020204030204" pitchFamily="34" charset="0"/>
                </a:rPr>
                <a:t>project</a:t>
              </a:r>
              <a:endParaRPr lang="en-US" altLang="zh-CN" sz="1100" dirty="0">
                <a:solidFill>
                  <a:schemeClr val="bg1"/>
                </a:solidFill>
                <a:latin typeface="Calibri" panose="020F0502020204030204" pitchFamily="34" charset="0"/>
                <a:cs typeface="Calibri" panose="020F0502020204030204" pitchFamily="34" charset="0"/>
              </a:endParaRPr>
            </a:p>
          </p:txBody>
        </p:sp>
      </p:grpSp>
      <p:grpSp>
        <p:nvGrpSpPr>
          <p:cNvPr id="2051" name="组合 2050"/>
          <p:cNvGrpSpPr/>
          <p:nvPr/>
        </p:nvGrpSpPr>
        <p:grpSpPr>
          <a:xfrm>
            <a:off x="5366829" y="1428826"/>
            <a:ext cx="2369295" cy="1840594"/>
            <a:chOff x="5366829" y="1428826"/>
            <a:chExt cx="2369295" cy="1840594"/>
          </a:xfrm>
        </p:grpSpPr>
        <p:sp>
          <p:nvSpPr>
            <p:cNvPr id="42" name="矩形 41"/>
            <p:cNvSpPr/>
            <p:nvPr/>
          </p:nvSpPr>
          <p:spPr>
            <a:xfrm>
              <a:off x="5368244" y="1428826"/>
              <a:ext cx="2359158" cy="917014"/>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Rectangle 8"/>
            <p:cNvSpPr/>
            <p:nvPr/>
          </p:nvSpPr>
          <p:spPr>
            <a:xfrm>
              <a:off x="5366829" y="2352406"/>
              <a:ext cx="2369295" cy="91701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pic>
          <p:nvPicPr>
            <p:cNvPr id="44" name="Picture 6" descr="1596188156889444.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9112" y="1462074"/>
              <a:ext cx="1734767" cy="838472"/>
            </a:xfrm>
            <a:prstGeom prst="rect">
              <a:avLst/>
            </a:prstGeom>
            <a:noFill/>
            <a:extLst>
              <a:ext uri="{909E8E84-426E-40DD-AFC4-6F175D3DCCD1}">
                <a14:hiddenFill xmlns:a14="http://schemas.microsoft.com/office/drawing/2010/main">
                  <a:solidFill>
                    <a:srgbClr val="FFFFFF"/>
                  </a:solidFill>
                </a14:hiddenFill>
              </a:ext>
            </a:extLst>
          </p:spPr>
        </p:pic>
        <p:sp>
          <p:nvSpPr>
            <p:cNvPr id="46" name="文本框 45"/>
            <p:cNvSpPr txBox="1"/>
            <p:nvPr/>
          </p:nvSpPr>
          <p:spPr>
            <a:xfrm>
              <a:off x="5592056" y="2471810"/>
              <a:ext cx="1842743" cy="677108"/>
            </a:xfrm>
            <a:prstGeom prst="rect">
              <a:avLst/>
            </a:prstGeom>
            <a:noFill/>
          </p:spPr>
          <p:txBody>
            <a:bodyPr wrap="square" rtlCol="0">
              <a:spAutoFit/>
            </a:bodyPr>
            <a:lstStyle/>
            <a:p>
              <a:r>
                <a:rPr lang="en-US" altLang="zh-CN" sz="1100" dirty="0">
                  <a:solidFill>
                    <a:schemeClr val="bg1"/>
                  </a:solidFill>
                  <a:latin typeface="Calibri" panose="020F0502020204030204" pitchFamily="34" charset="0"/>
                  <a:cs typeface="Calibri" panose="020F0502020204030204" pitchFamily="34" charset="0"/>
                </a:rPr>
                <a:t>Leading retail group with </a:t>
              </a:r>
              <a:r>
                <a:rPr lang="en-US" altLang="zh-CN" sz="1600" b="1" dirty="0">
                  <a:solidFill>
                    <a:schemeClr val="bg1"/>
                  </a:solidFill>
                  <a:latin typeface="Calibri" panose="020F0502020204030204" pitchFamily="34" charset="0"/>
                  <a:cs typeface="Calibri" panose="020F0502020204030204" pitchFamily="34" charset="0"/>
                </a:rPr>
                <a:t>800+ stores</a:t>
              </a:r>
              <a:r>
                <a:rPr lang="en-US" altLang="zh-CN" sz="1100" dirty="0">
                  <a:solidFill>
                    <a:schemeClr val="bg1"/>
                  </a:solidFill>
                  <a:latin typeface="Calibri" panose="020F0502020204030204" pitchFamily="34" charset="0"/>
                  <a:cs typeface="Calibri" panose="020F0502020204030204" pitchFamily="34" charset="0"/>
                </a:rPr>
                <a:t> in and outside of France.</a:t>
              </a:r>
              <a:endParaRPr lang="zh-CN" altLang="en-US" sz="1100" dirty="0">
                <a:solidFill>
                  <a:schemeClr val="bg1"/>
                </a:solidFill>
                <a:latin typeface="Calibri" panose="020F0502020204030204" pitchFamily="34" charset="0"/>
                <a:cs typeface="Calibri" panose="020F0502020204030204" pitchFamily="34" charset="0"/>
              </a:endParaRPr>
            </a:p>
          </p:txBody>
        </p:sp>
      </p:grpSp>
      <p:grpSp>
        <p:nvGrpSpPr>
          <p:cNvPr id="22" name="组合 21"/>
          <p:cNvGrpSpPr/>
          <p:nvPr/>
        </p:nvGrpSpPr>
        <p:grpSpPr>
          <a:xfrm>
            <a:off x="418730" y="3377588"/>
            <a:ext cx="3845889" cy="1669541"/>
            <a:chOff x="418730" y="3377588"/>
            <a:chExt cx="3845889" cy="1669541"/>
          </a:xfrm>
        </p:grpSpPr>
        <p:pic>
          <p:nvPicPr>
            <p:cNvPr id="47" name="图片 46"/>
            <p:cNvPicPr>
              <a:picLocks noChangeAspect="1"/>
            </p:cNvPicPr>
            <p:nvPr/>
          </p:nvPicPr>
          <p:blipFill>
            <a:blip r:embed="rId6"/>
            <a:stretch>
              <a:fillRect/>
            </a:stretch>
          </p:blipFill>
          <p:spPr>
            <a:xfrm>
              <a:off x="540674" y="3463924"/>
              <a:ext cx="1198479" cy="1448711"/>
            </a:xfrm>
            <a:prstGeom prst="rect">
              <a:avLst/>
            </a:prstGeom>
          </p:spPr>
        </p:pic>
        <p:sp>
          <p:nvSpPr>
            <p:cNvPr id="48" name="矩形 47"/>
            <p:cNvSpPr/>
            <p:nvPr/>
          </p:nvSpPr>
          <p:spPr>
            <a:xfrm>
              <a:off x="418730" y="3377588"/>
              <a:ext cx="1445930" cy="1669541"/>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Rectangle 8"/>
            <p:cNvSpPr/>
            <p:nvPr/>
          </p:nvSpPr>
          <p:spPr>
            <a:xfrm>
              <a:off x="1856743" y="3377588"/>
              <a:ext cx="2407876" cy="1669541"/>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1400" b="1" dirty="0">
                <a:solidFill>
                  <a:schemeClr val="tx1"/>
                </a:solidFill>
                <a:latin typeface="Calibri" panose="020F0502020204030204" pitchFamily="34" charset="0"/>
                <a:cs typeface="Calibri" panose="020F0502020204030204" pitchFamily="34" charset="0"/>
              </a:endParaRPr>
            </a:p>
          </p:txBody>
        </p:sp>
        <p:sp>
          <p:nvSpPr>
            <p:cNvPr id="51" name="文本框 50"/>
            <p:cNvSpPr txBox="1"/>
            <p:nvPr/>
          </p:nvSpPr>
          <p:spPr>
            <a:xfrm>
              <a:off x="2010481" y="3842301"/>
              <a:ext cx="2032602" cy="830997"/>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Insurance Group. Argentina</a:t>
              </a:r>
            </a:p>
            <a:p>
              <a:r>
                <a:rPr lang="en-US" altLang="zh-CN" sz="1200" b="1" dirty="0" smtClean="0">
                  <a:solidFill>
                    <a:schemeClr val="bg1"/>
                  </a:solidFill>
                  <a:latin typeface="Calibri" panose="020F0502020204030204" pitchFamily="34" charset="0"/>
                  <a:cs typeface="Calibri" panose="020F0502020204030204" pitchFamily="34" charset="0"/>
                </a:rPr>
                <a:t>2200+ </a:t>
              </a:r>
              <a:r>
                <a:rPr lang="en-US" altLang="zh-CN" sz="1200" dirty="0" smtClean="0">
                  <a:solidFill>
                    <a:schemeClr val="bg1"/>
                  </a:solidFill>
                  <a:latin typeface="Calibri" panose="020F0502020204030204" pitchFamily="34" charset="0"/>
                  <a:cs typeface="Calibri" panose="020F0502020204030204" pitchFamily="34" charset="0"/>
                </a:rPr>
                <a:t>employees</a:t>
              </a:r>
            </a:p>
            <a:p>
              <a:r>
                <a:rPr lang="en-US" altLang="zh-CN" sz="1200" b="1" dirty="0" smtClean="0">
                  <a:solidFill>
                    <a:schemeClr val="bg1"/>
                  </a:solidFill>
                  <a:latin typeface="Calibri" panose="020F0502020204030204" pitchFamily="34" charset="0"/>
                  <a:cs typeface="Calibri" panose="020F0502020204030204" pitchFamily="34" charset="0"/>
                </a:rPr>
                <a:t>67 </a:t>
              </a:r>
              <a:r>
                <a:rPr lang="en-US" altLang="zh-CN" sz="1200" dirty="0" smtClean="0">
                  <a:solidFill>
                    <a:schemeClr val="bg1"/>
                  </a:solidFill>
                  <a:latin typeface="Calibri" panose="020F0502020204030204" pitchFamily="34" charset="0"/>
                  <a:cs typeface="Calibri" panose="020F0502020204030204" pitchFamily="34" charset="0"/>
                </a:rPr>
                <a:t>branches</a:t>
              </a:r>
            </a:p>
            <a:p>
              <a:r>
                <a:rPr lang="en-US" altLang="zh-CN" sz="1200" b="1" dirty="0" smtClean="0">
                  <a:solidFill>
                    <a:schemeClr val="bg1"/>
                  </a:solidFill>
                  <a:latin typeface="Calibri" panose="020F0502020204030204" pitchFamily="34" charset="0"/>
                  <a:cs typeface="Calibri" panose="020F0502020204030204" pitchFamily="34" charset="0"/>
                </a:rPr>
                <a:t>30083 </a:t>
              </a:r>
              <a:r>
                <a:rPr lang="en-US" altLang="zh-CN" sz="1200" dirty="0" err="1" smtClean="0">
                  <a:solidFill>
                    <a:schemeClr val="bg1"/>
                  </a:solidFill>
                  <a:latin typeface="Calibri" panose="020F0502020204030204" pitchFamily="34" charset="0"/>
                  <a:cs typeface="Calibri" panose="020F0502020204030204" pitchFamily="34" charset="0"/>
                </a:rPr>
                <a:t>Linkedin</a:t>
              </a:r>
              <a:r>
                <a:rPr lang="en-US" altLang="zh-CN" sz="1200" dirty="0" smtClean="0">
                  <a:solidFill>
                    <a:schemeClr val="bg1"/>
                  </a:solidFill>
                  <a:latin typeface="Calibri" panose="020F0502020204030204" pitchFamily="34" charset="0"/>
                  <a:cs typeface="Calibri" panose="020F0502020204030204" pitchFamily="34" charset="0"/>
                </a:rPr>
                <a:t> followers</a:t>
              </a:r>
              <a:endParaRPr lang="en-US" altLang="zh-CN" sz="1200" dirty="0">
                <a:solidFill>
                  <a:schemeClr val="bg1"/>
                </a:solidFill>
                <a:latin typeface="Calibri" panose="020F0502020204030204" pitchFamily="34" charset="0"/>
                <a:cs typeface="Calibri" panose="020F0502020204030204" pitchFamily="34" charset="0"/>
              </a:endParaRPr>
            </a:p>
          </p:txBody>
        </p:sp>
      </p:grpSp>
      <p:grpSp>
        <p:nvGrpSpPr>
          <p:cNvPr id="21" name="组合 20"/>
          <p:cNvGrpSpPr/>
          <p:nvPr/>
        </p:nvGrpSpPr>
        <p:grpSpPr>
          <a:xfrm>
            <a:off x="6417310" y="3560849"/>
            <a:ext cx="2620184" cy="1444891"/>
            <a:chOff x="4362309" y="3383794"/>
            <a:chExt cx="2122197" cy="1170278"/>
          </a:xfrm>
        </p:grpSpPr>
        <p:pic>
          <p:nvPicPr>
            <p:cNvPr id="52" name="图片 51"/>
            <p:cNvPicPr>
              <a:picLocks noChangeAspect="1"/>
            </p:cNvPicPr>
            <p:nvPr/>
          </p:nvPicPr>
          <p:blipFill>
            <a:blip r:embed="rId7"/>
            <a:stretch>
              <a:fillRect/>
            </a:stretch>
          </p:blipFill>
          <p:spPr>
            <a:xfrm>
              <a:off x="4574691" y="3482636"/>
              <a:ext cx="1697431" cy="448840"/>
            </a:xfrm>
            <a:prstGeom prst="rect">
              <a:avLst/>
            </a:prstGeom>
          </p:spPr>
        </p:pic>
        <p:sp>
          <p:nvSpPr>
            <p:cNvPr id="54" name="矩形 53"/>
            <p:cNvSpPr/>
            <p:nvPr/>
          </p:nvSpPr>
          <p:spPr>
            <a:xfrm>
              <a:off x="4362309" y="3383794"/>
              <a:ext cx="2122197" cy="706891"/>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Rectangle 8"/>
            <p:cNvSpPr/>
            <p:nvPr/>
          </p:nvSpPr>
          <p:spPr>
            <a:xfrm>
              <a:off x="4362309" y="4088948"/>
              <a:ext cx="2122197" cy="46512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56" name="文本框 55"/>
            <p:cNvSpPr txBox="1"/>
            <p:nvPr/>
          </p:nvSpPr>
          <p:spPr>
            <a:xfrm>
              <a:off x="4753163" y="4188279"/>
              <a:ext cx="1624619" cy="224353"/>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Finance Services. Mexico</a:t>
              </a:r>
              <a:endParaRPr lang="en-US" altLang="zh-CN" sz="1200" dirty="0">
                <a:solidFill>
                  <a:schemeClr val="bg1"/>
                </a:solidFill>
                <a:latin typeface="Calibri" panose="020F0502020204030204" pitchFamily="34" charset="0"/>
                <a:cs typeface="Calibri" panose="020F0502020204030204" pitchFamily="34" charset="0"/>
              </a:endParaRPr>
            </a:p>
          </p:txBody>
        </p:sp>
      </p:grpSp>
      <p:sp>
        <p:nvSpPr>
          <p:cNvPr id="72" name="文本框 71"/>
          <p:cNvSpPr txBox="1"/>
          <p:nvPr/>
        </p:nvSpPr>
        <p:spPr>
          <a:xfrm>
            <a:off x="10348574" y="6971032"/>
            <a:ext cx="2805033" cy="369332"/>
          </a:xfrm>
          <a:prstGeom prst="rect">
            <a:avLst/>
          </a:prstGeom>
          <a:noFill/>
        </p:spPr>
        <p:txBody>
          <a:bodyPr wrap="square" rtlCol="0">
            <a:spAutoFit/>
          </a:bodyPr>
          <a:lstStyle/>
          <a:p>
            <a:r>
              <a:rPr lang="en-US" altLang="zh-CN" b="1" dirty="0" smtClean="0"/>
              <a:t>Public Service. Afghanistan</a:t>
            </a:r>
            <a:endParaRPr lang="en-US" altLang="zh-CN" b="1" dirty="0"/>
          </a:p>
        </p:txBody>
      </p:sp>
      <p:grpSp>
        <p:nvGrpSpPr>
          <p:cNvPr id="8" name="组合 7"/>
          <p:cNvGrpSpPr/>
          <p:nvPr/>
        </p:nvGrpSpPr>
        <p:grpSpPr>
          <a:xfrm>
            <a:off x="7851305" y="1639492"/>
            <a:ext cx="2122197" cy="1397614"/>
            <a:chOff x="7833629" y="1428826"/>
            <a:chExt cx="2122197" cy="1397614"/>
          </a:xfrm>
        </p:grpSpPr>
        <p:pic>
          <p:nvPicPr>
            <p:cNvPr id="60" name="Picture 12" descr="1596707210900181.jpg"/>
            <p:cNvPicPr>
              <a:picLocks noChangeAspect="1" noChangeArrowheads="1"/>
            </p:cNvPicPr>
            <p:nvPr/>
          </p:nvPicPr>
          <p:blipFill>
            <a:blip r:embed="rId8"/>
            <a:srcRect/>
            <a:stretch>
              <a:fillRect/>
            </a:stretch>
          </p:blipFill>
          <p:spPr bwMode="auto">
            <a:xfrm>
              <a:off x="8085546" y="1940956"/>
              <a:ext cx="1618361" cy="783287"/>
            </a:xfrm>
            <a:prstGeom prst="rect">
              <a:avLst/>
            </a:prstGeom>
            <a:noFill/>
            <a:extLst>
              <a:ext uri="{909E8E84-426E-40DD-AFC4-6F175D3DCCD1}">
                <a14:hiddenFill xmlns:a14="http://schemas.microsoft.com/office/drawing/2010/main">
                  <a:solidFill>
                    <a:srgbClr val="FFFFFF"/>
                  </a:solidFill>
                </a14:hiddenFill>
              </a:ext>
            </a:extLst>
          </p:spPr>
        </p:pic>
        <p:sp>
          <p:nvSpPr>
            <p:cNvPr id="73" name="矩形 72"/>
            <p:cNvSpPr/>
            <p:nvPr/>
          </p:nvSpPr>
          <p:spPr>
            <a:xfrm>
              <a:off x="7836305" y="1876903"/>
              <a:ext cx="2119521" cy="949537"/>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Rectangle 8"/>
            <p:cNvSpPr/>
            <p:nvPr/>
          </p:nvSpPr>
          <p:spPr>
            <a:xfrm>
              <a:off x="7833629" y="1428826"/>
              <a:ext cx="2122197" cy="46512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75" name="文本框 74"/>
            <p:cNvSpPr txBox="1"/>
            <p:nvPr/>
          </p:nvSpPr>
          <p:spPr>
            <a:xfrm>
              <a:off x="8085546" y="1524479"/>
              <a:ext cx="1723347" cy="276999"/>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University. Malaysia</a:t>
              </a:r>
              <a:endParaRPr lang="en-US" altLang="zh-CN" sz="1200" dirty="0">
                <a:solidFill>
                  <a:schemeClr val="bg1"/>
                </a:solidFill>
                <a:latin typeface="Calibri" panose="020F0502020204030204" pitchFamily="34" charset="0"/>
                <a:cs typeface="Calibri" panose="020F0502020204030204" pitchFamily="34" charset="0"/>
              </a:endParaRPr>
            </a:p>
          </p:txBody>
        </p:sp>
      </p:grpSp>
      <p:grpSp>
        <p:nvGrpSpPr>
          <p:cNvPr id="4" name="组合 3"/>
          <p:cNvGrpSpPr/>
          <p:nvPr/>
        </p:nvGrpSpPr>
        <p:grpSpPr>
          <a:xfrm>
            <a:off x="10068165" y="1427364"/>
            <a:ext cx="1873585" cy="1404873"/>
            <a:chOff x="8315172" y="2896646"/>
            <a:chExt cx="1873585" cy="1404873"/>
          </a:xfrm>
        </p:grpSpPr>
        <p:pic>
          <p:nvPicPr>
            <p:cNvPr id="68" name="Picture 4" descr="1607681094486309.png"/>
            <p:cNvPicPr>
              <a:picLocks noChangeAspect="1" noChangeArrowheads="1"/>
            </p:cNvPicPr>
            <p:nvPr/>
          </p:nvPicPr>
          <p:blipFill>
            <a:blip r:embed="rId9"/>
            <a:srcRect/>
            <a:stretch>
              <a:fillRect/>
            </a:stretch>
          </p:blipFill>
          <p:spPr bwMode="auto">
            <a:xfrm>
              <a:off x="8627374" y="3018953"/>
              <a:ext cx="1305672" cy="652836"/>
            </a:xfrm>
            <a:prstGeom prst="rect">
              <a:avLst/>
            </a:prstGeom>
            <a:noFill/>
            <a:extLst>
              <a:ext uri="{909E8E84-426E-40DD-AFC4-6F175D3DCCD1}">
                <a14:hiddenFill xmlns:a14="http://schemas.microsoft.com/office/drawing/2010/main">
                  <a:solidFill>
                    <a:srgbClr val="FFFFFF"/>
                  </a:solidFill>
                </a14:hiddenFill>
              </a:ext>
            </a:extLst>
          </p:spPr>
        </p:pic>
        <p:sp>
          <p:nvSpPr>
            <p:cNvPr id="77" name="矩形 76"/>
            <p:cNvSpPr/>
            <p:nvPr/>
          </p:nvSpPr>
          <p:spPr>
            <a:xfrm>
              <a:off x="8316511" y="2896646"/>
              <a:ext cx="1872246" cy="917014"/>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Rectangle 8"/>
            <p:cNvSpPr/>
            <p:nvPr/>
          </p:nvSpPr>
          <p:spPr>
            <a:xfrm>
              <a:off x="8315172" y="3830599"/>
              <a:ext cx="1873585" cy="46512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79" name="文本框 78"/>
            <p:cNvSpPr txBox="1"/>
            <p:nvPr/>
          </p:nvSpPr>
          <p:spPr>
            <a:xfrm>
              <a:off x="8507175" y="3839854"/>
              <a:ext cx="1529182" cy="461665"/>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Finance IT Services. </a:t>
              </a:r>
            </a:p>
            <a:p>
              <a:r>
                <a:rPr lang="en-US" altLang="zh-CN" sz="1200" dirty="0" smtClean="0">
                  <a:solidFill>
                    <a:schemeClr val="bg1"/>
                  </a:solidFill>
                  <a:latin typeface="Calibri" panose="020F0502020204030204" pitchFamily="34" charset="0"/>
                  <a:cs typeface="Calibri" panose="020F0502020204030204" pitchFamily="34" charset="0"/>
                </a:rPr>
                <a:t>South Africa</a:t>
              </a:r>
              <a:endParaRPr lang="en-US" altLang="zh-CN" sz="1200" dirty="0">
                <a:solidFill>
                  <a:schemeClr val="bg1"/>
                </a:solidFill>
                <a:latin typeface="Calibri" panose="020F0502020204030204" pitchFamily="34" charset="0"/>
                <a:cs typeface="Calibri" panose="020F0502020204030204" pitchFamily="34" charset="0"/>
              </a:endParaRPr>
            </a:p>
          </p:txBody>
        </p:sp>
      </p:grpSp>
      <p:grpSp>
        <p:nvGrpSpPr>
          <p:cNvPr id="20" name="组合 19"/>
          <p:cNvGrpSpPr/>
          <p:nvPr/>
        </p:nvGrpSpPr>
        <p:grpSpPr>
          <a:xfrm>
            <a:off x="9713747" y="3363102"/>
            <a:ext cx="2010103" cy="1468008"/>
            <a:chOff x="6572067" y="3374771"/>
            <a:chExt cx="1766502" cy="1365091"/>
          </a:xfrm>
        </p:grpSpPr>
        <p:pic>
          <p:nvPicPr>
            <p:cNvPr id="59" name="图片 58"/>
            <p:cNvPicPr>
              <a:picLocks noChangeAspect="1"/>
            </p:cNvPicPr>
            <p:nvPr/>
          </p:nvPicPr>
          <p:blipFill>
            <a:blip r:embed="rId10"/>
            <a:stretch>
              <a:fillRect/>
            </a:stretch>
          </p:blipFill>
          <p:spPr>
            <a:xfrm>
              <a:off x="6753447" y="3911743"/>
              <a:ext cx="1421313" cy="704971"/>
            </a:xfrm>
            <a:prstGeom prst="rect">
              <a:avLst/>
            </a:prstGeom>
          </p:spPr>
        </p:pic>
        <p:sp>
          <p:nvSpPr>
            <p:cNvPr id="76" name="矩形 75"/>
            <p:cNvSpPr/>
            <p:nvPr/>
          </p:nvSpPr>
          <p:spPr>
            <a:xfrm>
              <a:off x="6572067" y="3763750"/>
              <a:ext cx="1766502" cy="976112"/>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Rectangle 8"/>
            <p:cNvSpPr/>
            <p:nvPr/>
          </p:nvSpPr>
          <p:spPr>
            <a:xfrm>
              <a:off x="6589639" y="3374771"/>
              <a:ext cx="1748930" cy="388698"/>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fontScale="92500" lnSpcReduction="10000"/>
            </a:bodyPr>
            <a:lstStyle/>
            <a:p>
              <a:endParaRPr lang="en-US" altLang="zh-CN" sz="2400" dirty="0"/>
            </a:p>
          </p:txBody>
        </p:sp>
        <p:sp>
          <p:nvSpPr>
            <p:cNvPr id="81" name="文本框 80"/>
            <p:cNvSpPr txBox="1"/>
            <p:nvPr/>
          </p:nvSpPr>
          <p:spPr>
            <a:xfrm>
              <a:off x="6861974" y="3443477"/>
              <a:ext cx="1420246" cy="276999"/>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Hospital. Brazil</a:t>
              </a:r>
              <a:endParaRPr lang="en-US" altLang="zh-CN" sz="1200" dirty="0">
                <a:solidFill>
                  <a:schemeClr val="bg1"/>
                </a:solidFill>
                <a:latin typeface="Calibri" panose="020F0502020204030204" pitchFamily="34" charset="0"/>
                <a:cs typeface="Calibri" panose="020F0502020204030204" pitchFamily="34" charset="0"/>
              </a:endParaRPr>
            </a:p>
          </p:txBody>
        </p:sp>
      </p:grpSp>
      <p:grpSp>
        <p:nvGrpSpPr>
          <p:cNvPr id="12" name="组合 11"/>
          <p:cNvGrpSpPr/>
          <p:nvPr/>
        </p:nvGrpSpPr>
        <p:grpSpPr>
          <a:xfrm>
            <a:off x="8775273" y="5148352"/>
            <a:ext cx="2825401" cy="1472011"/>
            <a:chOff x="8848712" y="3409187"/>
            <a:chExt cx="2617230" cy="1400547"/>
          </a:xfrm>
        </p:grpSpPr>
        <p:pic>
          <p:nvPicPr>
            <p:cNvPr id="71" name="图片 70"/>
            <p:cNvPicPr>
              <a:picLocks noChangeAspect="1"/>
            </p:cNvPicPr>
            <p:nvPr/>
          </p:nvPicPr>
          <p:blipFill>
            <a:blip r:embed="rId11"/>
            <a:stretch>
              <a:fillRect/>
            </a:stretch>
          </p:blipFill>
          <p:spPr>
            <a:xfrm>
              <a:off x="8947219" y="3620407"/>
              <a:ext cx="2420216" cy="574289"/>
            </a:xfrm>
            <a:prstGeom prst="rect">
              <a:avLst/>
            </a:prstGeom>
          </p:spPr>
        </p:pic>
        <p:sp>
          <p:nvSpPr>
            <p:cNvPr id="82" name="Rectangle 8"/>
            <p:cNvSpPr/>
            <p:nvPr/>
          </p:nvSpPr>
          <p:spPr>
            <a:xfrm>
              <a:off x="8848712" y="4384729"/>
              <a:ext cx="2617230" cy="425005"/>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lnSpcReduction="10000"/>
            </a:bodyPr>
            <a:lstStyle/>
            <a:p>
              <a:endParaRPr lang="en-US" altLang="zh-CN" sz="2400" dirty="0"/>
            </a:p>
          </p:txBody>
        </p:sp>
        <p:sp>
          <p:nvSpPr>
            <p:cNvPr id="83" name="矩形 82"/>
            <p:cNvSpPr/>
            <p:nvPr/>
          </p:nvSpPr>
          <p:spPr>
            <a:xfrm>
              <a:off x="8848712" y="3409187"/>
              <a:ext cx="2617230" cy="976112"/>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p:cNvSpPr txBox="1"/>
            <p:nvPr/>
          </p:nvSpPr>
          <p:spPr>
            <a:xfrm>
              <a:off x="9171052" y="4477337"/>
              <a:ext cx="2016901" cy="276999"/>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Public Service. Afghanistan</a:t>
              </a:r>
              <a:endParaRPr lang="en-US" altLang="zh-CN" sz="1200" dirty="0">
                <a:solidFill>
                  <a:schemeClr val="bg1"/>
                </a:solidFill>
                <a:latin typeface="Calibri" panose="020F0502020204030204" pitchFamily="34" charset="0"/>
                <a:cs typeface="Calibri" panose="020F0502020204030204" pitchFamily="34" charset="0"/>
              </a:endParaRPr>
            </a:p>
          </p:txBody>
        </p:sp>
      </p:grpSp>
      <p:grpSp>
        <p:nvGrpSpPr>
          <p:cNvPr id="19" name="组合 18"/>
          <p:cNvGrpSpPr/>
          <p:nvPr/>
        </p:nvGrpSpPr>
        <p:grpSpPr>
          <a:xfrm>
            <a:off x="3441592" y="5258958"/>
            <a:ext cx="1766502" cy="1361406"/>
            <a:chOff x="7120188" y="4893412"/>
            <a:chExt cx="1766502" cy="1361406"/>
          </a:xfrm>
        </p:grpSpPr>
        <p:pic>
          <p:nvPicPr>
            <p:cNvPr id="58" name="图片 57"/>
            <p:cNvPicPr>
              <a:picLocks noChangeAspect="1"/>
            </p:cNvPicPr>
            <p:nvPr/>
          </p:nvPicPr>
          <p:blipFill>
            <a:blip r:embed="rId12"/>
            <a:stretch>
              <a:fillRect/>
            </a:stretch>
          </p:blipFill>
          <p:spPr>
            <a:xfrm>
              <a:off x="7383856" y="5410097"/>
              <a:ext cx="1231318" cy="709949"/>
            </a:xfrm>
            <a:prstGeom prst="rect">
              <a:avLst/>
            </a:prstGeom>
          </p:spPr>
        </p:pic>
        <p:sp>
          <p:nvSpPr>
            <p:cNvPr id="85" name="矩形 84"/>
            <p:cNvSpPr/>
            <p:nvPr/>
          </p:nvSpPr>
          <p:spPr>
            <a:xfrm>
              <a:off x="7120188" y="5278706"/>
              <a:ext cx="1766502" cy="976112"/>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Rectangle 8"/>
            <p:cNvSpPr/>
            <p:nvPr/>
          </p:nvSpPr>
          <p:spPr>
            <a:xfrm>
              <a:off x="7137760" y="4893412"/>
              <a:ext cx="1748930" cy="388698"/>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fontScale="92500" lnSpcReduction="20000"/>
            </a:bodyPr>
            <a:lstStyle/>
            <a:p>
              <a:endParaRPr lang="en-US" altLang="zh-CN" sz="2400" dirty="0"/>
            </a:p>
          </p:txBody>
        </p:sp>
        <p:sp>
          <p:nvSpPr>
            <p:cNvPr id="87" name="文本框 86"/>
            <p:cNvSpPr txBox="1"/>
            <p:nvPr/>
          </p:nvSpPr>
          <p:spPr>
            <a:xfrm>
              <a:off x="7163503" y="4973641"/>
              <a:ext cx="1697919" cy="276999"/>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Paper Manufacturer. US</a:t>
              </a:r>
              <a:endParaRPr lang="en-US" altLang="zh-CN" sz="1200" dirty="0">
                <a:solidFill>
                  <a:schemeClr val="bg1"/>
                </a:solidFill>
                <a:latin typeface="Calibri" panose="020F0502020204030204" pitchFamily="34" charset="0"/>
                <a:cs typeface="Calibri" panose="020F0502020204030204" pitchFamily="34" charset="0"/>
              </a:endParaRPr>
            </a:p>
          </p:txBody>
        </p:sp>
      </p:grpSp>
      <p:grpSp>
        <p:nvGrpSpPr>
          <p:cNvPr id="13" name="组合 12"/>
          <p:cNvGrpSpPr/>
          <p:nvPr/>
        </p:nvGrpSpPr>
        <p:grpSpPr>
          <a:xfrm>
            <a:off x="5789033" y="5326807"/>
            <a:ext cx="2367638" cy="1313219"/>
            <a:chOff x="4520604" y="5127585"/>
            <a:chExt cx="2367638" cy="1313219"/>
          </a:xfrm>
        </p:grpSpPr>
        <p:pic>
          <p:nvPicPr>
            <p:cNvPr id="65" name="Picture 2" descr="image.png"/>
            <p:cNvPicPr>
              <a:picLocks noChangeAspect="1" noChangeArrowheads="1"/>
            </p:cNvPicPr>
            <p:nvPr/>
          </p:nvPicPr>
          <p:blipFill>
            <a:blip r:embed="rId13"/>
            <a:srcRect/>
            <a:stretch>
              <a:fillRect/>
            </a:stretch>
          </p:blipFill>
          <p:spPr bwMode="auto">
            <a:xfrm>
              <a:off x="4646061" y="5127585"/>
              <a:ext cx="2117299" cy="983875"/>
            </a:xfrm>
            <a:prstGeom prst="rect">
              <a:avLst/>
            </a:prstGeom>
            <a:noFill/>
            <a:extLst>
              <a:ext uri="{909E8E84-426E-40DD-AFC4-6F175D3DCCD1}">
                <a14:hiddenFill xmlns:a14="http://schemas.microsoft.com/office/drawing/2010/main">
                  <a:solidFill>
                    <a:srgbClr val="FFFFFF"/>
                  </a:solidFill>
                </a14:hiddenFill>
              </a:ext>
            </a:extLst>
          </p:spPr>
        </p:pic>
        <p:sp>
          <p:nvSpPr>
            <p:cNvPr id="88" name="Rectangle 8"/>
            <p:cNvSpPr/>
            <p:nvPr/>
          </p:nvSpPr>
          <p:spPr>
            <a:xfrm>
              <a:off x="4529569" y="5975680"/>
              <a:ext cx="2358673" cy="46512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89" name="矩形 88"/>
            <p:cNvSpPr/>
            <p:nvPr/>
          </p:nvSpPr>
          <p:spPr>
            <a:xfrm>
              <a:off x="4520604" y="5251884"/>
              <a:ext cx="2351175" cy="706891"/>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p:cNvSpPr txBox="1"/>
            <p:nvPr/>
          </p:nvSpPr>
          <p:spPr>
            <a:xfrm>
              <a:off x="4970616" y="6029692"/>
              <a:ext cx="1782831" cy="276999"/>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IT Development. Chile</a:t>
              </a:r>
              <a:endParaRPr lang="en-US" altLang="zh-CN" sz="1200" dirty="0">
                <a:solidFill>
                  <a:schemeClr val="bg1"/>
                </a:solidFill>
                <a:latin typeface="Calibri" panose="020F0502020204030204" pitchFamily="34" charset="0"/>
                <a:cs typeface="Calibri" panose="020F0502020204030204" pitchFamily="34" charset="0"/>
              </a:endParaRPr>
            </a:p>
          </p:txBody>
        </p:sp>
      </p:grpSp>
      <p:grpSp>
        <p:nvGrpSpPr>
          <p:cNvPr id="14" name="组合 13"/>
          <p:cNvGrpSpPr/>
          <p:nvPr/>
        </p:nvGrpSpPr>
        <p:grpSpPr>
          <a:xfrm>
            <a:off x="436265" y="5215965"/>
            <a:ext cx="2561427" cy="1404399"/>
            <a:chOff x="729218" y="5297754"/>
            <a:chExt cx="2138313" cy="1172411"/>
          </a:xfrm>
        </p:grpSpPr>
        <p:pic>
          <p:nvPicPr>
            <p:cNvPr id="69" name="Picture 10" descr="1597656211148894.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54249" y="5356203"/>
              <a:ext cx="1369808" cy="673489"/>
            </a:xfrm>
            <a:prstGeom prst="rect">
              <a:avLst/>
            </a:prstGeom>
            <a:noFill/>
            <a:extLst>
              <a:ext uri="{909E8E84-426E-40DD-AFC4-6F175D3DCCD1}">
                <a14:hiddenFill xmlns:a14="http://schemas.microsoft.com/office/drawing/2010/main">
                  <a:solidFill>
                    <a:srgbClr val="FFFFFF"/>
                  </a:solidFill>
                </a14:hiddenFill>
              </a:ext>
            </a:extLst>
          </p:spPr>
        </p:pic>
        <p:sp>
          <p:nvSpPr>
            <p:cNvPr id="91" name="Rectangle 8"/>
            <p:cNvSpPr/>
            <p:nvPr/>
          </p:nvSpPr>
          <p:spPr>
            <a:xfrm>
              <a:off x="745334" y="6005041"/>
              <a:ext cx="2122197" cy="465124"/>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endParaRPr lang="en-US" altLang="zh-CN" sz="2400" dirty="0"/>
            </a:p>
          </p:txBody>
        </p:sp>
        <p:sp>
          <p:nvSpPr>
            <p:cNvPr id="92" name="文本框 91"/>
            <p:cNvSpPr txBox="1"/>
            <p:nvPr/>
          </p:nvSpPr>
          <p:spPr>
            <a:xfrm>
              <a:off x="987914" y="6076779"/>
              <a:ext cx="1451784" cy="276999"/>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IT Service. Brazil</a:t>
              </a:r>
              <a:endParaRPr lang="en-US" altLang="zh-CN" sz="1200" dirty="0">
                <a:solidFill>
                  <a:schemeClr val="bg1"/>
                </a:solidFill>
                <a:latin typeface="Calibri" panose="020F0502020204030204" pitchFamily="34" charset="0"/>
                <a:cs typeface="Calibri" panose="020F0502020204030204" pitchFamily="34" charset="0"/>
              </a:endParaRPr>
            </a:p>
          </p:txBody>
        </p:sp>
        <p:sp>
          <p:nvSpPr>
            <p:cNvPr id="93" name="矩形 92"/>
            <p:cNvSpPr/>
            <p:nvPr/>
          </p:nvSpPr>
          <p:spPr>
            <a:xfrm>
              <a:off x="729218" y="5297754"/>
              <a:ext cx="2122197" cy="706891"/>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4576809" y="3420129"/>
            <a:ext cx="1578279" cy="1577334"/>
            <a:chOff x="4467366" y="4708464"/>
            <a:chExt cx="1557016" cy="1758736"/>
          </a:xfrm>
        </p:grpSpPr>
        <p:pic>
          <p:nvPicPr>
            <p:cNvPr id="57" name="图片 56"/>
            <p:cNvPicPr>
              <a:picLocks noChangeAspect="1"/>
            </p:cNvPicPr>
            <p:nvPr/>
          </p:nvPicPr>
          <p:blipFill>
            <a:blip r:embed="rId15"/>
            <a:stretch>
              <a:fillRect/>
            </a:stretch>
          </p:blipFill>
          <p:spPr>
            <a:xfrm>
              <a:off x="4697437" y="4871691"/>
              <a:ext cx="1085128" cy="1085128"/>
            </a:xfrm>
            <a:prstGeom prst="rect">
              <a:avLst/>
            </a:prstGeom>
          </p:spPr>
        </p:pic>
        <p:sp>
          <p:nvSpPr>
            <p:cNvPr id="94" name="矩形 93"/>
            <p:cNvSpPr/>
            <p:nvPr/>
          </p:nvSpPr>
          <p:spPr>
            <a:xfrm>
              <a:off x="4476369" y="4708464"/>
              <a:ext cx="1541657" cy="1411582"/>
            </a:xfrm>
            <a:prstGeom prst="rect">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Rectangle 8"/>
            <p:cNvSpPr/>
            <p:nvPr/>
          </p:nvSpPr>
          <p:spPr>
            <a:xfrm>
              <a:off x="4477001" y="6139461"/>
              <a:ext cx="1541026" cy="327739"/>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fontScale="62500" lnSpcReduction="20000"/>
            </a:bodyPr>
            <a:lstStyle/>
            <a:p>
              <a:endParaRPr lang="en-US" altLang="zh-CN" sz="2400" dirty="0"/>
            </a:p>
          </p:txBody>
        </p:sp>
        <p:sp>
          <p:nvSpPr>
            <p:cNvPr id="96" name="文本框 95"/>
            <p:cNvSpPr txBox="1"/>
            <p:nvPr/>
          </p:nvSpPr>
          <p:spPr>
            <a:xfrm>
              <a:off x="4467366" y="6150269"/>
              <a:ext cx="1557016" cy="276999"/>
            </a:xfrm>
            <a:prstGeom prst="rect">
              <a:avLst/>
            </a:prstGeom>
            <a:noFill/>
          </p:spPr>
          <p:txBody>
            <a:bodyPr wrap="square" rtlCol="0">
              <a:spAutoFit/>
            </a:bodyPr>
            <a:lstStyle/>
            <a:p>
              <a:r>
                <a:rPr lang="en-US" altLang="zh-CN" sz="1200" dirty="0" smtClean="0">
                  <a:solidFill>
                    <a:schemeClr val="bg1"/>
                  </a:solidFill>
                  <a:latin typeface="Calibri" panose="020F0502020204030204" pitchFamily="34" charset="0"/>
                  <a:cs typeface="Calibri" panose="020F0502020204030204" pitchFamily="34" charset="0"/>
                </a:rPr>
                <a:t>Transportation. Swiss</a:t>
              </a:r>
              <a:endParaRPr lang="en-US" altLang="zh-CN" sz="1200" dirty="0">
                <a:solidFill>
                  <a:schemeClr val="bg1"/>
                </a:solidFill>
                <a:latin typeface="Calibri" panose="020F0502020204030204" pitchFamily="34" charset="0"/>
                <a:cs typeface="Calibri" panose="020F050202020403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3">
            <a:duotone>
              <a:prstClr val="black"/>
              <a:srgbClr val="319295">
                <a:tint val="45000"/>
                <a:satMod val="400000"/>
              </a:srgbClr>
            </a:duotone>
          </a:blip>
          <a:srcRect/>
          <a:stretch>
            <a:fillRect/>
          </a:stretch>
        </p:blipFill>
        <p:spPr/>
      </p:pic>
      <p:sp>
        <p:nvSpPr>
          <p:cNvPr id="14" name="任意多边形: 形状 13"/>
          <p:cNvSpPr/>
          <p:nvPr/>
        </p:nvSpPr>
        <p:spPr>
          <a:xfrm>
            <a:off x="0" y="0"/>
            <a:ext cx="12192000" cy="6858000"/>
          </a:xfrm>
          <a:custGeom>
            <a:avLst/>
            <a:gdLst>
              <a:gd name="connsiteX0" fmla="*/ 12192000 w 12192000"/>
              <a:gd name="connsiteY0" fmla="*/ 5798487 h 6858000"/>
              <a:gd name="connsiteX1" fmla="*/ 12192000 w 12192000"/>
              <a:gd name="connsiteY1" fmla="*/ 6858000 h 6858000"/>
              <a:gd name="connsiteX2" fmla="*/ 11683190 w 12192000"/>
              <a:gd name="connsiteY2" fmla="*/ 6858000 h 6858000"/>
              <a:gd name="connsiteX3" fmla="*/ 0 w 12192000"/>
              <a:gd name="connsiteY3" fmla="*/ 0 h 6858000"/>
              <a:gd name="connsiteX4" fmla="*/ 8836437 w 12192000"/>
              <a:gd name="connsiteY4" fmla="*/ 0 h 6858000"/>
              <a:gd name="connsiteX5" fmla="*/ 6096000 w 12192000"/>
              <a:gd name="connsiteY5" fmla="*/ 5706508 h 6858000"/>
              <a:gd name="connsiteX6" fmla="*/ 9723834 w 12192000"/>
              <a:gd name="connsiteY6" fmla="*/ 5706508 h 6858000"/>
              <a:gd name="connsiteX7" fmla="*/ 12192000 w 12192000"/>
              <a:gd name="connsiteY7" fmla="*/ 566959 h 6858000"/>
              <a:gd name="connsiteX8" fmla="*/ 12192000 w 12192000"/>
              <a:gd name="connsiteY8" fmla="*/ 1135698 h 6858000"/>
              <a:gd name="connsiteX9" fmla="*/ 11179151 w 12192000"/>
              <a:gd name="connsiteY9" fmla="*/ 3244789 h 6858000"/>
              <a:gd name="connsiteX10" fmla="*/ 11927911 w 12192000"/>
              <a:gd name="connsiteY10" fmla="*/ 3244789 h 6858000"/>
              <a:gd name="connsiteX11" fmla="*/ 12192000 w 12192000"/>
              <a:gd name="connsiteY11" fmla="*/ 2694867 h 6858000"/>
              <a:gd name="connsiteX12" fmla="*/ 12192000 w 12192000"/>
              <a:gd name="connsiteY12" fmla="*/ 4367050 h 6858000"/>
              <a:gd name="connsiteX13" fmla="*/ 10995771 w 12192000"/>
              <a:gd name="connsiteY13" fmla="*/ 6858000 h 6858000"/>
              <a:gd name="connsiteX14" fmla="*/ 10821819 w 12192000"/>
              <a:gd name="connsiteY14" fmla="*/ 6858000 h 6858000"/>
              <a:gd name="connsiteX15" fmla="*/ 11838038 w 12192000"/>
              <a:gd name="connsiteY15" fmla="*/ 4741892 h 6858000"/>
              <a:gd name="connsiteX16" fmla="*/ 10408984 w 12192000"/>
              <a:gd name="connsiteY16" fmla="*/ 4741892 h 6858000"/>
              <a:gd name="connsiteX17" fmla="*/ 9392765 w 12192000"/>
              <a:gd name="connsiteY17" fmla="*/ 6858000 h 6858000"/>
              <a:gd name="connsiteX18" fmla="*/ 5345111 w 12192000"/>
              <a:gd name="connsiteY18" fmla="*/ 6858000 h 6858000"/>
              <a:gd name="connsiteX19" fmla="*/ 7158475 w 12192000"/>
              <a:gd name="connsiteY19" fmla="*/ 3081966 h 6858000"/>
              <a:gd name="connsiteX20" fmla="*/ 6389145 w 12192000"/>
              <a:gd name="connsiteY20" fmla="*/ 3081966 h 6858000"/>
              <a:gd name="connsiteX21" fmla="*/ 4575781 w 12192000"/>
              <a:gd name="connsiteY21" fmla="*/ 6858000 h 6858000"/>
              <a:gd name="connsiteX22" fmla="*/ 0 w 12192000"/>
              <a:gd name="connsiteY2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6858000">
                <a:moveTo>
                  <a:pt x="12192000" y="5798487"/>
                </a:moveTo>
                <a:lnTo>
                  <a:pt x="12192000" y="6858000"/>
                </a:lnTo>
                <a:lnTo>
                  <a:pt x="11683190" y="6858000"/>
                </a:lnTo>
                <a:close/>
                <a:moveTo>
                  <a:pt x="0" y="0"/>
                </a:moveTo>
                <a:lnTo>
                  <a:pt x="8836437" y="0"/>
                </a:lnTo>
                <a:lnTo>
                  <a:pt x="6096000" y="5706508"/>
                </a:lnTo>
                <a:lnTo>
                  <a:pt x="9723834" y="5706508"/>
                </a:lnTo>
                <a:lnTo>
                  <a:pt x="12192000" y="566959"/>
                </a:lnTo>
                <a:lnTo>
                  <a:pt x="12192000" y="1135698"/>
                </a:lnTo>
                <a:lnTo>
                  <a:pt x="11179151" y="3244789"/>
                </a:lnTo>
                <a:lnTo>
                  <a:pt x="11927911" y="3244789"/>
                </a:lnTo>
                <a:lnTo>
                  <a:pt x="12192000" y="2694867"/>
                </a:lnTo>
                <a:lnTo>
                  <a:pt x="12192000" y="4367050"/>
                </a:lnTo>
                <a:lnTo>
                  <a:pt x="10995771" y="6858000"/>
                </a:lnTo>
                <a:lnTo>
                  <a:pt x="10821819" y="6858000"/>
                </a:lnTo>
                <a:lnTo>
                  <a:pt x="11838038" y="4741892"/>
                </a:lnTo>
                <a:lnTo>
                  <a:pt x="10408984" y="4741892"/>
                </a:lnTo>
                <a:lnTo>
                  <a:pt x="9392765" y="6858000"/>
                </a:lnTo>
                <a:lnTo>
                  <a:pt x="5345111" y="6858000"/>
                </a:lnTo>
                <a:lnTo>
                  <a:pt x="7158475" y="3081966"/>
                </a:lnTo>
                <a:lnTo>
                  <a:pt x="6389145" y="3081966"/>
                </a:lnTo>
                <a:lnTo>
                  <a:pt x="4575781" y="6858000"/>
                </a:lnTo>
                <a:lnTo>
                  <a:pt x="0" y="6858000"/>
                </a:lnTo>
                <a:close/>
              </a:path>
            </a:pathLst>
          </a:custGeom>
          <a:solidFill>
            <a:schemeClr val="accent6">
              <a:lumMod val="50000"/>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a:off x="7500040" y="2"/>
            <a:ext cx="1139200" cy="841828"/>
          </a:xfrm>
          <a:custGeom>
            <a:avLst/>
            <a:gdLst>
              <a:gd name="connsiteX0" fmla="*/ 620058 w 1747266"/>
              <a:gd name="connsiteY0" fmla="*/ 0 h 1291167"/>
              <a:gd name="connsiteX1" fmla="*/ 1747266 w 1747266"/>
              <a:gd name="connsiteY1" fmla="*/ 0 h 1291167"/>
              <a:gd name="connsiteX2" fmla="*/ 1127209 w 1747266"/>
              <a:gd name="connsiteY2" fmla="*/ 1291167 h 1291167"/>
              <a:gd name="connsiteX3" fmla="*/ 0 w 1747266"/>
              <a:gd name="connsiteY3" fmla="*/ 1291167 h 1291167"/>
            </a:gdLst>
            <a:ahLst/>
            <a:cxnLst>
              <a:cxn ang="0">
                <a:pos x="connsiteX0" y="connsiteY0"/>
              </a:cxn>
              <a:cxn ang="0">
                <a:pos x="connsiteX1" y="connsiteY1"/>
              </a:cxn>
              <a:cxn ang="0">
                <a:pos x="connsiteX2" y="connsiteY2"/>
              </a:cxn>
              <a:cxn ang="0">
                <a:pos x="connsiteX3" y="connsiteY3"/>
              </a:cxn>
            </a:cxnLst>
            <a:rect l="l" t="t" r="r" b="b"/>
            <a:pathLst>
              <a:path w="1747266" h="1291167">
                <a:moveTo>
                  <a:pt x="620058" y="0"/>
                </a:moveTo>
                <a:lnTo>
                  <a:pt x="1747266" y="0"/>
                </a:lnTo>
                <a:lnTo>
                  <a:pt x="1127209" y="1291167"/>
                </a:lnTo>
                <a:lnTo>
                  <a:pt x="0" y="1291167"/>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p:cNvSpPr/>
          <p:nvPr/>
        </p:nvSpPr>
        <p:spPr>
          <a:xfrm>
            <a:off x="4569330" y="-14491"/>
            <a:ext cx="7622670" cy="6871433"/>
          </a:xfrm>
          <a:custGeom>
            <a:avLst/>
            <a:gdLst>
              <a:gd name="connsiteX0" fmla="*/ 5839654 w 7622670"/>
              <a:gd name="connsiteY0" fmla="*/ 4741892 h 6871433"/>
              <a:gd name="connsiteX1" fmla="*/ 7268708 w 7622670"/>
              <a:gd name="connsiteY1" fmla="*/ 4741892 h 6871433"/>
              <a:gd name="connsiteX2" fmla="*/ 6246039 w 7622670"/>
              <a:gd name="connsiteY2" fmla="*/ 6871432 h 6871433"/>
              <a:gd name="connsiteX3" fmla="*/ 4816985 w 7622670"/>
              <a:gd name="connsiteY3" fmla="*/ 6871432 h 6871433"/>
              <a:gd name="connsiteX4" fmla="*/ 7622670 w 7622670"/>
              <a:gd name="connsiteY4" fmla="*/ 4367050 h 6871433"/>
              <a:gd name="connsiteX5" fmla="*/ 7622670 w 7622670"/>
              <a:gd name="connsiteY5" fmla="*/ 5798487 h 6871433"/>
              <a:gd name="connsiteX6" fmla="*/ 7107409 w 7622670"/>
              <a:gd name="connsiteY6" fmla="*/ 6871433 h 6871433"/>
              <a:gd name="connsiteX7" fmla="*/ 6419990 w 7622670"/>
              <a:gd name="connsiteY7" fmla="*/ 6871433 h 6871433"/>
              <a:gd name="connsiteX8" fmla="*/ 1819815 w 7622670"/>
              <a:gd name="connsiteY8" fmla="*/ 3081966 h 6871433"/>
              <a:gd name="connsiteX9" fmla="*/ 2589145 w 7622670"/>
              <a:gd name="connsiteY9" fmla="*/ 3081966 h 6871433"/>
              <a:gd name="connsiteX10" fmla="*/ 769330 w 7622670"/>
              <a:gd name="connsiteY10" fmla="*/ 6871432 h 6871433"/>
              <a:gd name="connsiteX11" fmla="*/ 0 w 7622670"/>
              <a:gd name="connsiteY11" fmla="*/ 6871432 h 6871433"/>
              <a:gd name="connsiteX12" fmla="*/ 7622670 w 7622670"/>
              <a:gd name="connsiteY12" fmla="*/ 1135698 h 6871433"/>
              <a:gd name="connsiteX13" fmla="*/ 7622670 w 7622670"/>
              <a:gd name="connsiteY13" fmla="*/ 2694867 h 6871433"/>
              <a:gd name="connsiteX14" fmla="*/ 7358581 w 7622670"/>
              <a:gd name="connsiteY14" fmla="*/ 3244789 h 6871433"/>
              <a:gd name="connsiteX15" fmla="*/ 6609821 w 7622670"/>
              <a:gd name="connsiteY15" fmla="*/ 3244789 h 6871433"/>
              <a:gd name="connsiteX16" fmla="*/ 4267107 w 7622670"/>
              <a:gd name="connsiteY16" fmla="*/ 0 h 6871433"/>
              <a:gd name="connsiteX17" fmla="*/ 7622670 w 7622670"/>
              <a:gd name="connsiteY17" fmla="*/ 0 h 6871433"/>
              <a:gd name="connsiteX18" fmla="*/ 7622670 w 7622670"/>
              <a:gd name="connsiteY18" fmla="*/ 566959 h 6871433"/>
              <a:gd name="connsiteX19" fmla="*/ 5154504 w 7622670"/>
              <a:gd name="connsiteY19" fmla="*/ 5706508 h 6871433"/>
              <a:gd name="connsiteX20" fmla="*/ 1526670 w 7622670"/>
              <a:gd name="connsiteY20" fmla="*/ 5706508 h 687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22670" h="6871433">
                <a:moveTo>
                  <a:pt x="5839654" y="4741892"/>
                </a:moveTo>
                <a:lnTo>
                  <a:pt x="7268708" y="4741892"/>
                </a:lnTo>
                <a:lnTo>
                  <a:pt x="6246039" y="6871432"/>
                </a:lnTo>
                <a:lnTo>
                  <a:pt x="4816985" y="6871432"/>
                </a:lnTo>
                <a:close/>
                <a:moveTo>
                  <a:pt x="7622670" y="4367050"/>
                </a:moveTo>
                <a:lnTo>
                  <a:pt x="7622670" y="5798487"/>
                </a:lnTo>
                <a:lnTo>
                  <a:pt x="7107409" y="6871433"/>
                </a:lnTo>
                <a:lnTo>
                  <a:pt x="6419990" y="6871433"/>
                </a:lnTo>
                <a:close/>
                <a:moveTo>
                  <a:pt x="1819815" y="3081966"/>
                </a:moveTo>
                <a:lnTo>
                  <a:pt x="2589145" y="3081966"/>
                </a:lnTo>
                <a:lnTo>
                  <a:pt x="769330" y="6871432"/>
                </a:lnTo>
                <a:lnTo>
                  <a:pt x="0" y="6871432"/>
                </a:lnTo>
                <a:close/>
                <a:moveTo>
                  <a:pt x="7622670" y="1135698"/>
                </a:moveTo>
                <a:lnTo>
                  <a:pt x="7622670" y="2694867"/>
                </a:lnTo>
                <a:lnTo>
                  <a:pt x="7358581" y="3244789"/>
                </a:lnTo>
                <a:lnTo>
                  <a:pt x="6609821" y="3244789"/>
                </a:lnTo>
                <a:close/>
                <a:moveTo>
                  <a:pt x="4267107" y="0"/>
                </a:moveTo>
                <a:lnTo>
                  <a:pt x="7622670" y="0"/>
                </a:lnTo>
                <a:lnTo>
                  <a:pt x="7622670" y="566959"/>
                </a:lnTo>
                <a:lnTo>
                  <a:pt x="5154504" y="5706508"/>
                </a:lnTo>
                <a:lnTo>
                  <a:pt x="1526670" y="5706508"/>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a:off x="8236529" y="1816757"/>
            <a:ext cx="2536002" cy="5054675"/>
          </a:xfrm>
          <a:custGeom>
            <a:avLst/>
            <a:gdLst>
              <a:gd name="connsiteX0" fmla="*/ 2427406 w 2536002"/>
              <a:gd name="connsiteY0" fmla="*/ 0 h 5054675"/>
              <a:gd name="connsiteX1" fmla="*/ 2536002 w 2536002"/>
              <a:gd name="connsiteY1" fmla="*/ 0 h 5054675"/>
              <a:gd name="connsiteX2" fmla="*/ 108596 w 2536002"/>
              <a:gd name="connsiteY2" fmla="*/ 5054675 h 5054675"/>
              <a:gd name="connsiteX3" fmla="*/ 0 w 2536002"/>
              <a:gd name="connsiteY3" fmla="*/ 5054675 h 5054675"/>
            </a:gdLst>
            <a:ahLst/>
            <a:cxnLst>
              <a:cxn ang="0">
                <a:pos x="connsiteX0" y="connsiteY0"/>
              </a:cxn>
              <a:cxn ang="0">
                <a:pos x="connsiteX1" y="connsiteY1"/>
              </a:cxn>
              <a:cxn ang="0">
                <a:pos x="connsiteX2" y="connsiteY2"/>
              </a:cxn>
              <a:cxn ang="0">
                <a:pos x="connsiteX3" y="connsiteY3"/>
              </a:cxn>
            </a:cxnLst>
            <a:rect l="l" t="t" r="r" b="b"/>
            <a:pathLst>
              <a:path w="2536002" h="5054675">
                <a:moveTo>
                  <a:pt x="2427406" y="0"/>
                </a:moveTo>
                <a:lnTo>
                  <a:pt x="2536002" y="0"/>
                </a:lnTo>
                <a:lnTo>
                  <a:pt x="108596" y="5054675"/>
                </a:lnTo>
                <a:lnTo>
                  <a:pt x="0" y="5054675"/>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p:cNvSpPr/>
          <p:nvPr/>
        </p:nvSpPr>
        <p:spPr>
          <a:xfrm>
            <a:off x="10696204" y="1"/>
            <a:ext cx="934832" cy="1469723"/>
          </a:xfrm>
          <a:custGeom>
            <a:avLst/>
            <a:gdLst>
              <a:gd name="connsiteX0" fmla="*/ 705805 w 934832"/>
              <a:gd name="connsiteY0" fmla="*/ 0 h 1469723"/>
              <a:gd name="connsiteX1" fmla="*/ 934832 w 934832"/>
              <a:gd name="connsiteY1" fmla="*/ 0 h 1469723"/>
              <a:gd name="connsiteX2" fmla="*/ 229027 w 934832"/>
              <a:gd name="connsiteY2" fmla="*/ 1469723 h 1469723"/>
              <a:gd name="connsiteX3" fmla="*/ 0 w 934832"/>
              <a:gd name="connsiteY3" fmla="*/ 1469723 h 1469723"/>
            </a:gdLst>
            <a:ahLst/>
            <a:cxnLst>
              <a:cxn ang="0">
                <a:pos x="connsiteX0" y="connsiteY0"/>
              </a:cxn>
              <a:cxn ang="0">
                <a:pos x="connsiteX1" y="connsiteY1"/>
              </a:cxn>
              <a:cxn ang="0">
                <a:pos x="connsiteX2" y="connsiteY2"/>
              </a:cxn>
              <a:cxn ang="0">
                <a:pos x="connsiteX3" y="connsiteY3"/>
              </a:cxn>
            </a:cxnLst>
            <a:rect l="l" t="t" r="r" b="b"/>
            <a:pathLst>
              <a:path w="934832" h="1469723">
                <a:moveTo>
                  <a:pt x="705805" y="0"/>
                </a:moveTo>
                <a:lnTo>
                  <a:pt x="934832" y="0"/>
                </a:lnTo>
                <a:lnTo>
                  <a:pt x="229027" y="1469723"/>
                </a:lnTo>
                <a:lnTo>
                  <a:pt x="0" y="1469723"/>
                </a:lnTo>
                <a:close/>
              </a:path>
            </a:pathLst>
          </a:cu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654957" y="2153964"/>
            <a:ext cx="4722127" cy="923330"/>
          </a:xfrm>
          <a:prstGeom prst="rect">
            <a:avLst/>
          </a:prstGeom>
          <a:noFill/>
        </p:spPr>
        <p:txBody>
          <a:bodyPr wrap="none" rtlCol="0">
            <a:spAutoFit/>
            <a:scene3d>
              <a:camera prst="orthographicFront"/>
              <a:lightRig rig="threePt" dir="t"/>
            </a:scene3d>
            <a:sp3d contourW="12700"/>
          </a:bodyPr>
          <a:lstStyle/>
          <a:p>
            <a:r>
              <a:rPr lang="en-US" altLang="zh-CN" sz="5400" b="1" dirty="0">
                <a:solidFill>
                  <a:schemeClr val="bg1"/>
                </a:solidFill>
                <a:latin typeface="+mn-ea"/>
              </a:rPr>
              <a:t>THANK YOU </a:t>
            </a:r>
            <a:endParaRPr lang="zh-CN" altLang="en-US" sz="5400" b="1" dirty="0">
              <a:solidFill>
                <a:schemeClr val="bg1"/>
              </a:solidFill>
              <a:latin typeface="+mn-ea"/>
            </a:endParaRPr>
          </a:p>
        </p:txBody>
      </p:sp>
      <p:sp>
        <p:nvSpPr>
          <p:cNvPr id="36" name="文本框 35"/>
          <p:cNvSpPr txBox="1"/>
          <p:nvPr/>
        </p:nvSpPr>
        <p:spPr>
          <a:xfrm>
            <a:off x="654957" y="3597512"/>
            <a:ext cx="4990470" cy="2739211"/>
          </a:xfrm>
          <a:prstGeom prst="rect">
            <a:avLst/>
          </a:prstGeom>
          <a:noFill/>
        </p:spPr>
        <p:txBody>
          <a:bodyPr wrap="square" rtlCol="0">
            <a:spAutoFit/>
            <a:scene3d>
              <a:camera prst="orthographicFront"/>
              <a:lightRig rig="threePt" dir="t"/>
            </a:scene3d>
            <a:sp3d contourW="12700"/>
          </a:bodyPr>
          <a:lstStyle/>
          <a:p>
            <a:r>
              <a:rPr lang="en-US" altLang="zh-CN" sz="1600" b="1" dirty="0">
                <a:solidFill>
                  <a:srgbClr val="319295"/>
                </a:solidFill>
                <a:latin typeface="Calibri" panose="020F0502020204030204" pitchFamily="34" charset="0"/>
                <a:cs typeface="Calibri" panose="020F0502020204030204" pitchFamily="34" charset="0"/>
              </a:rPr>
              <a:t>Head Office</a:t>
            </a:r>
          </a:p>
          <a:p>
            <a:r>
              <a:rPr lang="en-US" altLang="zh-CN" sz="1200" dirty="0">
                <a:solidFill>
                  <a:schemeClr val="bg1"/>
                </a:solidFill>
                <a:latin typeface="Calibri" panose="020F0502020204030204" pitchFamily="34" charset="0"/>
                <a:cs typeface="Calibri" panose="020F0502020204030204" pitchFamily="34" charset="0"/>
              </a:rPr>
              <a:t>F5, Block 8, National Information Security</a:t>
            </a:r>
            <a:br>
              <a:rPr lang="en-US" altLang="zh-CN" sz="1200" dirty="0">
                <a:solidFill>
                  <a:schemeClr val="bg1"/>
                </a:solidFill>
                <a:latin typeface="Calibri" panose="020F0502020204030204" pitchFamily="34" charset="0"/>
                <a:cs typeface="Calibri" panose="020F0502020204030204" pitchFamily="34" charset="0"/>
              </a:rPr>
            </a:br>
            <a:r>
              <a:rPr lang="en-US" altLang="zh-CN" sz="1200" dirty="0">
                <a:solidFill>
                  <a:schemeClr val="bg1"/>
                </a:solidFill>
                <a:latin typeface="Calibri" panose="020F0502020204030204" pitchFamily="34" charset="0"/>
                <a:cs typeface="Calibri" panose="020F0502020204030204" pitchFamily="34" charset="0"/>
              </a:rPr>
              <a:t>Industry Park, No.333 </a:t>
            </a:r>
            <a:r>
              <a:rPr lang="en-US" altLang="zh-CN" sz="1200" dirty="0" err="1">
                <a:solidFill>
                  <a:schemeClr val="bg1"/>
                </a:solidFill>
                <a:latin typeface="Calibri" panose="020F0502020204030204" pitchFamily="34" charset="0"/>
                <a:cs typeface="Calibri" panose="020F0502020204030204" pitchFamily="34" charset="0"/>
              </a:rPr>
              <a:t>YunHua</a:t>
            </a:r>
            <a:r>
              <a:rPr lang="en-US" altLang="zh-CN" sz="1200" dirty="0">
                <a:solidFill>
                  <a:schemeClr val="bg1"/>
                </a:solidFill>
                <a:latin typeface="Calibri" panose="020F0502020204030204" pitchFamily="34" charset="0"/>
                <a:cs typeface="Calibri" panose="020F0502020204030204" pitchFamily="34" charset="0"/>
              </a:rPr>
              <a:t> Road,</a:t>
            </a:r>
            <a:br>
              <a:rPr lang="en-US" altLang="zh-CN" sz="1200" dirty="0">
                <a:solidFill>
                  <a:schemeClr val="bg1"/>
                </a:solidFill>
                <a:latin typeface="Calibri" panose="020F0502020204030204" pitchFamily="34" charset="0"/>
                <a:cs typeface="Calibri" panose="020F0502020204030204" pitchFamily="34" charset="0"/>
              </a:rPr>
            </a:br>
            <a:r>
              <a:rPr lang="en-US" altLang="zh-CN" sz="1200" dirty="0">
                <a:solidFill>
                  <a:schemeClr val="bg1"/>
                </a:solidFill>
                <a:latin typeface="Calibri" panose="020F0502020204030204" pitchFamily="34" charset="0"/>
                <a:cs typeface="Calibri" panose="020F0502020204030204" pitchFamily="34" charset="0"/>
              </a:rPr>
              <a:t>High-Tech Zone, Chengdu, China.</a:t>
            </a:r>
            <a:br>
              <a:rPr lang="en-US" altLang="zh-CN" sz="1200" dirty="0">
                <a:solidFill>
                  <a:schemeClr val="bg1"/>
                </a:solidFill>
                <a:latin typeface="Calibri" panose="020F0502020204030204" pitchFamily="34" charset="0"/>
                <a:cs typeface="Calibri" panose="020F0502020204030204" pitchFamily="34" charset="0"/>
              </a:rPr>
            </a:br>
            <a:r>
              <a:rPr lang="en-US" altLang="zh-CN" sz="1200" dirty="0" smtClean="0">
                <a:solidFill>
                  <a:schemeClr val="bg1"/>
                </a:solidFill>
                <a:latin typeface="Calibri" panose="020F0502020204030204" pitchFamily="34" charset="0"/>
                <a:cs typeface="Calibri" panose="020F0502020204030204" pitchFamily="34" charset="0"/>
              </a:rPr>
              <a:t>P.C.610095</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600" b="1" dirty="0" smtClean="0">
                <a:solidFill>
                  <a:srgbClr val="319295"/>
                </a:solidFill>
                <a:latin typeface="Calibri" panose="020F0502020204030204" pitchFamily="34" charset="0"/>
                <a:cs typeface="Calibri" panose="020F0502020204030204" pitchFamily="34" charset="0"/>
              </a:rPr>
              <a:t>Sales Global</a:t>
            </a:r>
            <a:endParaRPr lang="en-US" altLang="zh-CN" sz="1200" b="1" dirty="0">
              <a:solidFill>
                <a:srgbClr val="319295"/>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Tel: +86-135-5029-3426</a:t>
            </a:r>
            <a:br>
              <a:rPr lang="en-US" altLang="zh-CN" sz="1200" dirty="0">
                <a:solidFill>
                  <a:schemeClr val="bg1"/>
                </a:solidFill>
                <a:latin typeface="Calibri" panose="020F0502020204030204" pitchFamily="34" charset="0"/>
                <a:cs typeface="Calibri" panose="020F0502020204030204" pitchFamily="34" charset="0"/>
              </a:rPr>
            </a:br>
            <a:r>
              <a:rPr lang="en-US" altLang="zh-CN" sz="1200" dirty="0">
                <a:solidFill>
                  <a:schemeClr val="bg1"/>
                </a:solidFill>
                <a:latin typeface="Calibri" panose="020F0502020204030204" pitchFamily="34" charset="0"/>
                <a:cs typeface="Calibri" panose="020F0502020204030204" pitchFamily="34" charset="0"/>
              </a:rPr>
              <a:t>Email: </a:t>
            </a:r>
            <a:r>
              <a:rPr lang="en-US" altLang="zh-CN" sz="1200" dirty="0" smtClean="0">
                <a:solidFill>
                  <a:schemeClr val="bg1"/>
                </a:solidFill>
                <a:latin typeface="Calibri" panose="020F0502020204030204" pitchFamily="34" charset="0"/>
                <a:cs typeface="Calibri" panose="020F0502020204030204" pitchFamily="34" charset="0"/>
              </a:rPr>
              <a:t>sales@vinchin.com</a:t>
            </a:r>
            <a:endParaRPr lang="en-US" altLang="zh-CN" sz="1200" dirty="0">
              <a:solidFill>
                <a:schemeClr val="bg1"/>
              </a:solidFill>
              <a:latin typeface="Calibri" panose="020F0502020204030204" pitchFamily="34" charset="0"/>
              <a:cs typeface="Calibri" panose="020F0502020204030204" pitchFamily="34" charset="0"/>
            </a:endParaRPr>
          </a:p>
          <a:p>
            <a:endParaRPr lang="en-US" altLang="zh-CN" sz="1600" b="1" dirty="0" smtClean="0">
              <a:solidFill>
                <a:srgbClr val="319295"/>
              </a:solidFill>
              <a:latin typeface="Calibri" panose="020F0502020204030204" pitchFamily="34" charset="0"/>
              <a:cs typeface="Calibri" panose="020F0502020204030204" pitchFamily="34" charset="0"/>
            </a:endParaRPr>
          </a:p>
          <a:p>
            <a:r>
              <a:rPr lang="en-US" altLang="zh-CN" sz="1600" b="1" dirty="0" smtClean="0">
                <a:solidFill>
                  <a:srgbClr val="319295"/>
                </a:solidFill>
                <a:latin typeface="Calibri" panose="020F0502020204030204" pitchFamily="34" charset="0"/>
                <a:cs typeface="Calibri" panose="020F0502020204030204" pitchFamily="34" charset="0"/>
              </a:rPr>
              <a:t>Support</a:t>
            </a:r>
            <a:endParaRPr lang="en-US" altLang="zh-CN" sz="1600" b="1" dirty="0">
              <a:solidFill>
                <a:srgbClr val="319295"/>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Tel: +86-159-2884-8843</a:t>
            </a:r>
            <a:br>
              <a:rPr lang="en-US" altLang="zh-CN" sz="1200" dirty="0">
                <a:solidFill>
                  <a:schemeClr val="bg1"/>
                </a:solidFill>
                <a:latin typeface="Calibri" panose="020F0502020204030204" pitchFamily="34" charset="0"/>
                <a:cs typeface="Calibri" panose="020F0502020204030204" pitchFamily="34" charset="0"/>
              </a:rPr>
            </a:br>
            <a:r>
              <a:rPr lang="en-US" altLang="zh-CN" sz="1200" dirty="0">
                <a:solidFill>
                  <a:schemeClr val="bg1"/>
                </a:solidFill>
                <a:latin typeface="Calibri" panose="020F0502020204030204" pitchFamily="34" charset="0"/>
                <a:cs typeface="Calibri" panose="020F0502020204030204" pitchFamily="34" charset="0"/>
              </a:rPr>
              <a:t>Email: technical_support@vinchin.com</a:t>
            </a:r>
          </a:p>
        </p:txBody>
      </p:sp>
      <p:grpSp>
        <p:nvGrpSpPr>
          <p:cNvPr id="31" name="组合 30"/>
          <p:cNvGrpSpPr/>
          <p:nvPr/>
        </p:nvGrpSpPr>
        <p:grpSpPr>
          <a:xfrm>
            <a:off x="769257" y="1"/>
            <a:ext cx="1915886" cy="841828"/>
            <a:chOff x="769257" y="1"/>
            <a:chExt cx="1915886" cy="841828"/>
          </a:xfrm>
        </p:grpSpPr>
        <p:sp>
          <p:nvSpPr>
            <p:cNvPr id="2" name="矩形 1"/>
            <p:cNvSpPr/>
            <p:nvPr/>
          </p:nvSpPr>
          <p:spPr>
            <a:xfrm>
              <a:off x="769257" y="1"/>
              <a:ext cx="1915886" cy="203200"/>
            </a:xfrm>
            <a:prstGeom prst="rect">
              <a:avLst/>
            </a:prstGeom>
            <a:solidFill>
              <a:srgbClr val="1F6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69257" y="203201"/>
              <a:ext cx="1915886" cy="638628"/>
            </a:xfrm>
            <a:prstGeom prst="rect">
              <a:avLst/>
            </a:prstGeom>
            <a:solidFill>
              <a:srgbClr val="319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2" name="图片 21"/>
          <p:cNvPicPr>
            <a:picLocks noChangeAspect="1"/>
          </p:cNvPicPr>
          <p:nvPr/>
        </p:nvPicPr>
        <p:blipFill>
          <a:blip r:embed="rId4"/>
          <a:stretch>
            <a:fillRect/>
          </a:stretch>
        </p:blipFill>
        <p:spPr>
          <a:xfrm>
            <a:off x="942034" y="358523"/>
            <a:ext cx="1570332" cy="31295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4" presetClass="entr" presetSubtype="10"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randombar(horizontal)">
                                      <p:cBhvr>
                                        <p:cTn id="1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2980B9"/>
      </a:accent1>
      <a:accent2>
        <a:srgbClr val="16A085"/>
      </a:accent2>
      <a:accent3>
        <a:srgbClr val="9BBB59"/>
      </a:accent3>
      <a:accent4>
        <a:srgbClr val="F39C12"/>
      </a:accent4>
      <a:accent5>
        <a:srgbClr val="C0392B"/>
      </a:accent5>
      <a:accent6>
        <a:srgbClr val="2C3F50"/>
      </a:accent6>
      <a:hlink>
        <a:srgbClr val="2980B9"/>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2980B9"/>
    </a:accent1>
    <a:accent2>
      <a:srgbClr val="16A085"/>
    </a:accent2>
    <a:accent3>
      <a:srgbClr val="9BBB59"/>
    </a:accent3>
    <a:accent4>
      <a:srgbClr val="F39C12"/>
    </a:accent4>
    <a:accent5>
      <a:srgbClr val="C0392B"/>
    </a:accent5>
    <a:accent6>
      <a:srgbClr val="2C3F50"/>
    </a:accent6>
    <a:hlink>
      <a:srgbClr val="2980B9"/>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63</TotalTime>
  <Words>1892</Words>
  <Application>Microsoft Office PowerPoint</Application>
  <PresentationFormat>宽屏</PresentationFormat>
  <Paragraphs>223</Paragraphs>
  <Slides>21</Slides>
  <Notes>21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Microsoft JhengHei UI</vt:lpstr>
      <vt:lpstr>等线</vt:lpstr>
      <vt:lpstr>微软雅黑</vt:lpstr>
      <vt:lpstr>Arial</vt:lpstr>
      <vt:lpstr>Calibri</vt:lpstr>
      <vt:lpstr>Impact</vt:lpstr>
      <vt:lpstr>Microsoft Sans Serif</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欧美淡蓝色商务PPT模板</dc:title>
  <dc:creator>摄图网</dc:creator>
  <cp:lastModifiedBy>ZLW</cp:lastModifiedBy>
  <cp:revision>197</cp:revision>
  <dcterms:created xsi:type="dcterms:W3CDTF">2017-06-16T03:15:00Z</dcterms:created>
  <dcterms:modified xsi:type="dcterms:W3CDTF">2022-06-20T06:09:21Z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